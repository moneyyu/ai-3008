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Lst>
  <p:notesMasterIdLst>
    <p:notesMasterId r:id="rId50"/>
  </p:notesMasterIdLst>
  <p:handoutMasterIdLst>
    <p:handoutMasterId r:id="rId51"/>
  </p:handoutMasterIdLst>
  <p:sldIdLst>
    <p:sldId id="256" r:id="rId6"/>
    <p:sldId id="2147479835" r:id="rId7"/>
    <p:sldId id="2147479836" r:id="rId8"/>
    <p:sldId id="257" r:id="rId9"/>
    <p:sldId id="1798" r:id="rId10"/>
    <p:sldId id="2147479885" r:id="rId11"/>
    <p:sldId id="2147479802" r:id="rId12"/>
    <p:sldId id="2147479853" r:id="rId13"/>
    <p:sldId id="2147479813" r:id="rId14"/>
    <p:sldId id="2147479822" r:id="rId15"/>
    <p:sldId id="2147479814" r:id="rId16"/>
    <p:sldId id="1860" r:id="rId17"/>
    <p:sldId id="2147479854" r:id="rId18"/>
    <p:sldId id="2147479875" r:id="rId19"/>
    <p:sldId id="2147479844" r:id="rId20"/>
    <p:sldId id="2147479856" r:id="rId21"/>
    <p:sldId id="2147479816" r:id="rId22"/>
    <p:sldId id="2147479825" r:id="rId23"/>
    <p:sldId id="2147479857" r:id="rId24"/>
    <p:sldId id="2147479858" r:id="rId25"/>
    <p:sldId id="2147479859" r:id="rId26"/>
    <p:sldId id="2147479876" r:id="rId27"/>
    <p:sldId id="2147479862" r:id="rId28"/>
    <p:sldId id="2147479860" r:id="rId29"/>
    <p:sldId id="2147479861" r:id="rId30"/>
    <p:sldId id="2147479863" r:id="rId31"/>
    <p:sldId id="2147479872" r:id="rId32"/>
    <p:sldId id="2147479873" r:id="rId33"/>
    <p:sldId id="2147479874" r:id="rId34"/>
    <p:sldId id="2147479837" r:id="rId35"/>
    <p:sldId id="2147479806" r:id="rId36"/>
    <p:sldId id="2147479838" r:id="rId37"/>
    <p:sldId id="2147479839" r:id="rId38"/>
    <p:sldId id="2147479840" r:id="rId39"/>
    <p:sldId id="2147479811" r:id="rId40"/>
    <p:sldId id="2147479744" r:id="rId41"/>
    <p:sldId id="2147479820" r:id="rId42"/>
    <p:sldId id="2147479828" r:id="rId43"/>
    <p:sldId id="2147479829" r:id="rId44"/>
    <p:sldId id="2147479841" r:id="rId45"/>
    <p:sldId id="2147479830" r:id="rId46"/>
    <p:sldId id="2147479842" r:id="rId47"/>
    <p:sldId id="2147479832" r:id="rId48"/>
    <p:sldId id="2147479833" r:id="rId4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vision-enabled generative AI" id="{39823CCC-CE8A-40FC-8767-752343AB3404}">
          <p14:sldIdLst>
            <p14:sldId id="257"/>
            <p14:sldId id="1798"/>
            <p14:sldId id="2147479885"/>
            <p14:sldId id="2147479802"/>
            <p14:sldId id="2147479853"/>
            <p14:sldId id="2147479813"/>
            <p14:sldId id="2147479822"/>
          </p14:sldIdLst>
        </p14:section>
        <p14:section name="Generate images and videos" id="{03CF8FF3-4D95-44B6-9C74-23E605949054}">
          <p14:sldIdLst>
            <p14:sldId id="2147479814"/>
            <p14:sldId id="1860"/>
            <p14:sldId id="2147479854"/>
            <p14:sldId id="2147479875"/>
            <p14:sldId id="2147479844"/>
            <p14:sldId id="2147479856"/>
            <p14:sldId id="2147479816"/>
            <p14:sldId id="2147479825"/>
          </p14:sldIdLst>
        </p14:section>
        <p14:section name="Content Understanding - Images" id="{E42FF3BD-2F72-477A-8E2F-23C15D73198F}">
          <p14:sldIdLst>
            <p14:sldId id="2147479857"/>
            <p14:sldId id="2147479858"/>
            <p14:sldId id="2147479859"/>
            <p14:sldId id="2147479876"/>
            <p14:sldId id="2147479862"/>
            <p14:sldId id="2147479860"/>
            <p14:sldId id="2147479861"/>
          </p14:sldIdLst>
        </p14:section>
        <p14:section name="Conten Understanding - Documents" id="{7DB5E253-9267-42F0-832A-9D6B89CCFE0A}">
          <p14:sldIdLst>
            <p14:sldId id="2147479863"/>
            <p14:sldId id="2147479872"/>
            <p14:sldId id="2147479873"/>
            <p14:sldId id="2147479874"/>
            <p14:sldId id="2147479837"/>
            <p14:sldId id="2147479806"/>
            <p14:sldId id="2147479838"/>
            <p14:sldId id="2147479839"/>
            <p14:sldId id="2147479840"/>
            <p14:sldId id="2147479811"/>
            <p14:sldId id="2147479744"/>
          </p14:sldIdLst>
        </p14:section>
        <p14:section name="Knowledge mining" id="{EBE97167-B09F-4895-B6F8-7D16C91ACF44}">
          <p14:sldIdLst>
            <p14:sldId id="2147479820"/>
            <p14:sldId id="2147479828"/>
            <p14:sldId id="2147479829"/>
            <p14:sldId id="2147479841"/>
            <p14:sldId id="2147479830"/>
            <p14:sldId id="2147479842"/>
            <p14:sldId id="2147479832"/>
            <p14:sldId id="2147479833"/>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CBC89"/>
    <a:srgbClr val="DCDCAA"/>
    <a:srgbClr val="CE9178"/>
    <a:srgbClr val="9CDCFE"/>
    <a:srgbClr val="ABB2BF"/>
    <a:srgbClr val="5295CD"/>
    <a:srgbClr val="38658A"/>
    <a:srgbClr val="89D3B2"/>
    <a:srgbClr val="F5C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68" autoAdjust="0"/>
    <p:restoredTop sz="83060" autoAdjust="0"/>
  </p:normalViewPr>
  <p:slideViewPr>
    <p:cSldViewPr snapToGrid="0">
      <p:cViewPr>
        <p:scale>
          <a:sx n="75" d="100"/>
          <a:sy n="75" d="100"/>
        </p:scale>
        <p:origin x="306" y="126"/>
      </p:cViewPr>
      <p:guideLst>
        <p:guide pos="4200"/>
        <p:guide orient="horz" pos="2160"/>
        <p:guide pos="584"/>
        <p:guide pos="3840"/>
      </p:guideLst>
    </p:cSldViewPr>
  </p:slideViewPr>
  <p:outlineViewPr>
    <p:cViewPr>
      <p:scale>
        <a:sx n="33" d="100"/>
        <a:sy n="33" d="100"/>
      </p:scale>
      <p:origin x="0" y="-22236"/>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8/10/relationships/authors" Targe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itchFamily="34" charset="0"/>
              </a:rPr>
              <a:t>3/27/2026 12:04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55E12198-D52A-4604-A7DE-05A0E5E96698}" type="datetime8">
              <a:rPr lang="en-US" smtClean="0"/>
              <a:t>3/27/2026 12:03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learning path from which this presentation is derived.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Use this slide to </a:t>
            </a:r>
            <a:r>
              <a:rPr lang="en-US" sz="882" b="1" i="0" kern="1200" dirty="0">
                <a:solidFill>
                  <a:schemeClr val="tx1"/>
                </a:solidFill>
                <a:effectLst/>
                <a:latin typeface="Segoe UI Light" pitchFamily="34" charset="0"/>
                <a:ea typeface="+mn-ea"/>
                <a:cs typeface="+mn-cs"/>
              </a:rPr>
              <a:t>orient learners</a:t>
            </a:r>
            <a:r>
              <a:rPr lang="en-US" sz="882" b="0" i="0" kern="1200" dirty="0">
                <a:solidFill>
                  <a:schemeClr val="tx1"/>
                </a:solidFill>
                <a:effectLst/>
                <a:latin typeface="Segoe UI Light" pitchFamily="34" charset="0"/>
                <a:ea typeface="+mn-ea"/>
                <a:cs typeface="+mn-cs"/>
              </a:rPr>
              <a:t> to the AI workload landscape. Emphasize that today’s focus is </a:t>
            </a:r>
            <a:r>
              <a:rPr lang="en-US" sz="882" b="1" i="0" kern="1200" dirty="0">
                <a:solidFill>
                  <a:schemeClr val="tx1"/>
                </a:solidFill>
                <a:effectLst/>
                <a:latin typeface="Segoe UI Light" pitchFamily="34" charset="0"/>
                <a:ea typeface="+mn-ea"/>
                <a:cs typeface="+mn-cs"/>
              </a:rPr>
              <a:t>Computer Vision </a:t>
            </a:r>
            <a:r>
              <a:rPr lang="en-US" sz="882" b="0" i="0" kern="1200" dirty="0">
                <a:solidFill>
                  <a:schemeClr val="tx1"/>
                </a:solidFill>
                <a:effectLst/>
                <a:latin typeface="Segoe UI Light" pitchFamily="34" charset="0"/>
                <a:ea typeface="+mn-ea"/>
                <a:cs typeface="+mn-cs"/>
              </a:rPr>
              <a:t>and</a:t>
            </a:r>
            <a:r>
              <a:rPr lang="en-US" sz="882" b="1" i="0" kern="1200" dirty="0">
                <a:solidFill>
                  <a:schemeClr val="tx1"/>
                </a:solidFill>
                <a:effectLst/>
                <a:latin typeface="Segoe UI Light" pitchFamily="34" charset="0"/>
                <a:ea typeface="+mn-ea"/>
                <a:cs typeface="+mn-cs"/>
              </a:rPr>
              <a:t> Information Extraction</a:t>
            </a:r>
            <a:r>
              <a:rPr lang="en-US" sz="882" b="0" i="0" kern="1200" dirty="0">
                <a:solidFill>
                  <a:schemeClr val="tx1"/>
                </a:solidFill>
                <a:effectLst/>
                <a:latin typeface="Segoe UI Light" pitchFamily="34" charset="0"/>
                <a:ea typeface="+mn-ea"/>
                <a:cs typeface="+mn-cs"/>
              </a:rPr>
              <a:t>, but learners should understand how it fits alongside generative AI, language, and, speech, and ML. Reinforce that </a:t>
            </a:r>
            <a:r>
              <a:rPr lang="en-US" sz="882" b="1" i="0"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 increasingly sit </a:t>
            </a:r>
            <a:r>
              <a:rPr lang="en-US" sz="882" b="0" i="1" kern="1200" dirty="0">
                <a:solidFill>
                  <a:schemeClr val="tx1"/>
                </a:solidFill>
                <a:effectLst/>
                <a:latin typeface="Segoe UI Light" pitchFamily="34" charset="0"/>
                <a:ea typeface="+mn-ea"/>
                <a:cs typeface="+mn-cs"/>
              </a:rPr>
              <a:t>on top of</a:t>
            </a:r>
            <a:r>
              <a:rPr lang="en-US" sz="882" b="0" i="0" kern="1200" dirty="0">
                <a:solidFill>
                  <a:schemeClr val="tx1"/>
                </a:solidFill>
                <a:effectLst/>
                <a:latin typeface="Segoe UI Light" pitchFamily="34" charset="0"/>
                <a:ea typeface="+mn-ea"/>
                <a:cs typeface="+mn-cs"/>
              </a:rPr>
              <a:t> these foundational workloads.</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3/27/2026 12:03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71578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339-4611-8CFA-F9D5-14017F5CC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DC907-6D68-3576-F64B-82FC4055F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82FB-A050-FE1F-16E7-6508335B410D}"/>
              </a:ext>
            </a:extLst>
          </p:cNvPr>
          <p:cNvSpPr>
            <a:spLocks noGrp="1"/>
          </p:cNvSpPr>
          <p:nvPr>
            <p:ph type="body" idx="1"/>
          </p:nvPr>
        </p:nvSpPr>
        <p:spPr/>
        <p:txBody>
          <a:bodyPr/>
          <a:lstStyle/>
          <a:p>
            <a:pPr fontAlgn="t"/>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API: client manages full conversation history; payload grows each turn.</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Responses API: server manages state; app sends only latest input and response ID; payload stays constant.</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Both APIs follow: initialize → call → get output → update state.</a:t>
            </a:r>
            <a:br>
              <a:rPr lang="en-US" sz="882" b="0" i="0" kern="1200" dirty="0">
                <a:solidFill>
                  <a:schemeClr val="tx1"/>
                </a:solidFill>
                <a:effectLst/>
                <a:latin typeface="Segoe UI Light" pitchFamily="34" charset="0"/>
                <a:ea typeface="+mn-ea"/>
                <a:cs typeface="+mn-cs"/>
              </a:rPr>
            </a:br>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 more control, more complexity; Responses = simpler, recommended for new apps.</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Key takeaway: Prefer Responses API unless you need custom memory handling.</a:t>
            </a:r>
          </a:p>
          <a:p>
            <a:pPr fontAlgn="t"/>
            <a:r>
              <a:rPr lang="en-US" sz="882" b="0" i="0" kern="1200" dirty="0">
                <a:solidFill>
                  <a:schemeClr val="tx1"/>
                </a:solidFill>
                <a:effectLst/>
                <a:latin typeface="Segoe UI Light" pitchFamily="34" charset="0"/>
                <a:ea typeface="+mn-ea"/>
                <a:cs typeface="+mn-cs"/>
              </a:rPr>
              <a:t>Clarify you can also use a web URL as well.</a:t>
            </a:r>
          </a:p>
        </p:txBody>
      </p:sp>
      <p:sp>
        <p:nvSpPr>
          <p:cNvPr id="4" name="Header Placeholder 3">
            <a:extLst>
              <a:ext uri="{FF2B5EF4-FFF2-40B4-BE49-F238E27FC236}">
                <a16:creationId xmlns:a16="http://schemas.microsoft.com/office/drawing/2014/main" id="{FF96AB42-A09A-11D1-FFEF-8A13E817ED9F}"/>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62603D6-DAC6-1D2D-23B8-93306F7606E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E190E38-F07B-E89B-59C6-F2C4D6F15212}"/>
              </a:ext>
            </a:extLst>
          </p:cNvPr>
          <p:cNvSpPr>
            <a:spLocks noGrp="1"/>
          </p:cNvSpPr>
          <p:nvPr>
            <p:ph type="dt" idx="1"/>
          </p:nvPr>
        </p:nvSpPr>
        <p:spPr/>
        <p:txBody>
          <a:bodyPr/>
          <a:lstStyle/>
          <a:p>
            <a:fld id="{55E12198-D52A-4604-A7DE-05A0E5E96698}" type="datetime8">
              <a:rPr lang="en-US" smtClean="0"/>
              <a:t>3/27/2026 12:03 PM</a:t>
            </a:fld>
            <a:endParaRPr lang="en-US"/>
          </a:p>
        </p:txBody>
      </p:sp>
      <p:sp>
        <p:nvSpPr>
          <p:cNvPr id="7" name="Slide Number Placeholder 6">
            <a:extLst>
              <a:ext uri="{FF2B5EF4-FFF2-40B4-BE49-F238E27FC236}">
                <a16:creationId xmlns:a16="http://schemas.microsoft.com/office/drawing/2014/main" id="{83860EF4-7C80-5A01-7837-71C8105FFAF4}"/>
              </a:ext>
            </a:extLst>
          </p:cNvPr>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97230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400666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432374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3/27/2026 12:03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10</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1FE8-9F7E-E301-4804-3D627BCF7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02D0-61F3-87D7-0259-B6274B9F2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94469-CFA5-C402-6E9D-406D7EC281BF}"/>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14D2EA9D-DE00-5688-BA6C-3CC33E57F5F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2B49FFD-FB2F-57B4-F166-62B614EC809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657BF2-AEDA-C1A9-164C-8D62B7C1B10B}"/>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5E495C6F-685A-61F4-A187-83FE6216346D}"/>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2009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178128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1C2F-6FCC-FF65-487C-286868792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21A26-7069-E6BB-1C02-A5656BC0B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9D134-C513-F2D7-9562-0C2B7875583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BE415508-2EE5-B2D6-ADA9-85FA734A20B7}"/>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A5D65F73-00F5-FC59-5E38-EB528FC027B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63777812-1861-C628-A016-67B6D424FD19}"/>
              </a:ext>
            </a:extLst>
          </p:cNvPr>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983761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AE79-CB9E-8FCA-470E-BA8BAAA6B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B85DB-013F-9C01-65E1-4230FE664D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9BCFBB-99A4-0546-CCC1-49BFF7ABD40E}"/>
              </a:ext>
            </a:extLst>
          </p:cNvPr>
          <p:cNvSpPr>
            <a:spLocks noGrp="1"/>
          </p:cNvSpPr>
          <p:nvPr>
            <p:ph type="body" idx="1"/>
          </p:nvPr>
        </p:nvSpPr>
        <p:spPr/>
        <p:txBody>
          <a:bodyPr/>
          <a:lstStyle/>
          <a:p>
            <a:r>
              <a:rPr lang="en-US" dirty="0"/>
              <a:t>Although the focus in this lesson is on DALL-E, there are increasing numbers of generative AI models with the ability to generate visual responses to prompts.</a:t>
            </a:r>
          </a:p>
        </p:txBody>
      </p:sp>
      <p:sp>
        <p:nvSpPr>
          <p:cNvPr id="4" name="Header Placeholder 3">
            <a:extLst>
              <a:ext uri="{FF2B5EF4-FFF2-40B4-BE49-F238E27FC236}">
                <a16:creationId xmlns:a16="http://schemas.microsoft.com/office/drawing/2014/main" id="{89D23DAB-4C30-CB2C-BA5B-3E94867FDD8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3478AAB7-7D2E-AA3F-01CC-357C88CE791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30840DC-8BC9-2920-9AC9-E6A8CF8EC4DA}"/>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1357E70A-E1ED-0DA4-A7D1-2F46A86F6E1B}"/>
              </a:ext>
            </a:extLst>
          </p:cNvPr>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240345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7339-A540-6765-9A15-CEA5CE94B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AD1DB-D079-31A9-2AF3-6677E110DD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3B1536-2FC2-2A7F-22A8-7EEF021049E3}"/>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CD5EB82-9446-79E3-69BF-6B98D4E83D3C}"/>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97F49E2-E4F1-45A2-495B-C94CFE8C76C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BE867CE-CEBA-95F1-0DF8-A065BEEDC307}"/>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5AB2BCC6-D72E-93E8-E832-5803FBBC2A28}"/>
              </a:ext>
            </a:extLst>
          </p:cNvPr>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62695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851254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81AC-DD05-5010-06B4-3408C2887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04358-4BC6-7789-AE1C-3763A5019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3508E-9B41-A249-EF24-7D7E5F58866C}"/>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AE4678EF-6C78-80E6-E580-1B9350D41D4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90D370A-C15E-3359-C5C4-5C911C3C2FE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0D3ADC0-6AA3-517F-C70A-5EE28061E27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3/27/2026 12:03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3B0F305-96BE-302A-AB3D-8186A62A507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32505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E1CC-91ED-72C3-5A04-ADFB9CB6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19BE6-067B-0B9A-62AE-E9BE588F6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C823-DF22-203E-A6FC-C8832AC17A5E}"/>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5110AD05-4F7A-12ED-AF19-F455D7C8FB1E}"/>
              </a:ext>
            </a:extLst>
          </p:cNvPr>
          <p:cNvSpPr>
            <a:spLocks noGrp="1"/>
          </p:cNvSpPr>
          <p:nvPr>
            <p:ph type="sldNum" sz="quarter" idx="5"/>
          </p:nvPr>
        </p:nvSpPr>
        <p:spPr/>
        <p:txBody>
          <a:bodyPr/>
          <a:lstStyle/>
          <a:p>
            <a:fld id="{97E04F8E-88E9-481C-A2B3-C92BCE611EF5}" type="slidenum">
              <a:rPr lang="en-US" smtClean="0"/>
              <a:t>18</a:t>
            </a:fld>
            <a:endParaRPr lang="en-US" dirty="0"/>
          </a:p>
        </p:txBody>
      </p:sp>
    </p:spTree>
    <p:extLst>
      <p:ext uri="{BB962C8B-B14F-4D97-AF65-F5344CB8AC3E}">
        <p14:creationId xmlns:p14="http://schemas.microsoft.com/office/powerpoint/2010/main" val="618842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DF0C-314E-0875-A002-C0ACBE406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4E9CB-440C-A18E-0035-BD83FE4C3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1EBF6-475A-9518-0575-84CD1ACB87EF}"/>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F07740C2-BEFE-9994-7E0E-D5774A8B806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89973630-ACF6-7B36-BB47-757C11A9A27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7881479-7338-E277-B999-E0A65A7C4CF8}"/>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1D6EEFF3-7E0F-D8E7-71C9-0968643FDC82}"/>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778850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3434933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79927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4603E-E307-21EB-CE60-CC6D4B743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1FA42-9269-237A-EB93-CE734594D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3C1F8-914E-95B7-D2EC-BA791D0B9DB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F35F56F-106A-653E-0378-9A77738512F9}"/>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2DAE6C2-2B81-C69B-C112-269A3015238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FC2A42EE-5147-4D5C-F363-C7E42E8825AC}"/>
              </a:ext>
            </a:extLst>
          </p:cNvPr>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901661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r>
              <a:rPr lang="en-US" dirty="0"/>
              <a:t>Highlight the JSON response values to use in your app.</a:t>
            </a:r>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4151366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4CE5-1265-07D5-8433-6D481653D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BA34F-B0D4-DF1E-5683-9B79610F3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7E58E-A721-A951-7854-297E24553666}"/>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C5E24D8D-23E4-5607-A05B-94A93AA78AC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F78A9AB-37E8-E17C-EBB5-D18CBE257A0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60A5FCA-986A-0AD2-0075-7E1297DEB89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3/27/2026 12:03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F145E22-45C7-EDA4-449C-B345E529E32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71689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22BA-AE02-7B5F-3556-9A1A19DDF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BCE7-9AA1-C9CA-00F3-6947C4007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E7C6E-CD9D-87B8-84CC-53029901776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7141398A-8D17-31CB-6EFE-A1E91771EB3A}"/>
              </a:ext>
            </a:extLst>
          </p:cNvPr>
          <p:cNvSpPr>
            <a:spLocks noGrp="1"/>
          </p:cNvSpPr>
          <p:nvPr>
            <p:ph type="sldNum" sz="quarter" idx="5"/>
          </p:nvPr>
        </p:nvSpPr>
        <p:spPr/>
        <p:txBody>
          <a:bodyPr/>
          <a:lstStyle/>
          <a:p>
            <a:fld id="{97E04F8E-88E9-481C-A2B3-C92BCE611EF5}" type="slidenum">
              <a:rPr lang="en-US" smtClean="0"/>
              <a:t>25</a:t>
            </a:fld>
            <a:endParaRPr lang="en-US" dirty="0"/>
          </a:p>
        </p:txBody>
      </p:sp>
    </p:spTree>
    <p:extLst>
      <p:ext uri="{BB962C8B-B14F-4D97-AF65-F5344CB8AC3E}">
        <p14:creationId xmlns:p14="http://schemas.microsoft.com/office/powerpoint/2010/main" val="2259271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34D5-EEC3-FFC7-A41F-9D88295B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13CF8-B7ED-3CCA-23C8-390A71040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3B90-9563-ACB0-2ABD-2B01A5E9D155}"/>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7C0E10E8-5FE1-E444-A223-2640D97C893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90D3235-32F8-A1F0-70BA-13FD17C3709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65A0D44-0C0B-6AD5-11A5-C29D7A905E4A}"/>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95666246-F33D-6D09-43FF-9F2420B1BEB4}"/>
              </a:ext>
            </a:extLst>
          </p:cNvPr>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975558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3400666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2433401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2081408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258439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32066600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3/27/2026 12:52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650855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that custom analyzers can be based on pre-built analyzers, such as the pre-build “document” analyzer provided with Content Understanding.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See https://learn.microsoft.com/azure/ai-services/content-understanding/tutorial/create-custom-analyzer for more details.</a:t>
            </a:r>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3/27/2026 12:55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394632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3/27/2026 12:58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08585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F28A-B710-A601-974E-DA4359746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CDE8F-0BF7-4874-8D9F-6E1C2BA11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1563-19C2-91E5-3BF7-884D976B97CF}"/>
              </a:ext>
            </a:extLst>
          </p:cNvPr>
          <p:cNvSpPr>
            <a:spLocks noGrp="1"/>
          </p:cNvSpPr>
          <p:nvPr>
            <p:ph type="body" idx="1"/>
          </p:nvPr>
        </p:nvSpPr>
        <p:spPr/>
        <p:txBody>
          <a:bodyPr/>
          <a:lstStyle/>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4A296D45-3428-749C-D322-C7FB2D8CC2DE}"/>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0FA7FF22-4AC1-623F-FD8F-D0BA9D1CE14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698787F-A55C-1797-5954-55A9EE7942BF}"/>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4BF78862-4CF3-4546-0867-36B0B92FB386}"/>
              </a:ext>
            </a:extLst>
          </p:cNvPr>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949885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36</a:t>
            </a:fld>
            <a:endParaRPr lang="en-US" dirty="0"/>
          </a:p>
        </p:txBody>
      </p:sp>
    </p:spTree>
    <p:extLst>
      <p:ext uri="{BB962C8B-B14F-4D97-AF65-F5344CB8AC3E}">
        <p14:creationId xmlns:p14="http://schemas.microsoft.com/office/powerpoint/2010/main" val="3565817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Feel free to skip this section, included for completeness.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a:p>
            <a:endParaRPr lang="en-US" dirty="0"/>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7480240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17854168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1491678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32626671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840890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42244528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DEFF-3814-B6DB-1CCE-5A54C12A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30F49-0192-78F4-1A6A-345F3597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F394-8C6B-1F54-45B9-DE1B1E51522D}"/>
              </a:ext>
            </a:extLst>
          </p:cNvPr>
          <p:cNvSpPr>
            <a:spLocks noGrp="1"/>
          </p:cNvSpPr>
          <p:nvPr>
            <p:ph type="body" idx="1"/>
          </p:nvPr>
        </p:nvSpPr>
        <p:spPr/>
        <p:txBody>
          <a:bodyPr/>
          <a:lstStyle/>
          <a:p>
            <a:r>
              <a:rPr lang="en-US" dirty="0"/>
              <a:t>Trainers, set this up ahead of time to just show how this works.</a:t>
            </a:r>
          </a:p>
          <a:p>
            <a:endParaRPr lang="en-US" dirty="0"/>
          </a:p>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35599E87-5914-F87E-D186-43AC05D3F8C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AC7F87C7-CBA8-68FA-D665-86EDF0208EF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A3E3EB3E-2DB1-EF22-56F8-C89CEF8179B5}"/>
              </a:ext>
            </a:extLst>
          </p:cNvPr>
          <p:cNvSpPr>
            <a:spLocks noGrp="1"/>
          </p:cNvSpPr>
          <p:nvPr>
            <p:ph type="dt" idx="1"/>
          </p:nvPr>
        </p:nvSpPr>
        <p:spPr/>
        <p:txBody>
          <a:bodyPr/>
          <a:lstStyle/>
          <a:p>
            <a:fld id="{61486BA7-839C-4D2B-BD52-EF0BBA8433FD}" type="datetime8">
              <a:rPr lang="en-US" smtClean="0"/>
              <a:t>3/27/2026 12:03 PM</a:t>
            </a:fld>
            <a:endParaRPr lang="en-US" dirty="0"/>
          </a:p>
        </p:txBody>
      </p:sp>
      <p:sp>
        <p:nvSpPr>
          <p:cNvPr id="7" name="Slide Number Placeholder 6">
            <a:extLst>
              <a:ext uri="{FF2B5EF4-FFF2-40B4-BE49-F238E27FC236}">
                <a16:creationId xmlns:a16="http://schemas.microsoft.com/office/drawing/2014/main" id="{552A7B0D-DE21-8523-11D3-A7C963342B1C}"/>
              </a:ext>
            </a:extLst>
          </p:cNvPr>
          <p:cNvSpPr>
            <a:spLocks noGrp="1"/>
          </p:cNvSpPr>
          <p:nvPr>
            <p:ph type="sldNum" sz="quarter" idx="5"/>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9537472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26D1-0BAD-8EB3-2756-9AD124DE4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E18DC-5E07-A160-07A7-3510FDA1B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F04D2-0671-FB92-F8EE-252342471FE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DD79D5A9-7223-E5B1-C40B-852A07AFEE62}"/>
              </a:ext>
            </a:extLst>
          </p:cNvPr>
          <p:cNvSpPr>
            <a:spLocks noGrp="1"/>
          </p:cNvSpPr>
          <p:nvPr>
            <p:ph type="sldNum" sz="quarter" idx="5"/>
          </p:nvPr>
        </p:nvSpPr>
        <p:spPr/>
        <p:txBody>
          <a:bodyPr/>
          <a:lstStyle/>
          <a:p>
            <a:fld id="{97E04F8E-88E9-481C-A2B3-C92BCE611EF5}" type="slidenum">
              <a:rPr lang="en-US" smtClean="0"/>
              <a:t>44</a:t>
            </a:fld>
            <a:endParaRPr lang="en-US" dirty="0"/>
          </a:p>
        </p:txBody>
      </p:sp>
    </p:spTree>
    <p:extLst>
      <p:ext uri="{BB962C8B-B14F-4D97-AF65-F5344CB8AC3E}">
        <p14:creationId xmlns:p14="http://schemas.microsoft.com/office/powerpoint/2010/main" val="2708171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4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go.microsoft.com/fwlink/?linkid=2356343" TargetMode="External"/><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hyperlink" Target="https://go.microsoft.com/fwlink/?linkid=2356876" TargetMode="External"/><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43.svg"/><Relationship Id="rId11" Type="http://schemas.openxmlformats.org/officeDocument/2006/relationships/image" Target="../media/image48.svg"/><Relationship Id="rId5" Type="http://schemas.openxmlformats.org/officeDocument/2006/relationships/image" Target="../media/image42.sv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sv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0.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hyperlink" Target="https://go.microsoft.com/fwlink/?linkid=2356972" TargetMode="External"/><Relationship Id="rId2" Type="http://schemas.openxmlformats.org/officeDocument/2006/relationships/notesSlide" Target="../notesSlides/notesSlide24.xml"/><Relationship Id="rId1" Type="http://schemas.openxmlformats.org/officeDocument/2006/relationships/slideLayout" Target="../slideLayouts/slideLayout26.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7.svg"/><Relationship Id="rId7" Type="http://schemas.openxmlformats.org/officeDocument/2006/relationships/image" Target="../media/image61.svg"/><Relationship Id="rId12" Type="http://schemas.openxmlformats.org/officeDocument/2006/relationships/image" Target="../media/image66.sv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9.sv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svg"/></Relationships>
</file>

<file path=ppt/slides/_rels/slide31.xml.rels><?xml version="1.0" encoding="UTF-8" standalone="yes"?>
<Relationships xmlns="http://schemas.openxmlformats.org/package/2006/relationships"><Relationship Id="rId3" Type="http://schemas.openxmlformats.org/officeDocument/2006/relationships/hyperlink" Target="https://go.microsoft.com/fwlink/?linkid=2320174" TargetMode="External"/><Relationship Id="rId2" Type="http://schemas.openxmlformats.org/officeDocument/2006/relationships/notesSlide" Target="../notesSlides/notesSlide31.xml"/><Relationship Id="rId1" Type="http://schemas.openxmlformats.org/officeDocument/2006/relationships/slideLayout" Target="../slideLayouts/slideLayout26.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hyperlink" Target="https://go.microsoft.com/fwlink/?linkid=2320464"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81.svg"/><Relationship Id="rId3" Type="http://schemas.openxmlformats.org/officeDocument/2006/relationships/image" Target="../media/image72.svg"/><Relationship Id="rId7" Type="http://schemas.openxmlformats.org/officeDocument/2006/relationships/image" Target="../media/image76.svg"/><Relationship Id="rId12" Type="http://schemas.openxmlformats.org/officeDocument/2006/relationships/image" Target="../media/image80.svg"/><Relationship Id="rId2" Type="http://schemas.openxmlformats.org/officeDocument/2006/relationships/notesSlide" Target="../notesSlides/notesSlide38.xml"/><Relationship Id="rId1" Type="http://schemas.openxmlformats.org/officeDocument/2006/relationships/slideLayout" Target="../slideLayouts/slideLayout27.xml"/><Relationship Id="rId6" Type="http://schemas.openxmlformats.org/officeDocument/2006/relationships/image" Target="../media/image75.svg"/><Relationship Id="rId11" Type="http://schemas.openxmlformats.org/officeDocument/2006/relationships/image" Target="../media/image79.svg"/><Relationship Id="rId5" Type="http://schemas.openxmlformats.org/officeDocument/2006/relationships/image" Target="../media/image74.svg"/><Relationship Id="rId10" Type="http://schemas.openxmlformats.org/officeDocument/2006/relationships/image" Target="../media/image78.svg"/><Relationship Id="rId4" Type="http://schemas.openxmlformats.org/officeDocument/2006/relationships/image" Target="../media/image73.svg"/><Relationship Id="rId9" Type="http://schemas.openxmlformats.org/officeDocument/2006/relationships/image" Target="../media/image77.svg"/></Relationships>
</file>

<file path=ppt/slides/_rels/slide39.xml.rels><?xml version="1.0" encoding="UTF-8" standalone="yes"?>
<Relationships xmlns="http://schemas.openxmlformats.org/package/2006/relationships"><Relationship Id="rId3" Type="http://schemas.openxmlformats.org/officeDocument/2006/relationships/image" Target="../media/image82.svg"/><Relationship Id="rId7" Type="http://schemas.openxmlformats.org/officeDocument/2006/relationships/image" Target="../media/image72.svg"/><Relationship Id="rId2" Type="http://schemas.openxmlformats.org/officeDocument/2006/relationships/notesSlide" Target="../notesSlides/notesSlide39.xml"/><Relationship Id="rId1" Type="http://schemas.openxmlformats.org/officeDocument/2006/relationships/slideLayout" Target="../slideLayouts/slideLayout27.xml"/><Relationship Id="rId6" Type="http://schemas.openxmlformats.org/officeDocument/2006/relationships/image" Target="../media/image83.svg"/><Relationship Id="rId5" Type="http://schemas.openxmlformats.org/officeDocument/2006/relationships/image" Target="../media/image76.svg"/><Relationship Id="rId4" Type="http://schemas.openxmlformats.org/officeDocument/2006/relationships/image" Target="../media/image59.svg"/></Relationships>
</file>

<file path=ppt/slides/_rels/slide40.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82.svg"/><Relationship Id="rId7" Type="http://schemas.openxmlformats.org/officeDocument/2006/relationships/image" Target="../media/image84.svg"/><Relationship Id="rId2" Type="http://schemas.openxmlformats.org/officeDocument/2006/relationships/notesSlide" Target="../notesSlides/notesSlide40.xml"/><Relationship Id="rId1" Type="http://schemas.openxmlformats.org/officeDocument/2006/relationships/slideLayout" Target="../slideLayouts/slideLayout27.xml"/><Relationship Id="rId6" Type="http://schemas.openxmlformats.org/officeDocument/2006/relationships/image" Target="../media/image83.svg"/><Relationship Id="rId5" Type="http://schemas.openxmlformats.org/officeDocument/2006/relationships/image" Target="../media/image76.svg"/><Relationship Id="rId10" Type="http://schemas.openxmlformats.org/officeDocument/2006/relationships/image" Target="../media/image86.svg"/><Relationship Id="rId4" Type="http://schemas.openxmlformats.org/officeDocument/2006/relationships/image" Target="../media/image59.svg"/><Relationship Id="rId9" Type="http://schemas.openxmlformats.org/officeDocument/2006/relationships/image" Target="../media/image85.svg"/></Relationships>
</file>

<file path=ppt/slides/_rels/slide41.xml.rels><?xml version="1.0" encoding="UTF-8" standalone="yes"?>
<Relationships xmlns="http://schemas.openxmlformats.org/package/2006/relationships"><Relationship Id="rId3" Type="http://schemas.openxmlformats.org/officeDocument/2006/relationships/image" Target="../media/image73.svg"/><Relationship Id="rId7" Type="http://schemas.openxmlformats.org/officeDocument/2006/relationships/image" Target="../media/image72.svg"/><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59.svg"/><Relationship Id="rId5" Type="http://schemas.openxmlformats.org/officeDocument/2006/relationships/image" Target="../media/image75.svg"/><Relationship Id="rId4" Type="http://schemas.openxmlformats.org/officeDocument/2006/relationships/image" Target="../media/image74.svg"/></Relationships>
</file>

<file path=ppt/slides/_rels/slide42.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89.svg"/><Relationship Id="rId3" Type="http://schemas.openxmlformats.org/officeDocument/2006/relationships/image" Target="../media/image82.svg"/><Relationship Id="rId7" Type="http://schemas.openxmlformats.org/officeDocument/2006/relationships/image" Target="../media/image84.svg"/><Relationship Id="rId12" Type="http://schemas.openxmlformats.org/officeDocument/2006/relationships/image" Target="../media/image88.svg"/><Relationship Id="rId2" Type="http://schemas.openxmlformats.org/officeDocument/2006/relationships/notesSlide" Target="../notesSlides/notesSlide42.xml"/><Relationship Id="rId1" Type="http://schemas.openxmlformats.org/officeDocument/2006/relationships/slideLayout" Target="../slideLayouts/slideLayout27.xml"/><Relationship Id="rId6" Type="http://schemas.openxmlformats.org/officeDocument/2006/relationships/image" Target="../media/image83.svg"/><Relationship Id="rId11" Type="http://schemas.openxmlformats.org/officeDocument/2006/relationships/image" Target="../media/image87.svg"/><Relationship Id="rId5" Type="http://schemas.openxmlformats.org/officeDocument/2006/relationships/image" Target="../media/image76.svg"/><Relationship Id="rId10" Type="http://schemas.openxmlformats.org/officeDocument/2006/relationships/image" Target="../media/image86.svg"/><Relationship Id="rId4" Type="http://schemas.openxmlformats.org/officeDocument/2006/relationships/image" Target="../media/image59.svg"/><Relationship Id="rId9" Type="http://schemas.openxmlformats.org/officeDocument/2006/relationships/image" Target="../media/image85.svg"/><Relationship Id="rId14" Type="http://schemas.openxmlformats.org/officeDocument/2006/relationships/image" Target="../media/image90.sv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26.xml"/><Relationship Id="rId4" Type="http://schemas.openxmlformats.org/officeDocument/2006/relationships/hyperlink" Target="https://go.microsoft.com/fwlink/?linkid=2320469"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3552110"/>
            <a:ext cx="5686955" cy="1107996"/>
          </a:xfrm>
        </p:spPr>
        <p:txBody>
          <a:bodyPr/>
          <a:lstStyle/>
          <a:p>
            <a:pPr>
              <a:defRPr sz="3200"/>
            </a:pPr>
            <a:r>
              <a:rPr lang="it-IT" sz="3600" noProof="0" dirty="0"/>
              <a:t>Extract insights from</a:t>
            </a:r>
            <a:br>
              <a:rPr lang="it-IT" sz="3600" noProof="0" dirty="0"/>
            </a:br>
            <a:r>
              <a:rPr lang="it-IT" sz="3600" noProof="0" dirty="0"/>
              <a:t>visual data in Azure​</a:t>
            </a:r>
            <a:endParaRPr lang="en-US" sz="3600" noProof="0" dirty="0"/>
          </a:p>
        </p:txBody>
      </p:sp>
      <p:sp>
        <p:nvSpPr>
          <p:cNvPr id="3" name="Text Placeholder 2"/>
          <p:cNvSpPr>
            <a:spLocks noGrp="1"/>
          </p:cNvSpPr>
          <p:nvPr>
            <p:ph type="body" sz="quarter" idx="13"/>
          </p:nvPr>
        </p:nvSpPr>
        <p:spPr/>
        <p:txBody>
          <a:bodyPr/>
          <a:lstStyle/>
          <a:p>
            <a:r>
              <a:rPr lang="en-US" noProof="0" dirty="0"/>
              <a:t>June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9332"/>
          </a:xfrm>
          <a:prstGeom prst="rect">
            <a:avLst/>
          </a:prstGeom>
          <a:noFill/>
        </p:spPr>
        <p:txBody>
          <a:bodyPr wrap="square">
            <a:spAutoFit/>
          </a:bodyPr>
          <a:lstStyle/>
          <a:p>
            <a:r>
              <a:rPr lang="en-US" sz="1770" dirty="0">
                <a:solidFill>
                  <a:schemeClr val="accent2"/>
                </a:solidFill>
              </a:rPr>
              <a:t>https://aka.ms/mslearn-visual-insights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92167"/>
            <a:ext cx="6345239" cy="1107996"/>
          </a:xfrm>
        </p:spPr>
        <p:txBody>
          <a:bodyPr/>
          <a:lstStyle/>
          <a:p>
            <a:r>
              <a:rPr lang="en-US" sz="3600" noProof="0" dirty="0"/>
              <a:t>Develop a vision-enabled generative AI application</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https://aka.ms/mslearn-gen-ai-vision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0" y="585216"/>
            <a:ext cx="11343354" cy="492443"/>
          </a:xfrm>
        </p:spPr>
        <p:txBody>
          <a:bodyPr/>
          <a:lstStyle/>
          <a:p>
            <a:r>
              <a:rPr lang="en-US" dirty="0"/>
              <a:t>Using a vision-capable model</a:t>
            </a:r>
          </a:p>
        </p:txBody>
      </p:sp>
      <p:sp>
        <p:nvSpPr>
          <p:cNvPr id="5" name="Text Placeholder 4">
            <a:extLst>
              <a:ext uri="{FF2B5EF4-FFF2-40B4-BE49-F238E27FC236}">
                <a16:creationId xmlns:a16="http://schemas.microsoft.com/office/drawing/2014/main" id="{0616B650-0E57-FB88-A571-F39976BD5D3B}"/>
              </a:ext>
            </a:extLst>
          </p:cNvPr>
          <p:cNvSpPr>
            <a:spLocks noGrp="1"/>
          </p:cNvSpPr>
          <p:nvPr>
            <p:ph type="body" sz="quarter" idx="16"/>
          </p:nvPr>
        </p:nvSpPr>
        <p:spPr>
          <a:xfrm>
            <a:off x="584199" y="1594155"/>
            <a:ext cx="4675481" cy="4596130"/>
          </a:xfrm>
        </p:spPr>
        <p:txBody>
          <a:bodyPr/>
          <a:lstStyle/>
          <a:p>
            <a:pPr marL="0" lvl="1" indent="0">
              <a:spcBef>
                <a:spcPts val="1200"/>
              </a:spcBef>
              <a:buNone/>
            </a:pPr>
            <a:r>
              <a:rPr lang="en-US" sz="2000" dirty="0"/>
              <a:t>Multimodal models for text and image data:</a:t>
            </a:r>
          </a:p>
          <a:p>
            <a:pPr marL="220853" lvl="1" indent="-231775">
              <a:spcBef>
                <a:spcPts val="600"/>
              </a:spcBef>
              <a:spcAft>
                <a:spcPts val="400"/>
              </a:spcAft>
              <a:buSzPct val="100000"/>
            </a:pPr>
            <a:r>
              <a:rPr lang="en-US" sz="2000" dirty="0"/>
              <a:t>Text prompts</a:t>
            </a:r>
          </a:p>
          <a:p>
            <a:pPr marL="220853" lvl="1" indent="-231775">
              <a:spcBef>
                <a:spcPts val="600"/>
              </a:spcBef>
              <a:spcAft>
                <a:spcPts val="400"/>
              </a:spcAft>
              <a:buSzPct val="100000"/>
            </a:pPr>
            <a:r>
              <a:rPr lang="en-US" sz="2000" dirty="0"/>
              <a:t>Image prompts</a:t>
            </a:r>
          </a:p>
          <a:p>
            <a:pPr marL="220853" lvl="1" indent="-231775">
              <a:spcBef>
                <a:spcPts val="600"/>
              </a:spcBef>
              <a:spcAft>
                <a:spcPts val="400"/>
              </a:spcAft>
              <a:buSzPct val="100000"/>
            </a:pPr>
            <a:r>
              <a:rPr lang="en-US" sz="2000" dirty="0"/>
              <a:t>Multimodal prompts</a:t>
            </a:r>
          </a:p>
          <a:p>
            <a:pPr marL="0" lvl="1" indent="0">
              <a:spcBef>
                <a:spcPts val="600"/>
              </a:spcBef>
              <a:spcAft>
                <a:spcPts val="400"/>
              </a:spcAft>
              <a:buSzPct val="100000"/>
              <a:buNone/>
            </a:pPr>
            <a:endParaRPr lang="en-US" sz="2000" dirty="0"/>
          </a:p>
          <a:p>
            <a:pPr marL="0" lvl="1" indent="0">
              <a:spcBef>
                <a:spcPts val="600"/>
              </a:spcBef>
              <a:spcAft>
                <a:spcPts val="400"/>
              </a:spcAft>
              <a:buSzPct val="100000"/>
              <a:buNone/>
            </a:pPr>
            <a:r>
              <a:rPr lang="en-US" sz="2000" dirty="0">
                <a:solidFill>
                  <a:srgbClr val="161616"/>
                </a:solidFill>
                <a:latin typeface="Segoe UI" panose="020B0502040204020203" pitchFamily="34" charset="0"/>
              </a:rPr>
              <a:t>Typically, multimodal prompts for vision-based input include multiple parts (for example, a text part and an image part)</a:t>
            </a:r>
          </a:p>
          <a:p>
            <a:pPr marL="0" lvl="1" indent="0">
              <a:spcBef>
                <a:spcPts val="600"/>
              </a:spcBef>
              <a:spcAft>
                <a:spcPts val="400"/>
              </a:spcAft>
              <a:buSzPct val="100000"/>
              <a:buNone/>
            </a:pPr>
            <a:endParaRPr lang="en-US" sz="2200" dirty="0"/>
          </a:p>
          <a:p>
            <a:pPr marL="339725" lvl="2" indent="-231775">
              <a:spcBef>
                <a:spcPts val="200"/>
              </a:spcBef>
              <a:spcAft>
                <a:spcPts val="400"/>
              </a:spcAft>
              <a:buSzPct val="100000"/>
            </a:pPr>
            <a:endParaRPr lang="en-US" sz="2000" dirty="0"/>
          </a:p>
          <a:p>
            <a:pPr marL="339725" lvl="2" indent="-231775">
              <a:spcBef>
                <a:spcPts val="200"/>
              </a:spcBef>
              <a:spcAft>
                <a:spcPts val="400"/>
              </a:spcAft>
              <a:buSzPct val="100000"/>
            </a:pPr>
            <a:endParaRPr lang="en-US" sz="2000" dirty="0"/>
          </a:p>
        </p:txBody>
      </p:sp>
      <p:sp>
        <p:nvSpPr>
          <p:cNvPr id="3" name="Footer Placeholder 2">
            <a:extLst>
              <a:ext uri="{FF2B5EF4-FFF2-40B4-BE49-F238E27FC236}">
                <a16:creationId xmlns:a16="http://schemas.microsoft.com/office/drawing/2014/main" id="{483FBBAD-E9A6-CF01-E9B8-F55935BB303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13" name="Picture 12" descr="Screenshot showing a photograph of a ripe mango with a reddish top and green bottom against a plain beige background. The mango is centered in a pop-up window labeled &quot;mango.jpeg&quot; on a computer screen displaying a Microsoft Foundry interface for AI model management.">
            <a:extLst>
              <a:ext uri="{FF2B5EF4-FFF2-40B4-BE49-F238E27FC236}">
                <a16:creationId xmlns:a16="http://schemas.microsoft.com/office/drawing/2014/main" id="{D4A72BEA-0CF7-6E6D-7BB1-ED86EEEBFF13}"/>
              </a:ext>
            </a:extLst>
          </p:cNvPr>
          <p:cNvPicPr>
            <a:picLocks noChangeAspect="1"/>
          </p:cNvPicPr>
          <p:nvPr/>
        </p:nvPicPr>
        <p:blipFill>
          <a:blip r:embed="rId3"/>
          <a:stretch>
            <a:fillRect/>
          </a:stretch>
        </p:blipFill>
        <p:spPr>
          <a:xfrm>
            <a:off x="5259680" y="1386114"/>
            <a:ext cx="6671934" cy="4886670"/>
          </a:xfrm>
          <a:prstGeom prst="rect">
            <a:avLst/>
          </a:prstGeom>
        </p:spPr>
      </p:pic>
    </p:spTree>
    <p:extLst>
      <p:ext uri="{BB962C8B-B14F-4D97-AF65-F5344CB8AC3E}">
        <p14:creationId xmlns:p14="http://schemas.microsoft.com/office/powerpoint/2010/main" val="224222934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1FBE-7FA3-DD96-EAE4-47FCBE0C3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C4029-9325-F15F-46AE-197E9584532A}"/>
              </a:ext>
            </a:extLst>
          </p:cNvPr>
          <p:cNvSpPr>
            <a:spLocks noGrp="1"/>
          </p:cNvSpPr>
          <p:nvPr>
            <p:ph type="title"/>
          </p:nvPr>
        </p:nvSpPr>
        <p:spPr>
          <a:xfrm>
            <a:off x="588262" y="585216"/>
            <a:ext cx="8193024" cy="492443"/>
          </a:xfrm>
        </p:spPr>
        <p:txBody>
          <a:bodyPr/>
          <a:lstStyle/>
          <a:p>
            <a:r>
              <a:rPr lang="en-US" sz="3200" b="1" dirty="0"/>
              <a:t>Compare APIs for image-based prompts</a:t>
            </a:r>
            <a:endParaRPr lang="en-US" sz="3200" dirty="0"/>
          </a:p>
        </p:txBody>
      </p:sp>
      <p:grpSp>
        <p:nvGrpSpPr>
          <p:cNvPr id="70" name="Group 69">
            <a:extLst>
              <a:ext uri="{FF2B5EF4-FFF2-40B4-BE49-F238E27FC236}">
                <a16:creationId xmlns:a16="http://schemas.microsoft.com/office/drawing/2014/main" id="{8F325D51-7BD7-12ED-DAF4-708BBA3CAFD8}"/>
              </a:ext>
              <a:ext uri="{C183D7F6-B498-43B3-948B-1728B52AA6E4}">
                <adec:decorative xmlns:adec="http://schemas.microsoft.com/office/drawing/2017/decorative" val="1"/>
              </a:ext>
            </a:extLst>
          </p:cNvPr>
          <p:cNvGrpSpPr/>
          <p:nvPr/>
        </p:nvGrpSpPr>
        <p:grpSpPr>
          <a:xfrm>
            <a:off x="544191" y="1901997"/>
            <a:ext cx="830603" cy="338554"/>
            <a:chOff x="544191" y="1901997"/>
            <a:chExt cx="830603" cy="338554"/>
          </a:xfrm>
        </p:grpSpPr>
        <p:sp>
          <p:nvSpPr>
            <p:cNvPr id="59" name="Oval 58">
              <a:extLst>
                <a:ext uri="{FF2B5EF4-FFF2-40B4-BE49-F238E27FC236}">
                  <a16:creationId xmlns:a16="http://schemas.microsoft.com/office/drawing/2014/main" id="{7625B65B-3181-A87F-4BA2-9982A0CBBEE0}"/>
                </a:ext>
              </a:extLst>
            </p:cNvPr>
            <p:cNvSpPr>
              <a:spLocks noChangeAspect="1"/>
            </p:cNvSpPr>
            <p:nvPr/>
          </p:nvSpPr>
          <p:spPr bwMode="auto">
            <a:xfrm>
              <a:off x="544191" y="1979834"/>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1</a:t>
              </a:r>
            </a:p>
          </p:txBody>
        </p:sp>
        <p:sp>
          <p:nvSpPr>
            <p:cNvPr id="64" name="TextBox 63">
              <a:extLst>
                <a:ext uri="{FF2B5EF4-FFF2-40B4-BE49-F238E27FC236}">
                  <a16:creationId xmlns:a16="http://schemas.microsoft.com/office/drawing/2014/main" id="{EB508759-FE10-B119-39AC-8A17154F9483}"/>
                </a:ext>
              </a:extLst>
            </p:cNvPr>
            <p:cNvSpPr txBox="1"/>
            <p:nvPr/>
          </p:nvSpPr>
          <p:spPr>
            <a:xfrm>
              <a:off x="937174" y="1901997"/>
              <a:ext cx="437620"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LOAD</a:t>
              </a:r>
            </a:p>
            <a:p>
              <a:pPr algn="ctr"/>
              <a:r>
                <a:rPr lang="en-US" sz="1100" dirty="0">
                  <a:solidFill>
                    <a:schemeClr val="tx1">
                      <a:lumMod val="75000"/>
                      <a:lumOff val="25000"/>
                    </a:schemeClr>
                  </a:solidFill>
                  <a:latin typeface="+mj-lt"/>
                </a:rPr>
                <a:t>IMAGE</a:t>
              </a:r>
            </a:p>
          </p:txBody>
        </p:sp>
      </p:grpSp>
      <p:grpSp>
        <p:nvGrpSpPr>
          <p:cNvPr id="71" name="Group 70">
            <a:extLst>
              <a:ext uri="{FF2B5EF4-FFF2-40B4-BE49-F238E27FC236}">
                <a16:creationId xmlns:a16="http://schemas.microsoft.com/office/drawing/2014/main" id="{7933073B-54AB-7039-0D15-4F448645C600}"/>
              </a:ext>
              <a:ext uri="{C183D7F6-B498-43B3-948B-1728B52AA6E4}">
                <adec:decorative xmlns:adec="http://schemas.microsoft.com/office/drawing/2017/decorative" val="1"/>
              </a:ext>
            </a:extLst>
          </p:cNvPr>
          <p:cNvGrpSpPr/>
          <p:nvPr/>
        </p:nvGrpSpPr>
        <p:grpSpPr>
          <a:xfrm>
            <a:off x="544191" y="2978001"/>
            <a:ext cx="860258" cy="338554"/>
            <a:chOff x="544191" y="2632315"/>
            <a:chExt cx="860258" cy="338554"/>
          </a:xfrm>
        </p:grpSpPr>
        <p:sp>
          <p:nvSpPr>
            <p:cNvPr id="63" name="Oval 62">
              <a:extLst>
                <a:ext uri="{FF2B5EF4-FFF2-40B4-BE49-F238E27FC236}">
                  <a16:creationId xmlns:a16="http://schemas.microsoft.com/office/drawing/2014/main" id="{553C555A-D0DB-C982-0B4E-C918D426AB92}"/>
                </a:ext>
              </a:extLst>
            </p:cNvPr>
            <p:cNvSpPr>
              <a:spLocks noChangeAspect="1"/>
            </p:cNvSpPr>
            <p:nvPr/>
          </p:nvSpPr>
          <p:spPr bwMode="auto">
            <a:xfrm>
              <a:off x="544191" y="271015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2</a:t>
              </a:r>
            </a:p>
          </p:txBody>
        </p:sp>
        <p:sp>
          <p:nvSpPr>
            <p:cNvPr id="65" name="TextBox 64">
              <a:extLst>
                <a:ext uri="{FF2B5EF4-FFF2-40B4-BE49-F238E27FC236}">
                  <a16:creationId xmlns:a16="http://schemas.microsoft.com/office/drawing/2014/main" id="{500C522F-8F48-F177-36DF-E9E162F2F042}"/>
                </a:ext>
              </a:extLst>
            </p:cNvPr>
            <p:cNvSpPr txBox="1"/>
            <p:nvPr/>
          </p:nvSpPr>
          <p:spPr>
            <a:xfrm>
              <a:off x="907518" y="2632315"/>
              <a:ext cx="496931"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CREATE</a:t>
              </a:r>
            </a:p>
            <a:p>
              <a:pPr algn="ctr"/>
              <a:r>
                <a:rPr lang="en-US" sz="1100" dirty="0">
                  <a:solidFill>
                    <a:schemeClr val="tx1">
                      <a:lumMod val="75000"/>
                      <a:lumOff val="25000"/>
                    </a:schemeClr>
                  </a:solidFill>
                  <a:latin typeface="+mj-lt"/>
                </a:rPr>
                <a:t>URL</a:t>
              </a:r>
            </a:p>
          </p:txBody>
        </p:sp>
      </p:grpSp>
      <p:grpSp>
        <p:nvGrpSpPr>
          <p:cNvPr id="72" name="Group 71">
            <a:extLst>
              <a:ext uri="{FF2B5EF4-FFF2-40B4-BE49-F238E27FC236}">
                <a16:creationId xmlns:a16="http://schemas.microsoft.com/office/drawing/2014/main" id="{E634B46F-844E-CE7A-CD6D-251B877F859E}"/>
              </a:ext>
              <a:ext uri="{C183D7F6-B498-43B3-948B-1728B52AA6E4}">
                <adec:decorative xmlns:adec="http://schemas.microsoft.com/office/drawing/2017/decorative" val="1"/>
              </a:ext>
            </a:extLst>
          </p:cNvPr>
          <p:cNvGrpSpPr/>
          <p:nvPr/>
        </p:nvGrpSpPr>
        <p:grpSpPr>
          <a:xfrm>
            <a:off x="544191" y="3492024"/>
            <a:ext cx="772093" cy="338554"/>
            <a:chOff x="544191" y="3462435"/>
            <a:chExt cx="772093" cy="338554"/>
          </a:xfrm>
        </p:grpSpPr>
        <p:sp>
          <p:nvSpPr>
            <p:cNvPr id="62" name="Oval 61">
              <a:extLst>
                <a:ext uri="{FF2B5EF4-FFF2-40B4-BE49-F238E27FC236}">
                  <a16:creationId xmlns:a16="http://schemas.microsoft.com/office/drawing/2014/main" id="{9A8C4A1C-000A-C076-777C-09CD657C2946}"/>
                </a:ext>
              </a:extLst>
            </p:cNvPr>
            <p:cNvSpPr>
              <a:spLocks noChangeAspect="1"/>
            </p:cNvSpPr>
            <p:nvPr/>
          </p:nvSpPr>
          <p:spPr bwMode="auto">
            <a:xfrm>
              <a:off x="544191" y="354027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3</a:t>
              </a:r>
            </a:p>
          </p:txBody>
        </p:sp>
        <p:sp>
          <p:nvSpPr>
            <p:cNvPr id="66" name="TextBox 65">
              <a:extLst>
                <a:ext uri="{FF2B5EF4-FFF2-40B4-BE49-F238E27FC236}">
                  <a16:creationId xmlns:a16="http://schemas.microsoft.com/office/drawing/2014/main" id="{2A2DF0D3-B712-93A5-CC54-470889861D09}"/>
                </a:ext>
              </a:extLst>
            </p:cNvPr>
            <p:cNvSpPr txBox="1"/>
            <p:nvPr/>
          </p:nvSpPr>
          <p:spPr>
            <a:xfrm>
              <a:off x="995683" y="3462435"/>
              <a:ext cx="320601"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CALL</a:t>
              </a:r>
            </a:p>
            <a:p>
              <a:pPr algn="ctr"/>
              <a:r>
                <a:rPr lang="en-US" sz="1100" dirty="0">
                  <a:solidFill>
                    <a:schemeClr val="tx1">
                      <a:lumMod val="75000"/>
                      <a:lumOff val="25000"/>
                    </a:schemeClr>
                  </a:solidFill>
                  <a:latin typeface="+mj-lt"/>
                </a:rPr>
                <a:t>API</a:t>
              </a:r>
            </a:p>
          </p:txBody>
        </p:sp>
      </p:grpSp>
      <p:grpSp>
        <p:nvGrpSpPr>
          <p:cNvPr id="73" name="Group 72">
            <a:extLst>
              <a:ext uri="{FF2B5EF4-FFF2-40B4-BE49-F238E27FC236}">
                <a16:creationId xmlns:a16="http://schemas.microsoft.com/office/drawing/2014/main" id="{3F8D5B28-9F19-9CF2-D455-084978BD2A90}"/>
              </a:ext>
              <a:ext uri="{C183D7F6-B498-43B3-948B-1728B52AA6E4}">
                <adec:decorative xmlns:adec="http://schemas.microsoft.com/office/drawing/2017/decorative" val="1"/>
              </a:ext>
            </a:extLst>
          </p:cNvPr>
          <p:cNvGrpSpPr/>
          <p:nvPr/>
        </p:nvGrpSpPr>
        <p:grpSpPr>
          <a:xfrm>
            <a:off x="544191" y="5563183"/>
            <a:ext cx="884303" cy="338554"/>
            <a:chOff x="544191" y="4303096"/>
            <a:chExt cx="884303" cy="338554"/>
          </a:xfrm>
        </p:grpSpPr>
        <p:sp>
          <p:nvSpPr>
            <p:cNvPr id="61" name="Oval 60">
              <a:extLst>
                <a:ext uri="{FF2B5EF4-FFF2-40B4-BE49-F238E27FC236}">
                  <a16:creationId xmlns:a16="http://schemas.microsoft.com/office/drawing/2014/main" id="{488997FF-C833-30D9-3BFE-189CA31D1525}"/>
                </a:ext>
              </a:extLst>
            </p:cNvPr>
            <p:cNvSpPr>
              <a:spLocks noChangeAspect="1"/>
            </p:cNvSpPr>
            <p:nvPr/>
          </p:nvSpPr>
          <p:spPr bwMode="auto">
            <a:xfrm>
              <a:off x="544191" y="4380933"/>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4</a:t>
              </a:r>
            </a:p>
          </p:txBody>
        </p:sp>
        <p:sp>
          <p:nvSpPr>
            <p:cNvPr id="67" name="TextBox 66">
              <a:extLst>
                <a:ext uri="{FF2B5EF4-FFF2-40B4-BE49-F238E27FC236}">
                  <a16:creationId xmlns:a16="http://schemas.microsoft.com/office/drawing/2014/main" id="{85C5BD3D-9CFA-A5F6-4C76-2A76877E52A7}"/>
                </a:ext>
              </a:extLst>
            </p:cNvPr>
            <p:cNvSpPr txBox="1"/>
            <p:nvPr/>
          </p:nvSpPr>
          <p:spPr>
            <a:xfrm>
              <a:off x="883472" y="4303096"/>
              <a:ext cx="545022"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GET</a:t>
              </a:r>
            </a:p>
            <a:p>
              <a:pPr algn="ctr"/>
              <a:r>
                <a:rPr lang="en-US" sz="1100" dirty="0">
                  <a:solidFill>
                    <a:schemeClr val="tx1">
                      <a:lumMod val="75000"/>
                      <a:lumOff val="25000"/>
                    </a:schemeClr>
                  </a:solidFill>
                  <a:latin typeface="+mj-lt"/>
                </a:rPr>
                <a:t>OUTPUT</a:t>
              </a:r>
            </a:p>
          </p:txBody>
        </p:sp>
      </p:grpSp>
      <p:sp>
        <p:nvSpPr>
          <p:cNvPr id="3" name="Footer Placeholder 2">
            <a:extLst>
              <a:ext uri="{FF2B5EF4-FFF2-40B4-BE49-F238E27FC236}">
                <a16:creationId xmlns:a16="http://schemas.microsoft.com/office/drawing/2014/main" id="{A2AB8F3A-1802-FDBC-604C-19BF74311A20}"/>
              </a:ext>
              <a:ext uri="{C183D7F6-B498-43B3-948B-1728B52AA6E4}">
                <adec:decorative xmlns:adec="http://schemas.microsoft.com/office/drawing/2017/decorative" val="1"/>
              </a:ext>
            </a:extLst>
          </p:cNvPr>
          <p:cNvSpPr>
            <a:spLocks noGrp="1"/>
          </p:cNvSpPr>
          <p:nvPr>
            <p:ph type="ftr" sz="quarter" idx="3"/>
          </p:nvPr>
        </p:nvSpPr>
        <p:spPr/>
        <p:txBody>
          <a:bodyPr/>
          <a:lstStyle/>
          <a:p>
            <a:pPr defTabSz="914367">
              <a:defRPr/>
            </a:pPr>
            <a:r>
              <a:rPr lang="en-US" sz="1200">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E0AF0931-4574-90FC-FF1C-38A4E75B8446}"/>
              </a:ext>
              <a:ext uri="{C183D7F6-B498-43B3-948B-1728B52AA6E4}">
                <adec:decorative xmlns:adec="http://schemas.microsoft.com/office/drawing/2017/decorative" val="1"/>
              </a:ext>
            </a:extLst>
          </p:cNvPr>
          <p:cNvSpPr/>
          <p:nvPr/>
        </p:nvSpPr>
        <p:spPr bwMode="auto">
          <a:xfrm flipH="1">
            <a:off x="1559755" y="1202435"/>
            <a:ext cx="5119480" cy="521373"/>
          </a:xfrm>
          <a:prstGeom prst="round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0" name="Group 49">
            <a:extLst>
              <a:ext uri="{FF2B5EF4-FFF2-40B4-BE49-F238E27FC236}">
                <a16:creationId xmlns:a16="http://schemas.microsoft.com/office/drawing/2014/main" id="{503C1443-0BB1-8550-0D9B-DF5E23DC1DC1}"/>
              </a:ext>
              <a:ext uri="{C183D7F6-B498-43B3-948B-1728B52AA6E4}">
                <adec:decorative xmlns:adec="http://schemas.microsoft.com/office/drawing/2017/decorative" val="1"/>
              </a:ext>
            </a:extLst>
          </p:cNvPr>
          <p:cNvGrpSpPr>
            <a:grpSpLocks noChangeAspect="1"/>
          </p:cNvGrpSpPr>
          <p:nvPr/>
        </p:nvGrpSpPr>
        <p:grpSpPr>
          <a:xfrm>
            <a:off x="1645303" y="1280241"/>
            <a:ext cx="365760" cy="365760"/>
            <a:chOff x="1255329" y="1453729"/>
            <a:chExt cx="457200" cy="457200"/>
          </a:xfrm>
        </p:grpSpPr>
        <p:sp>
          <p:nvSpPr>
            <p:cNvPr id="7" name="Oval 6">
              <a:extLst>
                <a:ext uri="{FF2B5EF4-FFF2-40B4-BE49-F238E27FC236}">
                  <a16:creationId xmlns:a16="http://schemas.microsoft.com/office/drawing/2014/main" id="{8E354E20-A11B-18FE-B36B-6F9A84F37D34}"/>
                </a:ext>
              </a:extLst>
            </p:cNvPr>
            <p:cNvSpPr>
              <a:spLocks noChangeAspect="1"/>
            </p:cNvSpPr>
            <p:nvPr/>
          </p:nvSpPr>
          <p:spPr bwMode="auto">
            <a:xfrm>
              <a:off x="1255329" y="1453729"/>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Speech with solid fill">
              <a:extLst>
                <a:ext uri="{FF2B5EF4-FFF2-40B4-BE49-F238E27FC236}">
                  <a16:creationId xmlns:a16="http://schemas.microsoft.com/office/drawing/2014/main" id="{9A074EBE-8E11-A787-82A7-68BB5668B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002" y="1517737"/>
              <a:ext cx="365760" cy="365760"/>
            </a:xfrm>
            <a:prstGeom prst="rect">
              <a:avLst/>
            </a:prstGeom>
          </p:spPr>
        </p:pic>
      </p:grpSp>
      <p:sp>
        <p:nvSpPr>
          <p:cNvPr id="8" name="TextBox 7">
            <a:extLst>
              <a:ext uri="{FF2B5EF4-FFF2-40B4-BE49-F238E27FC236}">
                <a16:creationId xmlns:a16="http://schemas.microsoft.com/office/drawing/2014/main" id="{A78FF9AD-287B-421B-C404-9D483EF9E6D9}"/>
              </a:ext>
            </a:extLst>
          </p:cNvPr>
          <p:cNvSpPr txBox="1"/>
          <p:nvPr/>
        </p:nvSpPr>
        <p:spPr>
          <a:xfrm>
            <a:off x="2077949" y="1324622"/>
            <a:ext cx="2228174" cy="276999"/>
          </a:xfrm>
          <a:prstGeom prst="rect">
            <a:avLst/>
          </a:prstGeom>
          <a:noFill/>
        </p:spPr>
        <p:txBody>
          <a:bodyPr wrap="none" lIns="0" tIns="0" rIns="0" bIns="0" rtlCol="0">
            <a:spAutoFit/>
          </a:bodyPr>
          <a:lstStyle/>
          <a:p>
            <a:pPr algn="l"/>
            <a:r>
              <a:rPr lang="en-US" sz="1800" b="1" dirty="0" err="1">
                <a:solidFill>
                  <a:srgbClr val="0078D4"/>
                </a:solidFill>
                <a:latin typeface="+mj-lt"/>
              </a:rPr>
              <a:t>ChatCompletions</a:t>
            </a:r>
            <a:r>
              <a:rPr lang="en-US" sz="1800" b="1" dirty="0">
                <a:solidFill>
                  <a:srgbClr val="0078D4"/>
                </a:solidFill>
                <a:latin typeface="+mj-lt"/>
              </a:rPr>
              <a:t> API</a:t>
            </a:r>
          </a:p>
        </p:txBody>
      </p:sp>
      <p:sp>
        <p:nvSpPr>
          <p:cNvPr id="15" name="Rounded Rectangle 14">
            <a:extLst>
              <a:ext uri="{FF2B5EF4-FFF2-40B4-BE49-F238E27FC236}">
                <a16:creationId xmlns:a16="http://schemas.microsoft.com/office/drawing/2014/main" id="{DC77FFFE-E954-03E5-717E-7554436BEA66}"/>
              </a:ext>
              <a:ext uri="{C183D7F6-B498-43B3-948B-1728B52AA6E4}">
                <adec:decorative xmlns:adec="http://schemas.microsoft.com/office/drawing/2017/decorative" val="1"/>
              </a:ext>
            </a:extLst>
          </p:cNvPr>
          <p:cNvSpPr/>
          <p:nvPr/>
        </p:nvSpPr>
        <p:spPr bwMode="auto">
          <a:xfrm>
            <a:off x="1559754" y="1779334"/>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1" name="TextBox 40">
            <a:extLst>
              <a:ext uri="{FF2B5EF4-FFF2-40B4-BE49-F238E27FC236}">
                <a16:creationId xmlns:a16="http://schemas.microsoft.com/office/drawing/2014/main" id="{817DB563-CA26-27E6-B67B-CA769C6D5E09}"/>
              </a:ext>
            </a:extLst>
          </p:cNvPr>
          <p:cNvSpPr txBox="1"/>
          <p:nvPr/>
        </p:nvSpPr>
        <p:spPr>
          <a:xfrm>
            <a:off x="1559754" y="1810382"/>
            <a:ext cx="4906382" cy="1015663"/>
          </a:xfrm>
          <a:prstGeom prst="rect">
            <a:avLst/>
          </a:prstGeom>
          <a:noFill/>
        </p:spPr>
        <p:txBody>
          <a:bodyPr wrap="square">
            <a:spAutoFit/>
          </a:bodyPr>
          <a:lstStyle/>
          <a:p>
            <a:pPr algn="l">
              <a:buNone/>
            </a:pP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 </a:t>
            </a:r>
            <a:r>
              <a:rPr lang="en-US" sz="1200" b="0" i="0" dirty="0">
                <a:solidFill>
                  <a:srgbClr val="DCDCAA"/>
                </a:solidFill>
                <a:effectLst/>
                <a:latin typeface="Consolas" panose="020B0609020204030204" pitchFamily="49" charset="0"/>
              </a:rPr>
              <a:t>Path</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fruit.jpeg</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pPr algn="l">
              <a:buNone/>
            </a:pPr>
            <a:r>
              <a:rPr lang="en-US" sz="1200" b="0" i="0" dirty="0" err="1">
                <a:solidFill>
                  <a:srgbClr val="9CDCFE"/>
                </a:solidFill>
                <a:effectLst/>
                <a:latin typeface="Consolas" panose="020B0609020204030204" pitchFamily="49" charset="0"/>
              </a:rPr>
              <a:t>image_format</a:t>
            </a:r>
            <a:r>
              <a:rPr lang="en-US" sz="1200" b="0" i="0" dirty="0">
                <a:solidFill>
                  <a:srgbClr val="ABB2BF"/>
                </a:solidFill>
                <a:effectLst/>
                <a:latin typeface="Consolas" panose="020B0609020204030204" pitchFamily="49" charset="0"/>
              </a:rPr>
              <a:t> = </a:t>
            </a:r>
            <a:r>
              <a:rPr lang="en-US" sz="1200" b="0" i="0" dirty="0">
                <a:solidFill>
                  <a:srgbClr val="CE9178"/>
                </a:solidFill>
                <a:effectLst/>
                <a:latin typeface="Consolas" panose="020B0609020204030204" pitchFamily="49" charset="0"/>
              </a:rPr>
              <a:t>"jpeg”</a:t>
            </a:r>
          </a:p>
          <a:p>
            <a:pPr algn="l">
              <a:buNone/>
            </a:pPr>
            <a:r>
              <a:rPr lang="en-US" sz="1200" b="0" i="0" dirty="0">
                <a:solidFill>
                  <a:srgbClr val="569CD6"/>
                </a:solidFill>
                <a:effectLst/>
                <a:latin typeface="Consolas" panose="020B0609020204030204" pitchFamily="49" charset="0"/>
              </a:rPr>
              <a:t>with</a:t>
            </a:r>
            <a:r>
              <a:rPr lang="en-US" sz="1200" b="0" i="0" dirty="0">
                <a:solidFill>
                  <a:srgbClr val="ABB2BF"/>
                </a:solidFill>
                <a:effectLst/>
                <a:latin typeface="Consolas" panose="020B0609020204030204" pitchFamily="49" charset="0"/>
              </a:rPr>
              <a:t> </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569CD6"/>
                </a:solidFill>
                <a:effectLst/>
                <a:latin typeface="Consolas" panose="020B0609020204030204" pitchFamily="49" charset="0"/>
              </a:rPr>
              <a:t>as</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image_data</a:t>
            </a:r>
            <a:r>
              <a:rPr lang="en-US" sz="1200" b="0" i="0" dirty="0">
                <a:solidFill>
                  <a:srgbClr val="ABB2BF"/>
                </a:solidFill>
                <a:effectLst/>
                <a:latin typeface="Consolas" panose="020B0609020204030204" pitchFamily="49" charset="0"/>
              </a:rPr>
              <a:t> = base64.</a:t>
            </a:r>
            <a:r>
              <a:rPr lang="en-US" sz="1200" b="0" i="0" dirty="0">
                <a:solidFill>
                  <a:srgbClr val="DCDCAA"/>
                </a:solidFill>
                <a:effectLst/>
                <a:latin typeface="Consolas" panose="020B0609020204030204" pitchFamily="49" charset="0"/>
              </a:rPr>
              <a:t>b64encode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read</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decode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"utf-8"</a:t>
            </a:r>
            <a:r>
              <a:rPr lang="en-US" sz="1200" b="0" i="0" dirty="0">
                <a:solidFill>
                  <a:srgbClr val="ABB2BF"/>
                </a:solidFill>
                <a:effectLst/>
                <a:latin typeface="Consolas" panose="020B0609020204030204" pitchFamily="49" charset="0"/>
              </a:rPr>
              <a:t>)</a:t>
            </a:r>
          </a:p>
        </p:txBody>
      </p:sp>
      <p:sp>
        <p:nvSpPr>
          <p:cNvPr id="52" name="Rounded Rectangle 51">
            <a:extLst>
              <a:ext uri="{FF2B5EF4-FFF2-40B4-BE49-F238E27FC236}">
                <a16:creationId xmlns:a16="http://schemas.microsoft.com/office/drawing/2014/main" id="{05CE2B58-310B-2ABE-BE0D-AF1E5613DCA8}"/>
              </a:ext>
              <a:ext uri="{C183D7F6-B498-43B3-948B-1728B52AA6E4}">
                <adec:decorative xmlns:adec="http://schemas.microsoft.com/office/drawing/2017/decorative" val="1"/>
              </a:ext>
            </a:extLst>
          </p:cNvPr>
          <p:cNvSpPr/>
          <p:nvPr/>
        </p:nvSpPr>
        <p:spPr bwMode="auto">
          <a:xfrm>
            <a:off x="1559754" y="2912619"/>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7" name="TextBox 16">
            <a:extLst>
              <a:ext uri="{FF2B5EF4-FFF2-40B4-BE49-F238E27FC236}">
                <a16:creationId xmlns:a16="http://schemas.microsoft.com/office/drawing/2014/main" id="{CD63EB87-E950-F2DD-6490-C6FAC19A88A5}"/>
              </a:ext>
            </a:extLst>
          </p:cNvPr>
          <p:cNvSpPr txBox="1"/>
          <p:nvPr/>
        </p:nvSpPr>
        <p:spPr>
          <a:xfrm>
            <a:off x="1559754" y="3008338"/>
            <a:ext cx="5253972" cy="276999"/>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 = </a:t>
            </a:r>
            <a:r>
              <a:rPr lang="en-US" sz="1200" b="0" i="0" dirty="0" err="1">
                <a:solidFill>
                  <a:srgbClr val="DCDCAA"/>
                </a:solidFill>
                <a:effectLst/>
                <a:latin typeface="Consolas" panose="020B0609020204030204" pitchFamily="49" charset="0"/>
              </a:rPr>
              <a:t>f</a:t>
            </a:r>
            <a:r>
              <a:rPr lang="en-US" sz="1200" b="0" i="0" dirty="0" err="1">
                <a:solidFill>
                  <a:srgbClr val="CE9178"/>
                </a:solidFill>
                <a:effectLst/>
                <a:latin typeface="Consolas" panose="020B0609020204030204" pitchFamily="49" charset="0"/>
              </a:rPr>
              <a:t>"data:image</a:t>
            </a:r>
            <a:r>
              <a:rPr lang="en-US" sz="1200" b="0" i="0" dirty="0">
                <a:solidFill>
                  <a:srgbClr val="CE9178"/>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image_format</a:t>
            </a:r>
            <a:r>
              <a:rPr lang="en-US" sz="1200" b="0" i="0" dirty="0">
                <a:solidFill>
                  <a:srgbClr val="CE9178"/>
                </a:solidFill>
                <a:effectLst/>
                <a:latin typeface="Consolas" panose="020B0609020204030204" pitchFamily="49" charset="0"/>
              </a:rPr>
              <a:t>};base64,{</a:t>
            </a:r>
            <a:r>
              <a:rPr lang="en-US" sz="1200" b="0" i="0" dirty="0" err="1">
                <a:solidFill>
                  <a:srgbClr val="9CDCFE"/>
                </a:solidFill>
                <a:effectLst/>
                <a:latin typeface="Consolas" panose="020B0609020204030204" pitchFamily="49" charset="0"/>
              </a:rPr>
              <a:t>image_data</a:t>
            </a:r>
            <a:r>
              <a:rPr lang="en-US" sz="1200" b="0" i="0" dirty="0">
                <a:solidFill>
                  <a:srgbClr val="CE9178"/>
                </a:solidFill>
                <a:effectLst/>
                <a:latin typeface="Consolas" panose="020B0609020204030204" pitchFamily="49" charset="0"/>
              </a:rPr>
              <a:t>}"</a:t>
            </a:r>
            <a:endParaRPr lang="en-US" sz="1200" dirty="0"/>
          </a:p>
        </p:txBody>
      </p:sp>
      <p:grpSp>
        <p:nvGrpSpPr>
          <p:cNvPr id="4" name="Group 3">
            <a:extLst>
              <a:ext uri="{FF2B5EF4-FFF2-40B4-BE49-F238E27FC236}">
                <a16:creationId xmlns:a16="http://schemas.microsoft.com/office/drawing/2014/main" id="{5DAA4749-5524-E608-B9A8-4B9697C2BF3D}"/>
              </a:ext>
              <a:ext uri="{C183D7F6-B498-43B3-948B-1728B52AA6E4}">
                <adec:decorative xmlns:adec="http://schemas.microsoft.com/office/drawing/2017/decorative" val="1"/>
              </a:ext>
            </a:extLst>
          </p:cNvPr>
          <p:cNvGrpSpPr/>
          <p:nvPr/>
        </p:nvGrpSpPr>
        <p:grpSpPr>
          <a:xfrm>
            <a:off x="1559752" y="3436580"/>
            <a:ext cx="5180102" cy="2002051"/>
            <a:chOff x="1559752" y="3436580"/>
            <a:chExt cx="5180102" cy="2002051"/>
          </a:xfrm>
        </p:grpSpPr>
        <p:sp>
          <p:nvSpPr>
            <p:cNvPr id="23" name="Rounded Rectangle 22">
              <a:extLst>
                <a:ext uri="{FF2B5EF4-FFF2-40B4-BE49-F238E27FC236}">
                  <a16:creationId xmlns:a16="http://schemas.microsoft.com/office/drawing/2014/main" id="{840EA521-4018-87DC-C3DF-0C9E30389B84}"/>
                </a:ext>
              </a:extLst>
            </p:cNvPr>
            <p:cNvSpPr/>
            <p:nvPr/>
          </p:nvSpPr>
          <p:spPr bwMode="auto">
            <a:xfrm>
              <a:off x="1559754" y="3436580"/>
              <a:ext cx="5135480" cy="2002051"/>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5" name="TextBox 24">
              <a:extLst>
                <a:ext uri="{FF2B5EF4-FFF2-40B4-BE49-F238E27FC236}">
                  <a16:creationId xmlns:a16="http://schemas.microsoft.com/office/drawing/2014/main" id="{36A0C4ED-B189-E787-CC38-434E885E3B1B}"/>
                </a:ext>
              </a:extLst>
            </p:cNvPr>
            <p:cNvSpPr txBox="1"/>
            <p:nvPr/>
          </p:nvSpPr>
          <p:spPr>
            <a:xfrm>
              <a:off x="1559752" y="3470488"/>
              <a:ext cx="5180102" cy="1938992"/>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.chat.completions.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"Phi-4-multimodal-instruct"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messages</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"system"</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"You are a chef."</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"user"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"What can I make?"</a:t>
              </a:r>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a:t>
              </a:r>
              <a:endParaRPr lang="en-US" sz="1200" dirty="0"/>
            </a:p>
          </p:txBody>
        </p:sp>
      </p:grpSp>
      <p:sp>
        <p:nvSpPr>
          <p:cNvPr id="31" name="Rounded Rectangle 30">
            <a:extLst>
              <a:ext uri="{FF2B5EF4-FFF2-40B4-BE49-F238E27FC236}">
                <a16:creationId xmlns:a16="http://schemas.microsoft.com/office/drawing/2014/main" id="{28C62CF6-746F-F983-17CD-2D7D84C5D60A}"/>
              </a:ext>
              <a:ext uri="{C183D7F6-B498-43B3-948B-1728B52AA6E4}">
                <adec:decorative xmlns:adec="http://schemas.microsoft.com/office/drawing/2017/decorative" val="1"/>
              </a:ext>
            </a:extLst>
          </p:cNvPr>
          <p:cNvSpPr/>
          <p:nvPr/>
        </p:nvSpPr>
        <p:spPr bwMode="auto">
          <a:xfrm>
            <a:off x="1559752"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6" name="TextBox 35">
            <a:extLst>
              <a:ext uri="{FF2B5EF4-FFF2-40B4-BE49-F238E27FC236}">
                <a16:creationId xmlns:a16="http://schemas.microsoft.com/office/drawing/2014/main" id="{97541D7F-3668-58C3-79AC-04D51A59DDDC}"/>
              </a:ext>
            </a:extLst>
          </p:cNvPr>
          <p:cNvSpPr txBox="1"/>
          <p:nvPr/>
        </p:nvSpPr>
        <p:spPr>
          <a:xfrm>
            <a:off x="1559752" y="5582991"/>
            <a:ext cx="5086415" cy="276999"/>
          </a:xfrm>
          <a:prstGeom prst="rect">
            <a:avLst/>
          </a:prstGeom>
          <a:noFill/>
        </p:spPr>
        <p:txBody>
          <a:bodyPr wrap="square">
            <a:spAutoFit/>
          </a:bodyPr>
          <a:lstStyle/>
          <a:p>
            <a:pPr algn="l">
              <a:buNone/>
            </a:pPr>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.choices</a:t>
            </a:r>
            <a:r>
              <a:rPr lang="en-US" sz="1200" b="0" i="0" dirty="0">
                <a:solidFill>
                  <a:srgbClr val="ABB2BF"/>
                </a:solidFill>
                <a:effectLst/>
                <a:latin typeface="Consolas" panose="020B0609020204030204" pitchFamily="49" charset="0"/>
              </a:rPr>
              <a:t>[</a:t>
            </a:r>
            <a:r>
              <a:rPr lang="en-US" sz="1200" b="0" i="0" dirty="0">
                <a:solidFill>
                  <a:srgbClr val="B5CEA8"/>
                </a:solidFill>
                <a:effectLst/>
                <a:latin typeface="Consolas" panose="020B0609020204030204" pitchFamily="49" charset="0"/>
              </a:rPr>
              <a:t>0</a:t>
            </a:r>
            <a:r>
              <a:rPr lang="en-US" sz="1200" b="0" i="0" dirty="0">
                <a:solidFill>
                  <a:srgbClr val="ABB2BF"/>
                </a:solidFill>
                <a:effectLst/>
                <a:latin typeface="Consolas" panose="020B0609020204030204" pitchFamily="49" charset="0"/>
              </a:rPr>
              <a:t>].</a:t>
            </a:r>
            <a:r>
              <a:rPr lang="en-US" sz="1200" b="0" i="0" dirty="0" err="1">
                <a:solidFill>
                  <a:srgbClr val="ABB2BF"/>
                </a:solidFill>
                <a:effectLst/>
                <a:latin typeface="Consolas" panose="020B0609020204030204" pitchFamily="49" charset="0"/>
              </a:rPr>
              <a:t>message.content</a:t>
            </a:r>
            <a:r>
              <a:rPr lang="en-US" sz="1200" b="0" i="0" dirty="0">
                <a:solidFill>
                  <a:srgbClr val="ABB2BF"/>
                </a:solidFill>
                <a:effectLst/>
                <a:latin typeface="Consolas" panose="020B0609020204030204" pitchFamily="49" charset="0"/>
              </a:rPr>
              <a:t>)</a:t>
            </a:r>
          </a:p>
        </p:txBody>
      </p:sp>
      <p:sp>
        <p:nvSpPr>
          <p:cNvPr id="5" name="Rounded Rectangle 4">
            <a:extLst>
              <a:ext uri="{FF2B5EF4-FFF2-40B4-BE49-F238E27FC236}">
                <a16:creationId xmlns:a16="http://schemas.microsoft.com/office/drawing/2014/main" id="{70267658-6C6B-1932-01AC-3B78D059CDBC}"/>
              </a:ext>
              <a:ext uri="{C183D7F6-B498-43B3-948B-1728B52AA6E4}">
                <adec:decorative xmlns:adec="http://schemas.microsoft.com/office/drawing/2017/decorative" val="1"/>
              </a:ext>
            </a:extLst>
          </p:cNvPr>
          <p:cNvSpPr/>
          <p:nvPr/>
        </p:nvSpPr>
        <p:spPr bwMode="auto">
          <a:xfrm>
            <a:off x="6739855" y="1202600"/>
            <a:ext cx="5135480" cy="521208"/>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1" name="Group 50">
            <a:extLst>
              <a:ext uri="{FF2B5EF4-FFF2-40B4-BE49-F238E27FC236}">
                <a16:creationId xmlns:a16="http://schemas.microsoft.com/office/drawing/2014/main" id="{516F72CF-7CE4-F27A-C1B8-AFE0870ADB32}"/>
              </a:ext>
              <a:ext uri="{C183D7F6-B498-43B3-948B-1728B52AA6E4}">
                <adec:decorative xmlns:adec="http://schemas.microsoft.com/office/drawing/2017/decorative" val="1"/>
              </a:ext>
            </a:extLst>
          </p:cNvPr>
          <p:cNvGrpSpPr>
            <a:grpSpLocks noChangeAspect="1"/>
          </p:cNvGrpSpPr>
          <p:nvPr/>
        </p:nvGrpSpPr>
        <p:grpSpPr>
          <a:xfrm>
            <a:off x="6824877" y="1280324"/>
            <a:ext cx="365760" cy="365760"/>
            <a:chOff x="6743621" y="1490636"/>
            <a:chExt cx="457200" cy="457200"/>
          </a:xfrm>
        </p:grpSpPr>
        <p:sp>
          <p:nvSpPr>
            <p:cNvPr id="10" name="Oval 9">
              <a:extLst>
                <a:ext uri="{FF2B5EF4-FFF2-40B4-BE49-F238E27FC236}">
                  <a16:creationId xmlns:a16="http://schemas.microsoft.com/office/drawing/2014/main" id="{B754FBEB-2638-2077-FEA1-41BF8BD03DDF}"/>
                </a:ext>
              </a:extLst>
            </p:cNvPr>
            <p:cNvSpPr>
              <a:spLocks noChangeAspect="1"/>
            </p:cNvSpPr>
            <p:nvPr/>
          </p:nvSpPr>
          <p:spPr bwMode="auto">
            <a:xfrm>
              <a:off x="6743621" y="1490636"/>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solidFill>
                  <a:schemeClr val="accent1"/>
                </a:solidFill>
                <a:ea typeface="Segoe UI" pitchFamily="34" charset="0"/>
                <a:cs typeface="Segoe UI" pitchFamily="34" charset="0"/>
              </a:endParaRPr>
            </a:p>
          </p:txBody>
        </p:sp>
        <p:pic>
          <p:nvPicPr>
            <p:cNvPr id="12" name="Graphic 11" descr="Lightning bolt with solid fill">
              <a:extLst>
                <a:ext uri="{FF2B5EF4-FFF2-40B4-BE49-F238E27FC236}">
                  <a16:creationId xmlns:a16="http://schemas.microsoft.com/office/drawing/2014/main" id="{21A8BEA7-F169-08DB-DFCF-02647215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4690" y="1558802"/>
              <a:ext cx="365760" cy="365760"/>
            </a:xfrm>
            <a:prstGeom prst="rect">
              <a:avLst/>
            </a:prstGeom>
          </p:spPr>
        </p:pic>
      </p:grpSp>
      <p:sp>
        <p:nvSpPr>
          <p:cNvPr id="11" name="TextBox 10">
            <a:extLst>
              <a:ext uri="{FF2B5EF4-FFF2-40B4-BE49-F238E27FC236}">
                <a16:creationId xmlns:a16="http://schemas.microsoft.com/office/drawing/2014/main" id="{B855690E-939D-048F-E794-2819458B8594}"/>
              </a:ext>
            </a:extLst>
          </p:cNvPr>
          <p:cNvSpPr txBox="1"/>
          <p:nvPr/>
        </p:nvSpPr>
        <p:spPr>
          <a:xfrm>
            <a:off x="7251257" y="1324705"/>
            <a:ext cx="1516762" cy="276999"/>
          </a:xfrm>
          <a:prstGeom prst="rect">
            <a:avLst/>
          </a:prstGeom>
          <a:noFill/>
        </p:spPr>
        <p:txBody>
          <a:bodyPr wrap="none" lIns="0" tIns="0" rIns="0" bIns="0" rtlCol="0">
            <a:spAutoFit/>
          </a:bodyPr>
          <a:lstStyle/>
          <a:p>
            <a:pPr algn="l"/>
            <a:r>
              <a:rPr lang="en-US" sz="1800" dirty="0">
                <a:solidFill>
                  <a:schemeClr val="accent1"/>
                </a:solidFill>
                <a:latin typeface="+mj-lt"/>
              </a:rPr>
              <a:t>Responses API</a:t>
            </a:r>
          </a:p>
        </p:txBody>
      </p:sp>
      <p:sp>
        <p:nvSpPr>
          <p:cNvPr id="18" name="Rounded Rectangle 17">
            <a:extLst>
              <a:ext uri="{FF2B5EF4-FFF2-40B4-BE49-F238E27FC236}">
                <a16:creationId xmlns:a16="http://schemas.microsoft.com/office/drawing/2014/main" id="{9A890327-94D9-D1BB-A7EC-6F92135F61B3}"/>
              </a:ext>
              <a:ext uri="{C183D7F6-B498-43B3-948B-1728B52AA6E4}">
                <adec:decorative xmlns:adec="http://schemas.microsoft.com/office/drawing/2017/decorative" val="1"/>
              </a:ext>
            </a:extLst>
          </p:cNvPr>
          <p:cNvSpPr/>
          <p:nvPr/>
        </p:nvSpPr>
        <p:spPr bwMode="auto">
          <a:xfrm>
            <a:off x="6739858" y="1774368"/>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9" name="TextBox 18">
            <a:extLst>
              <a:ext uri="{FF2B5EF4-FFF2-40B4-BE49-F238E27FC236}">
                <a16:creationId xmlns:a16="http://schemas.microsoft.com/office/drawing/2014/main" id="{35E4A7E4-5D2A-781E-E697-88B01A9DBDD9}"/>
              </a:ext>
            </a:extLst>
          </p:cNvPr>
          <p:cNvSpPr txBox="1"/>
          <p:nvPr/>
        </p:nvSpPr>
        <p:spPr>
          <a:xfrm>
            <a:off x="6741427" y="1805416"/>
            <a:ext cx="4906382" cy="1015663"/>
          </a:xfrm>
          <a:prstGeom prst="rect">
            <a:avLst/>
          </a:prstGeom>
          <a:noFill/>
        </p:spPr>
        <p:txBody>
          <a:bodyPr wrap="square">
            <a:spAutoFit/>
          </a:bodyPr>
          <a:lstStyle/>
          <a:p>
            <a:pPr algn="l">
              <a:buNone/>
            </a:pP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 </a:t>
            </a:r>
            <a:r>
              <a:rPr lang="en-US" sz="1200" b="0" i="0" dirty="0">
                <a:solidFill>
                  <a:srgbClr val="DCDCAA"/>
                </a:solidFill>
                <a:effectLst/>
                <a:latin typeface="Consolas" panose="020B0609020204030204" pitchFamily="49" charset="0"/>
              </a:rPr>
              <a:t>Path</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fruit.jpeg</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pPr algn="l">
              <a:buNone/>
            </a:pPr>
            <a:r>
              <a:rPr lang="en-US" sz="1200" b="0" i="0" dirty="0" err="1">
                <a:solidFill>
                  <a:srgbClr val="9CDCFE"/>
                </a:solidFill>
                <a:effectLst/>
                <a:latin typeface="Consolas" panose="020B0609020204030204" pitchFamily="49" charset="0"/>
              </a:rPr>
              <a:t>image_format</a:t>
            </a:r>
            <a:r>
              <a:rPr lang="en-US" sz="1200" b="0" i="0" dirty="0">
                <a:solidFill>
                  <a:srgbClr val="ABB2BF"/>
                </a:solidFill>
                <a:effectLst/>
                <a:latin typeface="Consolas" panose="020B0609020204030204" pitchFamily="49" charset="0"/>
              </a:rPr>
              <a:t> = </a:t>
            </a:r>
            <a:r>
              <a:rPr lang="en-US" sz="1200" b="0" i="0" dirty="0">
                <a:solidFill>
                  <a:srgbClr val="CE9178"/>
                </a:solidFill>
                <a:effectLst/>
                <a:latin typeface="Consolas" panose="020B0609020204030204" pitchFamily="49" charset="0"/>
              </a:rPr>
              <a:t>"jpeg”</a:t>
            </a:r>
          </a:p>
          <a:p>
            <a:pPr algn="l">
              <a:buNone/>
            </a:pPr>
            <a:r>
              <a:rPr lang="en-US" sz="1200" b="0" i="0" dirty="0">
                <a:solidFill>
                  <a:srgbClr val="5295CD"/>
                </a:solidFill>
                <a:effectLst/>
                <a:latin typeface="Consolas" panose="020B0609020204030204" pitchFamily="49" charset="0"/>
              </a:rPr>
              <a:t>with</a:t>
            </a:r>
            <a:r>
              <a:rPr lang="en-US" sz="1200" b="0" i="0" dirty="0">
                <a:solidFill>
                  <a:srgbClr val="ABB2BF"/>
                </a:solidFill>
                <a:effectLst/>
                <a:latin typeface="Consolas" panose="020B0609020204030204" pitchFamily="49" charset="0"/>
              </a:rPr>
              <a:t> </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569CD6"/>
                </a:solidFill>
                <a:effectLst/>
                <a:latin typeface="Consolas" panose="020B0609020204030204" pitchFamily="49" charset="0"/>
              </a:rPr>
              <a:t>as</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image_data</a:t>
            </a:r>
            <a:r>
              <a:rPr lang="en-US" sz="1200" b="0" i="0" dirty="0">
                <a:solidFill>
                  <a:srgbClr val="ABB2BF"/>
                </a:solidFill>
                <a:effectLst/>
                <a:latin typeface="Consolas" panose="020B0609020204030204" pitchFamily="49" charset="0"/>
              </a:rPr>
              <a:t> = base64.</a:t>
            </a:r>
            <a:r>
              <a:rPr lang="en-US" sz="1200" b="0" i="0" dirty="0">
                <a:solidFill>
                  <a:srgbClr val="DCDCAA"/>
                </a:solidFill>
                <a:effectLst/>
                <a:latin typeface="Consolas" panose="020B0609020204030204" pitchFamily="49" charset="0"/>
              </a:rPr>
              <a:t>b64encode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read</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decode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"utf-8"</a:t>
            </a:r>
            <a:r>
              <a:rPr lang="en-US" sz="1200" b="0" i="0" dirty="0">
                <a:solidFill>
                  <a:srgbClr val="ABB2BF"/>
                </a:solidFill>
                <a:effectLst/>
                <a:latin typeface="Consolas" panose="020B0609020204030204" pitchFamily="49" charset="0"/>
              </a:rPr>
              <a:t>)</a:t>
            </a:r>
          </a:p>
        </p:txBody>
      </p:sp>
      <p:sp>
        <p:nvSpPr>
          <p:cNvPr id="21" name="Rounded Rectangle 20">
            <a:extLst>
              <a:ext uri="{FF2B5EF4-FFF2-40B4-BE49-F238E27FC236}">
                <a16:creationId xmlns:a16="http://schemas.microsoft.com/office/drawing/2014/main" id="{A19E0ED1-77CF-8DB6-C5F1-0C0940BCD614}"/>
              </a:ext>
              <a:ext uri="{C183D7F6-B498-43B3-948B-1728B52AA6E4}">
                <adec:decorative xmlns:adec="http://schemas.microsoft.com/office/drawing/2017/decorative" val="1"/>
              </a:ext>
            </a:extLst>
          </p:cNvPr>
          <p:cNvSpPr/>
          <p:nvPr/>
        </p:nvSpPr>
        <p:spPr bwMode="auto">
          <a:xfrm>
            <a:off x="6739856" y="2907653"/>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2" name="TextBox 21">
            <a:extLst>
              <a:ext uri="{FF2B5EF4-FFF2-40B4-BE49-F238E27FC236}">
                <a16:creationId xmlns:a16="http://schemas.microsoft.com/office/drawing/2014/main" id="{4B11E2D3-3A26-E9ED-6BE6-1E85E38FF3B9}"/>
              </a:ext>
            </a:extLst>
          </p:cNvPr>
          <p:cNvSpPr txBox="1"/>
          <p:nvPr/>
        </p:nvSpPr>
        <p:spPr>
          <a:xfrm>
            <a:off x="6739856" y="3003372"/>
            <a:ext cx="5253972" cy="276999"/>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 = </a:t>
            </a:r>
            <a:r>
              <a:rPr lang="en-US" sz="1200" b="0" i="0" dirty="0" err="1">
                <a:solidFill>
                  <a:srgbClr val="DCDCAA"/>
                </a:solidFill>
                <a:effectLst/>
                <a:latin typeface="Consolas" panose="020B0609020204030204" pitchFamily="49" charset="0"/>
              </a:rPr>
              <a:t>f</a:t>
            </a:r>
            <a:r>
              <a:rPr lang="en-US" sz="1200" b="0" i="0" dirty="0" err="1">
                <a:solidFill>
                  <a:srgbClr val="CE9178"/>
                </a:solidFill>
                <a:effectLst/>
                <a:latin typeface="Consolas" panose="020B0609020204030204" pitchFamily="49" charset="0"/>
              </a:rPr>
              <a:t>"data:image</a:t>
            </a:r>
            <a:r>
              <a:rPr lang="en-US" sz="1200" b="0" i="0" dirty="0">
                <a:solidFill>
                  <a:srgbClr val="CE9178"/>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image_format</a:t>
            </a:r>
            <a:r>
              <a:rPr lang="en-US" sz="1200" b="0" i="0" dirty="0">
                <a:solidFill>
                  <a:srgbClr val="CE9178"/>
                </a:solidFill>
                <a:effectLst/>
                <a:latin typeface="Consolas" panose="020B0609020204030204" pitchFamily="49" charset="0"/>
              </a:rPr>
              <a:t>};base64,{</a:t>
            </a:r>
            <a:r>
              <a:rPr lang="en-US" sz="1200" b="0" i="0" dirty="0" err="1">
                <a:solidFill>
                  <a:srgbClr val="9CDCFE"/>
                </a:solidFill>
                <a:effectLst/>
                <a:latin typeface="Consolas" panose="020B0609020204030204" pitchFamily="49" charset="0"/>
              </a:rPr>
              <a:t>image_data</a:t>
            </a:r>
            <a:r>
              <a:rPr lang="en-US" sz="1200" b="0" i="0" dirty="0">
                <a:solidFill>
                  <a:srgbClr val="CE9178"/>
                </a:solidFill>
                <a:effectLst/>
                <a:latin typeface="Consolas" panose="020B0609020204030204" pitchFamily="49" charset="0"/>
              </a:rPr>
              <a:t>}"</a:t>
            </a:r>
            <a:endParaRPr lang="en-US" sz="1200" dirty="0"/>
          </a:p>
        </p:txBody>
      </p:sp>
      <p:sp>
        <p:nvSpPr>
          <p:cNvPr id="26" name="Rounded Rectangle 25">
            <a:extLst>
              <a:ext uri="{FF2B5EF4-FFF2-40B4-BE49-F238E27FC236}">
                <a16:creationId xmlns:a16="http://schemas.microsoft.com/office/drawing/2014/main" id="{65335565-72E7-3262-D9FA-FBAF3272E110}"/>
              </a:ext>
              <a:ext uri="{C183D7F6-B498-43B3-948B-1728B52AA6E4}">
                <adec:decorative xmlns:adec="http://schemas.microsoft.com/office/drawing/2017/decorative" val="1"/>
              </a:ext>
            </a:extLst>
          </p:cNvPr>
          <p:cNvSpPr/>
          <p:nvPr/>
        </p:nvSpPr>
        <p:spPr bwMode="auto">
          <a:xfrm>
            <a:off x="6739856" y="3430570"/>
            <a:ext cx="5135480" cy="1815278"/>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0" name="TextBox 29">
            <a:extLst>
              <a:ext uri="{FF2B5EF4-FFF2-40B4-BE49-F238E27FC236}">
                <a16:creationId xmlns:a16="http://schemas.microsoft.com/office/drawing/2014/main" id="{89FF1AA7-C9E7-9C07-1063-8608C98CAC0A}"/>
              </a:ext>
            </a:extLst>
          </p:cNvPr>
          <p:cNvSpPr txBox="1"/>
          <p:nvPr/>
        </p:nvSpPr>
        <p:spPr>
          <a:xfrm>
            <a:off x="6739856" y="3444644"/>
            <a:ext cx="6094140" cy="1754326"/>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"gpt-4.1"</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"developer"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"You are a chef."</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"user"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input_text</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"What can I make?"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input_image</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a:t>
            </a:r>
            <a:endParaRPr lang="en-US" sz="1200" dirty="0"/>
          </a:p>
        </p:txBody>
      </p:sp>
      <p:sp>
        <p:nvSpPr>
          <p:cNvPr id="38" name="Rounded Rectangle 37">
            <a:extLst>
              <a:ext uri="{FF2B5EF4-FFF2-40B4-BE49-F238E27FC236}">
                <a16:creationId xmlns:a16="http://schemas.microsoft.com/office/drawing/2014/main" id="{B7ED0F02-8017-0A61-A51D-A139B43E7835}"/>
              </a:ext>
              <a:ext uri="{C183D7F6-B498-43B3-948B-1728B52AA6E4}">
                <adec:decorative xmlns:adec="http://schemas.microsoft.com/office/drawing/2017/decorative" val="1"/>
              </a:ext>
            </a:extLst>
          </p:cNvPr>
          <p:cNvSpPr/>
          <p:nvPr/>
        </p:nvSpPr>
        <p:spPr bwMode="auto">
          <a:xfrm>
            <a:off x="6739856"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0" name="TextBox 39">
            <a:extLst>
              <a:ext uri="{FF2B5EF4-FFF2-40B4-BE49-F238E27FC236}">
                <a16:creationId xmlns:a16="http://schemas.microsoft.com/office/drawing/2014/main" id="{22E75E4F-68C7-31DE-131F-F12D80C8D266}"/>
              </a:ext>
            </a:extLst>
          </p:cNvPr>
          <p:cNvSpPr txBox="1"/>
          <p:nvPr/>
        </p:nvSpPr>
        <p:spPr>
          <a:xfrm>
            <a:off x="6739856" y="5582991"/>
            <a:ext cx="5086415" cy="276999"/>
          </a:xfrm>
          <a:prstGeom prst="rect">
            <a:avLst/>
          </a:prstGeom>
          <a:noFill/>
        </p:spPr>
        <p:txBody>
          <a:bodyPr wrap="square">
            <a:spAutoFit/>
          </a:bodyPr>
          <a:lstStyle/>
          <a:p>
            <a:pPr algn="l">
              <a:buNone/>
            </a:pPr>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.output_text</a:t>
            </a:r>
            <a:r>
              <a:rPr lang="en-US" sz="1200" b="0" i="0" dirty="0">
                <a:solidFill>
                  <a:srgbClr val="ABB2BF"/>
                </a:solidFill>
                <a:effectLst/>
                <a:latin typeface="Consolas" panose="020B0609020204030204" pitchFamily="49" charset="0"/>
              </a:rPr>
              <a:t>)</a:t>
            </a:r>
          </a:p>
        </p:txBody>
      </p:sp>
    </p:spTree>
    <p:extLst>
      <p:ext uri="{BB962C8B-B14F-4D97-AF65-F5344CB8AC3E}">
        <p14:creationId xmlns:p14="http://schemas.microsoft.com/office/powerpoint/2010/main" val="9560591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Using the </a:t>
            </a:r>
            <a:r>
              <a:rPr lang="en-US" sz="3200" i="1" dirty="0"/>
              <a:t>Responses</a:t>
            </a:r>
            <a:r>
              <a:rPr lang="en-US" sz="3200" dirty="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Path("dragon-fruit.jpeg")</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"jpeg"</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rb</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base64.b64encode(</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image_file.read</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()).decode("utf-8")</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f"data:image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};base64,{</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"developer", "content": "You are an AI assistant for chefs planning recipes."},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"user", "content":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"text": "What desserts could I make with this?"},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3860800" y="5256959"/>
            <a:ext cx="8171543" cy="1169551"/>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 dragon fruit. Here are some recipes you can try:</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1. Dragon Fruit Sorbet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Blend dragon fruit pulp with lime juice and a bit of sugar; then freeze.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Dragon Fruit Parfait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Layer Greek yogurt, dragon fruit chunks, granola, and a drizzle of honey.</a:t>
            </a:r>
          </a:p>
        </p:txBody>
      </p:sp>
    </p:spTree>
    <p:extLst>
      <p:ext uri="{BB962C8B-B14F-4D97-AF65-F5344CB8AC3E}">
        <p14:creationId xmlns:p14="http://schemas.microsoft.com/office/powerpoint/2010/main" val="1112320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Using the </a:t>
            </a:r>
            <a:r>
              <a:rPr lang="en-US" sz="3200" i="1" dirty="0" err="1"/>
              <a:t>ChatCompletions</a:t>
            </a:r>
            <a:r>
              <a:rPr lang="en-US" sz="3200" dirty="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Path("orange.jpeg")</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"jpeg"</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rb</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base64.b64encode(</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image_file.read</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()).decode("utf-8")</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f"data:image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};base64,{</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client.chat.completions.create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model="Phi-4-multimodal-instruct",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"system", "content": "You are an AI assistant for chefs planning recipes."},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"role": "user", "content":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"text", "text": "What can I make with this fruit?"},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response.choices</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[0].</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message.content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5421086" y="5422078"/>
            <a:ext cx="6495143" cy="954107"/>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an orange. You can use it to make:</a:t>
            </a:r>
          </a:p>
          <a:p>
            <a:pPr marL="342900" indent="-342900">
              <a:buAutoNum type="arabicPeriod"/>
            </a:pP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Orange juice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Marmalade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3. Orange sorbet</a:t>
            </a:r>
          </a:p>
        </p:txBody>
      </p:sp>
    </p:spTree>
    <p:extLst>
      <p:ext uri="{BB962C8B-B14F-4D97-AF65-F5344CB8AC3E}">
        <p14:creationId xmlns:p14="http://schemas.microsoft.com/office/powerpoint/2010/main" val="298447934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Analyze text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772793"/>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Language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Detect Language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Evaluate Sentiment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Identify Key Phrases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Extract Entities </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Extract Linked Entities</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https://go.microsoft.com/fwlink/?linkid=2356343</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7728858" y="2018379"/>
            <a:ext cx="4572300" cy="3351906"/>
          </a:xfrm>
          <a:prstGeom prst="rect">
            <a:avLst/>
          </a:prstGeom>
          <a:effectLst/>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87855"/>
            <a:ext cx="8778782" cy="215444"/>
          </a:xfrm>
        </p:spPr>
        <p:txBody>
          <a:bodyPr/>
          <a:lstStyle/>
          <a:p>
            <a:r>
              <a:rPr lang="en-US" b="1" dirty="0"/>
              <a:t>Which kind of model can you use to respond to visual input?</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84046"/>
            <a:ext cx="8775098" cy="732508"/>
          </a:xfrm>
          <a:noFill/>
        </p:spPr>
        <p:txBody>
          <a:bodyPr/>
          <a:lstStyle/>
          <a:p>
            <a:r>
              <a:rPr lang="en-US" noProof="0" dirty="0"/>
              <a:t>Only OpenAI GPT models</a:t>
            </a:r>
            <a:endParaRPr lang="en-US" noProof="0" dirty="0">
              <a:solidFill>
                <a:srgbClr val="000000"/>
              </a:solidFill>
            </a:endParaRPr>
          </a:p>
          <a:p>
            <a:r>
              <a:rPr lang="en-US" noProof="0" dirty="0"/>
              <a:t>Embedding models</a:t>
            </a:r>
          </a:p>
          <a:p>
            <a:r>
              <a:rPr lang="en-US" noProof="0" dirty="0"/>
              <a:t>Multimodal models</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228456"/>
            <a:ext cx="8778782" cy="215444"/>
          </a:xfrm>
        </p:spPr>
        <p:txBody>
          <a:bodyPr/>
          <a:lstStyle/>
          <a:p>
            <a:r>
              <a:rPr lang="en-US" noProof="0" dirty="0"/>
              <a:t>How should you submit a prompt that asks a model to analyze an image?</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473042"/>
            <a:ext cx="8775098" cy="732508"/>
          </a:xfrm>
        </p:spPr>
        <p:txBody>
          <a:bodyPr/>
          <a:lstStyle/>
          <a:p>
            <a:r>
              <a:rPr lang="en-US" dirty="0"/>
              <a:t>Submit one prompt with an image-based message followed by another prompt with a text-based message</a:t>
            </a:r>
          </a:p>
          <a:p>
            <a:r>
              <a:rPr lang="en-US" dirty="0"/>
              <a:t>Submit a prompt that contains a multi-part user message, containing both text content and image content</a:t>
            </a:r>
          </a:p>
          <a:p>
            <a:r>
              <a:rPr lang="en-US" dirty="0"/>
              <a:t>Submit the image as the system message and the instruction or question as the user message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169442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322892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a:spLocks/>
          </p:cNvSpPr>
          <p:nvPr/>
        </p:nvSpPr>
        <p:spPr>
          <a:xfrm>
            <a:off x="1274628" y="373969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263133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C56E9CF9-30FF-EBAE-7A70-B76B3DF79BAE}"/>
              </a:ext>
            </a:extLst>
          </p:cNvPr>
          <p:cNvSpPr>
            <a:spLocks noGrp="1"/>
          </p:cNvSpPr>
          <p:nvPr>
            <p:ph type="body" sz="quarter" idx="20"/>
          </p:nvPr>
        </p:nvSpPr>
        <p:spPr>
          <a:xfrm>
            <a:off x="1235075" y="4585680"/>
            <a:ext cx="8778782" cy="246221"/>
          </a:xfrm>
        </p:spPr>
        <p:txBody>
          <a:bodyPr/>
          <a:lstStyle/>
          <a:p>
            <a:r>
              <a:rPr lang="en-US" sz="1600" dirty="0"/>
              <a:t>How can you include an image in a message?</a:t>
            </a:r>
          </a:p>
        </p:txBody>
      </p:sp>
      <p:sp>
        <p:nvSpPr>
          <p:cNvPr id="6" name="Text Placeholder 28">
            <a:extLst>
              <a:ext uri="{FF2B5EF4-FFF2-40B4-BE49-F238E27FC236}">
                <a16:creationId xmlns:a16="http://schemas.microsoft.com/office/drawing/2014/main" id="{A351DA40-D3B6-4D60-0383-0AA5482C2176}"/>
              </a:ext>
            </a:extLst>
          </p:cNvPr>
          <p:cNvSpPr>
            <a:spLocks noGrp="1"/>
          </p:cNvSpPr>
          <p:nvPr>
            <p:ph type="body" sz="quarter" idx="21"/>
          </p:nvPr>
        </p:nvSpPr>
        <p:spPr>
          <a:xfrm>
            <a:off x="1235075" y="4938257"/>
            <a:ext cx="8775700" cy="732508"/>
          </a:xfrm>
        </p:spPr>
        <p:txBody>
          <a:bodyPr/>
          <a:lstStyle/>
          <a:p>
            <a:r>
              <a:rPr lang="en-US" sz="1400" dirty="0"/>
              <a:t>As a URL or as binary data</a:t>
            </a:r>
          </a:p>
          <a:p>
            <a:r>
              <a:rPr lang="en-US" sz="1400" dirty="0"/>
              <a:t>Only as a URL for an online image</a:t>
            </a:r>
          </a:p>
          <a:p>
            <a:r>
              <a:rPr lang="en-US" sz="1400" dirty="0"/>
              <a:t>Only as binary data</a:t>
            </a:r>
          </a:p>
        </p:txBody>
      </p:sp>
      <p:sp>
        <p:nvSpPr>
          <p:cNvPr id="7" name="Graphic 26" descr="Checkmark">
            <a:extLst>
              <a:ext uri="{FF2B5EF4-FFF2-40B4-BE49-F238E27FC236}">
                <a16:creationId xmlns:a16="http://schemas.microsoft.com/office/drawing/2014/main" id="{C858DB19-C522-304E-9DC3-D7721DB7C04C}"/>
              </a:ext>
            </a:extLst>
          </p:cNvPr>
          <p:cNvSpPr/>
          <p:nvPr/>
        </p:nvSpPr>
        <p:spPr>
          <a:xfrm>
            <a:off x="1263852" y="4984595"/>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F8703400-7B95-52F1-EE12-C081596ABB3F}"/>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2B27-FDC3-82E1-88D9-8B498949C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33109-1251-2BDD-6EBE-AB012B8DE579}"/>
              </a:ext>
            </a:extLst>
          </p:cNvPr>
          <p:cNvSpPr>
            <a:spLocks noGrp="1"/>
          </p:cNvSpPr>
          <p:nvPr>
            <p:ph type="title"/>
          </p:nvPr>
        </p:nvSpPr>
        <p:spPr>
          <a:xfrm>
            <a:off x="569911" y="3446165"/>
            <a:ext cx="6984775" cy="553998"/>
          </a:xfrm>
        </p:spPr>
        <p:txBody>
          <a:bodyPr/>
          <a:lstStyle/>
          <a:p>
            <a:r>
              <a:rPr lang="en-US" sz="3600" dirty="0"/>
              <a:t>Generating images and video</a:t>
            </a:r>
            <a:endParaRPr lang="en-US" sz="3600" noProof="0" dirty="0"/>
          </a:p>
        </p:txBody>
      </p:sp>
      <p:sp>
        <p:nvSpPr>
          <p:cNvPr id="4" name="TextBox 3">
            <a:extLst>
              <a:ext uri="{FF2B5EF4-FFF2-40B4-BE49-F238E27FC236}">
                <a16:creationId xmlns:a16="http://schemas.microsoft.com/office/drawing/2014/main" id="{498BBD85-A39F-869A-AFA1-313B3561225E}"/>
              </a:ext>
            </a:extLst>
          </p:cNvPr>
          <p:cNvSpPr txBox="1"/>
          <p:nvPr/>
        </p:nvSpPr>
        <p:spPr>
          <a:xfrm>
            <a:off x="478471" y="4000163"/>
            <a:ext cx="5879298" cy="635559"/>
          </a:xfrm>
          <a:prstGeom prst="rect">
            <a:avLst/>
          </a:prstGeom>
          <a:noFill/>
        </p:spPr>
        <p:txBody>
          <a:bodyPr wrap="square">
            <a:spAutoFit/>
          </a:bodyPr>
          <a:lstStyle/>
          <a:p>
            <a:r>
              <a:rPr lang="en-US" dirty="0">
                <a:solidFill>
                  <a:schemeClr val="accent2"/>
                </a:solidFill>
              </a:rPr>
              <a:t>https://aka.ms/mslearn-generate-images</a:t>
            </a:r>
          </a:p>
          <a:p>
            <a:r>
              <a:rPr lang="en-US" dirty="0">
                <a:solidFill>
                  <a:schemeClr val="accent2"/>
                </a:solidFill>
              </a:rPr>
              <a:t>https://aka.ms/mslearn-generate-video</a:t>
            </a:r>
          </a:p>
        </p:txBody>
      </p:sp>
    </p:spTree>
    <p:extLst>
      <p:ext uri="{BB962C8B-B14F-4D97-AF65-F5344CB8AC3E}">
        <p14:creationId xmlns:p14="http://schemas.microsoft.com/office/powerpoint/2010/main" val="387221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492443"/>
          </a:xfrm>
        </p:spPr>
        <p:txBody>
          <a:bodyPr/>
          <a:lstStyle/>
          <a:p>
            <a:r>
              <a:rPr lang="en-US" sz="3200" dirty="0"/>
              <a:t>Using an image-generation model</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5" name="Picture 4" descr="Screenshot of Microsoft Foundry image generation playground showing a generated image depicting a robot eating spaghetti.">
            <a:extLst>
              <a:ext uri="{FF2B5EF4-FFF2-40B4-BE49-F238E27FC236}">
                <a16:creationId xmlns:a16="http://schemas.microsoft.com/office/drawing/2014/main" id="{6CA1EBE5-2649-7376-0799-2E7CEB67474E}"/>
              </a:ext>
            </a:extLst>
          </p:cNvPr>
          <p:cNvPicPr>
            <a:picLocks noChangeAspect="1"/>
          </p:cNvPicPr>
          <p:nvPr/>
        </p:nvPicPr>
        <p:blipFill>
          <a:blip r:embed="rId3"/>
          <a:srcRect/>
          <a:stretch/>
        </p:blipFill>
        <p:spPr>
          <a:xfrm>
            <a:off x="6391738" y="3240122"/>
            <a:ext cx="4652473" cy="3409446"/>
          </a:xfrm>
          <a:prstGeom prst="rect">
            <a:avLst/>
          </a:prstGeom>
        </p:spPr>
      </p:pic>
      <p:grpSp>
        <p:nvGrpSpPr>
          <p:cNvPr id="12" name="Group 11" descr="Diagram showing the flow of using an image generation model in Foundry">
            <a:extLst>
              <a:ext uri="{FF2B5EF4-FFF2-40B4-BE49-F238E27FC236}">
                <a16:creationId xmlns:a16="http://schemas.microsoft.com/office/drawing/2014/main" id="{7BA23228-BEAC-5138-4D6D-AF7340353232}"/>
              </a:ext>
            </a:extLst>
          </p:cNvPr>
          <p:cNvGrpSpPr/>
          <p:nvPr/>
        </p:nvGrpSpPr>
        <p:grpSpPr>
          <a:xfrm>
            <a:off x="693864" y="3008057"/>
            <a:ext cx="4858052" cy="3169669"/>
            <a:chOff x="2314576" y="1622144"/>
            <a:chExt cx="5530849" cy="3381832"/>
          </a:xfrm>
        </p:grpSpPr>
        <p:grpSp>
          <p:nvGrpSpPr>
            <p:cNvPr id="2" name="Group 1">
              <a:extLst>
                <a:ext uri="{FF2B5EF4-FFF2-40B4-BE49-F238E27FC236}">
                  <a16:creationId xmlns:a16="http://schemas.microsoft.com/office/drawing/2014/main" id="{A5CE6D1E-80B9-8D8A-45A3-F0E274D4AB75}"/>
                </a:ext>
                <a:ext uri="{C183D7F6-B498-43B3-948B-1728B52AA6E4}">
                  <adec:decorative xmlns:adec="http://schemas.microsoft.com/office/drawing/2017/decorative" val="1"/>
                </a:ext>
              </a:extLst>
            </p:cNvPr>
            <p:cNvGrpSpPr/>
            <p:nvPr/>
          </p:nvGrpSpPr>
          <p:grpSpPr>
            <a:xfrm>
              <a:off x="2314576" y="1622144"/>
              <a:ext cx="5530849" cy="3381832"/>
              <a:chOff x="907525" y="965832"/>
              <a:chExt cx="5073887" cy="3367227"/>
            </a:xfrm>
          </p:grpSpPr>
          <p:pic>
            <p:nvPicPr>
              <p:cNvPr id="3" name="Graphic 2" descr="Cube with solid fill">
                <a:extLst>
                  <a:ext uri="{FF2B5EF4-FFF2-40B4-BE49-F238E27FC236}">
                    <a16:creationId xmlns:a16="http://schemas.microsoft.com/office/drawing/2014/main" id="{338E00CB-55E7-BF51-B828-49B806A4A0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5647" y="992161"/>
                <a:ext cx="1325765" cy="1325765"/>
              </a:xfrm>
              <a:prstGeom prst="rect">
                <a:avLst/>
              </a:prstGeom>
            </p:spPr>
          </p:pic>
          <p:grpSp>
            <p:nvGrpSpPr>
              <p:cNvPr id="6" name="Group 5">
                <a:extLst>
                  <a:ext uri="{FF2B5EF4-FFF2-40B4-BE49-F238E27FC236}">
                    <a16:creationId xmlns:a16="http://schemas.microsoft.com/office/drawing/2014/main" id="{1F2AAA80-B107-CB99-CFE9-6396D65B5A76}"/>
                  </a:ext>
                </a:extLst>
              </p:cNvPr>
              <p:cNvGrpSpPr/>
              <p:nvPr/>
            </p:nvGrpSpPr>
            <p:grpSpPr>
              <a:xfrm>
                <a:off x="907525" y="965832"/>
                <a:ext cx="3047668" cy="1572893"/>
                <a:chOff x="907525" y="965832"/>
                <a:chExt cx="3047668" cy="1572893"/>
              </a:xfrm>
            </p:grpSpPr>
            <p:pic>
              <p:nvPicPr>
                <p:cNvPr id="9" name="Graphic 8" descr="Speech outline">
                  <a:extLst>
                    <a:ext uri="{FF2B5EF4-FFF2-40B4-BE49-F238E27FC236}">
                      <a16:creationId xmlns:a16="http://schemas.microsoft.com/office/drawing/2014/main" id="{8ADA9D7D-9334-ECC6-B804-D98A92B96C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907525" y="965832"/>
                  <a:ext cx="3047668" cy="1572893"/>
                </a:xfrm>
                <a:prstGeom prst="rect">
                  <a:avLst/>
                </a:prstGeom>
              </p:spPr>
            </p:pic>
            <p:sp>
              <p:nvSpPr>
                <p:cNvPr id="10" name="TextBox 9">
                  <a:extLst>
                    <a:ext uri="{FF2B5EF4-FFF2-40B4-BE49-F238E27FC236}">
                      <a16:creationId xmlns:a16="http://schemas.microsoft.com/office/drawing/2014/main" id="{EB7F6447-E8BE-4A15-02BD-58C9E315BD74}"/>
                    </a:ext>
                  </a:extLst>
                </p:cNvPr>
                <p:cNvSpPr txBox="1"/>
                <p:nvPr/>
              </p:nvSpPr>
              <p:spPr>
                <a:xfrm>
                  <a:off x="1381617" y="1366263"/>
                  <a:ext cx="2088681" cy="49044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200" b="0" i="0" u="none" strike="noStrike" kern="0" cap="none" spc="0" normalizeH="0" baseline="0" noProof="0" dirty="0">
                      <a:ln>
                        <a:noFill/>
                      </a:ln>
                      <a:solidFill>
                        <a:prstClr val="black"/>
                      </a:solidFill>
                      <a:effectLst/>
                      <a:uLnTx/>
                      <a:uFillTx/>
                      <a:latin typeface="Aptos" panose="02110004020202020204"/>
                    </a:rPr>
                    <a:t>Create an image of a squirrel on a skateboard</a:t>
                  </a:r>
                  <a:endParaRPr kumimoji="0" lang="en-US" sz="1200" b="0" i="0" u="none" strike="noStrike" kern="0" cap="none" spc="0" normalizeH="0" baseline="0" noProof="0" dirty="0">
                    <a:ln>
                      <a:noFill/>
                    </a:ln>
                    <a:solidFill>
                      <a:prstClr val="black"/>
                    </a:solidFill>
                    <a:effectLst/>
                    <a:uLnTx/>
                    <a:uFillTx/>
                    <a:latin typeface="Aptos" panose="02110004020202020204"/>
                  </a:endParaRPr>
                </a:p>
              </p:txBody>
            </p:sp>
          </p:grpSp>
          <p:pic>
            <p:nvPicPr>
              <p:cNvPr id="7" name="Graphic 6" descr="Speech outline">
                <a:extLst>
                  <a:ext uri="{FF2B5EF4-FFF2-40B4-BE49-F238E27FC236}">
                    <a16:creationId xmlns:a16="http://schemas.microsoft.com/office/drawing/2014/main" id="{9AE88497-7B5E-1CCF-6D2D-D66106FCBA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V="1">
                <a:off x="3133201" y="1713613"/>
                <a:ext cx="2619446" cy="2619446"/>
              </a:xfrm>
              <a:prstGeom prst="rect">
                <a:avLst/>
              </a:prstGeom>
            </p:spPr>
          </p:pic>
          <p:sp>
            <p:nvSpPr>
              <p:cNvPr id="8" name="Arrow: Right 7">
                <a:extLst>
                  <a:ext uri="{FF2B5EF4-FFF2-40B4-BE49-F238E27FC236}">
                    <a16:creationId xmlns:a16="http://schemas.microsoft.com/office/drawing/2014/main" id="{971C4BDE-CB4D-5602-1738-96A6376A64B0}"/>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pic>
          <p:nvPicPr>
            <p:cNvPr id="11" name="Picture 10">
              <a:extLst>
                <a:ext uri="{FF2B5EF4-FFF2-40B4-BE49-F238E27FC236}">
                  <a16:creationId xmlns:a16="http://schemas.microsoft.com/office/drawing/2014/main" id="{79C02A6C-5294-6473-C513-4A6A7ADEB145}"/>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rcRect r="-2279" b="12582"/>
            <a:stretch>
              <a:fillRect/>
            </a:stretch>
          </p:blipFill>
          <p:spPr>
            <a:xfrm>
              <a:off x="5737056" y="3429000"/>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13" name="TextBox 12">
            <a:extLst>
              <a:ext uri="{FF2B5EF4-FFF2-40B4-BE49-F238E27FC236}">
                <a16:creationId xmlns:a16="http://schemas.microsoft.com/office/drawing/2014/main" id="{CD86800C-B72C-8FCC-5A93-F471FA028493}"/>
              </a:ext>
            </a:extLst>
          </p:cNvPr>
          <p:cNvSpPr txBox="1"/>
          <p:nvPr/>
        </p:nvSpPr>
        <p:spPr>
          <a:xfrm>
            <a:off x="6640084" y="1357809"/>
            <a:ext cx="4652473" cy="2015167"/>
          </a:xfrm>
          <a:prstGeom prst="rect">
            <a:avLst/>
          </a:prstGeom>
          <a:noFill/>
        </p:spPr>
        <p:txBody>
          <a:bodyPr wrap="square" numCol="1">
            <a:spAutoFit/>
          </a:bodyPr>
          <a:lstStyle/>
          <a:p>
            <a:r>
              <a:rPr lang="en-US" sz="1800" dirty="0"/>
              <a:t>Test the model in the playground</a:t>
            </a:r>
          </a:p>
          <a:p>
            <a:pPr marL="285750" indent="-285750">
              <a:buFont typeface="Arial" panose="020B0604020202020204" pitchFamily="34" charset="0"/>
              <a:buChar char="•"/>
            </a:pPr>
            <a:r>
              <a:rPr lang="en-US" sz="1800" dirty="0"/>
              <a:t>Select an image size</a:t>
            </a:r>
          </a:p>
          <a:p>
            <a:pPr marL="285750" indent="-285750">
              <a:buFont typeface="Arial" panose="020B0604020202020204" pitchFamily="34" charset="0"/>
              <a:buChar char="•"/>
            </a:pPr>
            <a:r>
              <a:rPr lang="en-US" sz="1800" dirty="0"/>
              <a:t>Attach a reference image</a:t>
            </a:r>
          </a:p>
          <a:p>
            <a:pPr marL="285750" indent="-285750">
              <a:buFont typeface="Arial" panose="020B0604020202020204" pitchFamily="34" charset="0"/>
              <a:buChar char="•"/>
            </a:pPr>
            <a:r>
              <a:rPr lang="en-US" sz="1800" dirty="0"/>
              <a:t>(if supported and required)</a:t>
            </a:r>
          </a:p>
          <a:p>
            <a:pPr marL="285750" indent="-285750">
              <a:buFont typeface="Arial" panose="020B0604020202020204" pitchFamily="34" charset="0"/>
              <a:buChar char="•"/>
            </a:pPr>
            <a:r>
              <a:rPr lang="en-US" sz="1800" dirty="0"/>
              <a:t>Enter a prompt describing the desired image</a:t>
            </a:r>
          </a:p>
          <a:p>
            <a:pPr marL="285750" indent="-285750" algn="l">
              <a:spcAft>
                <a:spcPts val="600"/>
              </a:spcAft>
              <a:buClr>
                <a:schemeClr val="accent1"/>
              </a:buClr>
              <a:buSzPct val="110000"/>
              <a:buFont typeface="Arial" panose="020B0604020202020204" pitchFamily="34" charset="0"/>
              <a:buChar char="•"/>
            </a:pPr>
            <a:endParaRPr lang="en-US" sz="1800" b="0" i="0" dirty="0">
              <a:effectLst/>
              <a:latin typeface="Segoe UI" panose="020B0502040204020203" pitchFamily="34" charset="0"/>
            </a:endParaRPr>
          </a:p>
        </p:txBody>
      </p:sp>
      <p:sp>
        <p:nvSpPr>
          <p:cNvPr id="14" name="TextBox 13">
            <a:extLst>
              <a:ext uri="{FF2B5EF4-FFF2-40B4-BE49-F238E27FC236}">
                <a16:creationId xmlns:a16="http://schemas.microsoft.com/office/drawing/2014/main" id="{475B2E87-36C6-6939-CAAD-6D3FC26735CC}"/>
              </a:ext>
            </a:extLst>
          </p:cNvPr>
          <p:cNvSpPr txBox="1"/>
          <p:nvPr/>
        </p:nvSpPr>
        <p:spPr>
          <a:xfrm>
            <a:off x="693864" y="1362115"/>
            <a:ext cx="4652473" cy="1200329"/>
          </a:xfrm>
          <a:prstGeom prst="rect">
            <a:avLst/>
          </a:prstGeom>
          <a:noFill/>
        </p:spPr>
        <p:txBody>
          <a:bodyPr wrap="square" numCol="1">
            <a:spAutoFit/>
          </a:bodyPr>
          <a:lstStyle/>
          <a:p>
            <a:r>
              <a:rPr lang="en-US" sz="1800" dirty="0"/>
              <a:t>Deploy an image-generation model:</a:t>
            </a:r>
          </a:p>
          <a:p>
            <a:pPr marL="285750" indent="-285750">
              <a:buFont typeface="Arial" panose="020B0604020202020204" pitchFamily="34" charset="0"/>
              <a:buChar char="•"/>
            </a:pPr>
            <a:r>
              <a:rPr lang="en-US" sz="1800" dirty="0"/>
              <a:t>GPT-Image</a:t>
            </a:r>
          </a:p>
          <a:p>
            <a:pPr marL="285750" indent="-285750">
              <a:buFont typeface="Arial" panose="020B0604020202020204" pitchFamily="34" charset="0"/>
              <a:buChar char="•"/>
            </a:pPr>
            <a:r>
              <a:rPr lang="en-US" sz="1800" dirty="0"/>
              <a:t>FLUX.1-Kontext-pro</a:t>
            </a:r>
          </a:p>
          <a:p>
            <a:pPr marL="285750" indent="-285750">
              <a:buFont typeface="Arial" panose="020B0604020202020204" pitchFamily="34" charset="0"/>
              <a:buChar char="•"/>
            </a:pPr>
            <a:r>
              <a:rPr lang="en-US" sz="1800" dirty="0"/>
              <a:t>…</a:t>
            </a:r>
            <a:endParaRPr lang="en-US" sz="1800" dirty="0">
              <a:effectLst/>
            </a:endParaRPr>
          </a:p>
        </p:txBody>
      </p:sp>
    </p:spTree>
    <p:extLst>
      <p:ext uri="{BB962C8B-B14F-4D97-AF65-F5344CB8AC3E}">
        <p14:creationId xmlns:p14="http://schemas.microsoft.com/office/powerpoint/2010/main" val="19483901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4562-0EFB-99D3-5FED-CB1648014E7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448890A0-706E-3BDC-4513-CE3593FD870B}"/>
              </a:ext>
              <a:ext uri="{C183D7F6-B498-43B3-948B-1728B52AA6E4}">
                <adec:decorative xmlns:adec="http://schemas.microsoft.com/office/drawing/2017/decorative" val="1"/>
              </a:ext>
            </a:extLst>
          </p:cNvPr>
          <p:cNvGrpSpPr/>
          <p:nvPr/>
        </p:nvGrpSpPr>
        <p:grpSpPr>
          <a:xfrm>
            <a:off x="780101" y="1328878"/>
            <a:ext cx="6828042" cy="2793977"/>
            <a:chOff x="1559755" y="3436580"/>
            <a:chExt cx="5263397" cy="2793977"/>
          </a:xfrm>
        </p:grpSpPr>
        <p:sp>
          <p:nvSpPr>
            <p:cNvPr id="5" name="Rounded Rectangle 22">
              <a:extLst>
                <a:ext uri="{FF2B5EF4-FFF2-40B4-BE49-F238E27FC236}">
                  <a16:creationId xmlns:a16="http://schemas.microsoft.com/office/drawing/2014/main" id="{189D142F-73BA-952A-A5C2-69640FC8F172}"/>
                </a:ext>
              </a:extLst>
            </p:cNvPr>
            <p:cNvSpPr/>
            <p:nvPr/>
          </p:nvSpPr>
          <p:spPr bwMode="auto">
            <a:xfrm>
              <a:off x="1559755" y="3436580"/>
              <a:ext cx="4559841"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6" name="TextBox 5">
              <a:extLst>
                <a:ext uri="{FF2B5EF4-FFF2-40B4-BE49-F238E27FC236}">
                  <a16:creationId xmlns:a16="http://schemas.microsoft.com/office/drawing/2014/main" id="{0A40E494-FFF4-EC2A-CD54-8DE1321E893A}"/>
                </a:ext>
              </a:extLst>
            </p:cNvPr>
            <p:cNvSpPr txBox="1"/>
            <p:nvPr/>
          </p:nvSpPr>
          <p:spPr>
            <a:xfrm>
              <a:off x="1643050" y="3552901"/>
              <a:ext cx="5180102" cy="2677656"/>
            </a:xfrm>
            <a:prstGeom prst="rect">
              <a:avLst/>
            </a:prstGeom>
            <a:noFill/>
          </p:spPr>
          <p:txBody>
            <a:bodyPr wrap="square">
              <a:spAutoFit/>
            </a:bodyPr>
            <a:lstStyle/>
            <a:p>
              <a:r>
                <a:rPr lang="en-US" sz="1200" dirty="0">
                  <a:solidFill>
                    <a:srgbClr val="4CBC89"/>
                  </a:solidFill>
                  <a:latin typeface="Consolas" panose="020B0609020204030204" pitchFamily="49" charset="0"/>
                </a:rPr>
                <a:t># Generate an image</a:t>
              </a:r>
            </a:p>
            <a:p>
              <a:r>
                <a:rPr lang="en-US" sz="1200" dirty="0" err="1">
                  <a:solidFill>
                    <a:srgbClr val="9CDCFE"/>
                  </a:solidFill>
                  <a:latin typeface="Consolas" panose="020B0609020204030204" pitchFamily="49" charset="0"/>
                </a:rPr>
                <a:t>img_results</a:t>
              </a:r>
              <a:r>
                <a:rPr lang="en-US" sz="1200" dirty="0">
                  <a:solidFill>
                    <a:srgbClr val="9CDCFE"/>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images</a:t>
              </a:r>
              <a:r>
                <a:rPr lang="en-US" sz="1200" dirty="0" err="1">
                  <a:solidFill>
                    <a:srgbClr val="9CDCFE"/>
                  </a:solidFill>
                  <a:latin typeface="Consolas" panose="020B0609020204030204" pitchFamily="49" charset="0"/>
                </a:rPr>
                <a:t>.</a:t>
              </a:r>
              <a:r>
                <a:rPr lang="en-US" sz="1200" dirty="0" err="1">
                  <a:solidFill>
                    <a:srgbClr val="DCDCAA"/>
                  </a:solidFill>
                  <a:latin typeface="Consolas" panose="020B0609020204030204" pitchFamily="49" charset="0"/>
                </a:rPr>
                <a:t>generate</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"FLUX.1-Kontext-pro"</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prompt</a:t>
              </a:r>
              <a:r>
                <a:rPr lang="en-US" sz="1200" dirty="0">
                  <a:solidFill>
                    <a:srgbClr val="CE9178"/>
                  </a:solidFill>
                  <a:latin typeface="Consolas" panose="020B0609020204030204" pitchFamily="49" charset="0"/>
                </a:rPr>
                <a:t>="A robot eating a cheeseburger."</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n</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1</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"1024x1024"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Save the generated image</a:t>
              </a:r>
            </a:p>
            <a:p>
              <a:r>
                <a:rPr lang="en-US" sz="1200" dirty="0" err="1">
                  <a:solidFill>
                    <a:srgbClr val="9CDCFE"/>
                  </a:solidFill>
                  <a:latin typeface="Consolas" panose="020B0609020204030204" pitchFamily="49" charset="0"/>
                </a:rPr>
                <a:t>image_data</a:t>
              </a:r>
              <a:r>
                <a:rPr lang="en-US" sz="1200" dirty="0">
                  <a:solidFill>
                    <a:srgbClr val="9CDCFE"/>
                  </a:solidFill>
                  <a:latin typeface="Consolas" panose="020B0609020204030204" pitchFamily="49" charset="0"/>
                </a:rPr>
                <a:t> = </a:t>
              </a:r>
              <a:r>
                <a:rPr lang="en-US" sz="1200" dirty="0">
                  <a:solidFill>
                    <a:srgbClr val="ABB2BF"/>
                  </a:solidFill>
                  <a:latin typeface="Consolas" panose="020B0609020204030204" pitchFamily="49" charset="0"/>
                </a:rPr>
                <a:t>base64.</a:t>
              </a:r>
              <a:r>
                <a:rPr lang="en-US" sz="1200" dirty="0">
                  <a:solidFill>
                    <a:srgbClr val="DCDCAA"/>
                  </a:solidFill>
                  <a:latin typeface="Consolas" panose="020B0609020204030204" pitchFamily="49" charset="0"/>
                </a:rPr>
                <a:t>b64decode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img_results</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data</a:t>
              </a:r>
              <a:r>
                <a:rPr lang="en-US" sz="1200" dirty="0">
                  <a:solidFill>
                    <a:srgbClr val="ABB2BF"/>
                  </a:solidFill>
                  <a:latin typeface="Consolas" panose="020B0609020204030204" pitchFamily="49" charset="0"/>
                </a:rPr>
                <a:t>[0].</a:t>
              </a:r>
              <a:r>
                <a:rPr lang="en-US" sz="1200" dirty="0">
                  <a:solidFill>
                    <a:srgbClr val="DCDCAA"/>
                  </a:solidFill>
                  <a:latin typeface="Consolas" panose="020B0609020204030204" pitchFamily="49" charset="0"/>
                </a:rPr>
                <a:t>b64_json</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5295CD"/>
                  </a:solidFill>
                  <a:latin typeface="Consolas" panose="020B0609020204030204" pitchFamily="49" charset="0"/>
                </a:rPr>
                <a:t>with</a:t>
              </a:r>
              <a:r>
                <a:rPr lang="en-US" sz="1200" dirty="0">
                  <a:solidFill>
                    <a:srgbClr val="9CDCFE"/>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"image.png"</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wb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a:solidFill>
                    <a:srgbClr val="9CDCFE"/>
                  </a:solidFill>
                  <a:latin typeface="Consolas" panose="020B0609020204030204" pitchFamily="49" charset="0"/>
                </a:rPr>
                <a:t>:</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write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image_data</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
        <p:nvSpPr>
          <p:cNvPr id="4" name="Title 3">
            <a:extLst>
              <a:ext uri="{FF2B5EF4-FFF2-40B4-BE49-F238E27FC236}">
                <a16:creationId xmlns:a16="http://schemas.microsoft.com/office/drawing/2014/main" id="{F030B244-75CA-9673-F1C3-2E3947E08408}"/>
              </a:ext>
            </a:extLst>
          </p:cNvPr>
          <p:cNvSpPr>
            <a:spLocks noGrp="1"/>
          </p:cNvSpPr>
          <p:nvPr>
            <p:ph type="title"/>
          </p:nvPr>
        </p:nvSpPr>
        <p:spPr>
          <a:xfrm>
            <a:off x="588262" y="585216"/>
            <a:ext cx="10014424" cy="984885"/>
          </a:xfrm>
        </p:spPr>
        <p:txBody>
          <a:bodyPr/>
          <a:lstStyle/>
          <a:p>
            <a:r>
              <a:rPr lang="en-US" sz="3200" dirty="0"/>
              <a:t>Generating an image with the OpenAI </a:t>
            </a:r>
            <a:r>
              <a:rPr lang="en-US" sz="3200" i="1" dirty="0"/>
              <a:t>Image</a:t>
            </a:r>
            <a:r>
              <a:rPr lang="en-US" sz="3200" dirty="0"/>
              <a:t> API</a:t>
            </a:r>
          </a:p>
        </p:txBody>
      </p:sp>
      <p:sp>
        <p:nvSpPr>
          <p:cNvPr id="35" name="Footer Placeholder 34">
            <a:extLst>
              <a:ext uri="{FF2B5EF4-FFF2-40B4-BE49-F238E27FC236}">
                <a16:creationId xmlns:a16="http://schemas.microsoft.com/office/drawing/2014/main" id="{92388852-438F-2DEA-3116-9AE2303397A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8" descr="A generated image showing a robot eating a hamburger.">
            <a:extLst>
              <a:ext uri="{FF2B5EF4-FFF2-40B4-BE49-F238E27FC236}">
                <a16:creationId xmlns:a16="http://schemas.microsoft.com/office/drawing/2014/main" id="{288F8A89-3B9E-BF43-FD79-ADDC56D47CD1}"/>
              </a:ext>
            </a:extLst>
          </p:cNvPr>
          <p:cNvPicPr>
            <a:picLocks noChangeAspect="1"/>
          </p:cNvPicPr>
          <p:nvPr/>
        </p:nvPicPr>
        <p:blipFill>
          <a:blip r:embed="rId3"/>
          <a:srcRect/>
          <a:stretch/>
        </p:blipFill>
        <p:spPr>
          <a:xfrm>
            <a:off x="6981371" y="1972927"/>
            <a:ext cx="4299857" cy="4299857"/>
          </a:xfrm>
          <a:prstGeom prst="rect">
            <a:avLst/>
          </a:prstGeom>
          <a:ln>
            <a:solidFill>
              <a:schemeClr val="accent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55039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EC2DE-9A51-FC97-12EC-A64F26049C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97220E-4E15-E71C-4A93-806C2411C2D9}"/>
              </a:ext>
            </a:extLst>
          </p:cNvPr>
          <p:cNvSpPr>
            <a:spLocks noGrp="1"/>
          </p:cNvSpPr>
          <p:nvPr>
            <p:ph type="title"/>
          </p:nvPr>
        </p:nvSpPr>
        <p:spPr>
          <a:xfrm>
            <a:off x="588262" y="585216"/>
            <a:ext cx="8193024" cy="492443"/>
          </a:xfrm>
        </p:spPr>
        <p:txBody>
          <a:bodyPr/>
          <a:lstStyle/>
          <a:p>
            <a:r>
              <a:rPr lang="en-US" sz="3200" dirty="0"/>
              <a:t>Video-generating models</a:t>
            </a:r>
          </a:p>
        </p:txBody>
      </p:sp>
      <p:sp>
        <p:nvSpPr>
          <p:cNvPr id="3" name="Footer Placeholder 2">
            <a:extLst>
              <a:ext uri="{FF2B5EF4-FFF2-40B4-BE49-F238E27FC236}">
                <a16:creationId xmlns:a16="http://schemas.microsoft.com/office/drawing/2014/main" id="{954DD07B-89C0-E91E-C2B1-A8B4728657F8}"/>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1" name="Group 20">
            <a:extLst>
              <a:ext uri="{FF2B5EF4-FFF2-40B4-BE49-F238E27FC236}">
                <a16:creationId xmlns:a16="http://schemas.microsoft.com/office/drawing/2014/main" id="{874BD97D-2039-931F-BADD-447AE9EFBBC7}"/>
              </a:ext>
              <a:ext uri="{C183D7F6-B498-43B3-948B-1728B52AA6E4}">
                <adec:decorative xmlns:adec="http://schemas.microsoft.com/office/drawing/2017/decorative" val="1"/>
              </a:ext>
            </a:extLst>
          </p:cNvPr>
          <p:cNvGrpSpPr/>
          <p:nvPr/>
        </p:nvGrpSpPr>
        <p:grpSpPr>
          <a:xfrm>
            <a:off x="6436848" y="2206262"/>
            <a:ext cx="5073887" cy="3367227"/>
            <a:chOff x="907525" y="965832"/>
            <a:chExt cx="5073887" cy="3367227"/>
          </a:xfrm>
        </p:grpSpPr>
        <p:pic>
          <p:nvPicPr>
            <p:cNvPr id="24" name="Graphic 23" descr="Cube with solid fill">
              <a:extLst>
                <a:ext uri="{FF2B5EF4-FFF2-40B4-BE49-F238E27FC236}">
                  <a16:creationId xmlns:a16="http://schemas.microsoft.com/office/drawing/2014/main" id="{B605C6EC-1DBC-690B-C18E-7AFA9B349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5647" y="992161"/>
              <a:ext cx="1325765" cy="1325765"/>
            </a:xfrm>
            <a:prstGeom prst="rect">
              <a:avLst/>
            </a:prstGeom>
          </p:spPr>
        </p:pic>
        <p:grpSp>
          <p:nvGrpSpPr>
            <p:cNvPr id="25" name="Group 24">
              <a:extLst>
                <a:ext uri="{FF2B5EF4-FFF2-40B4-BE49-F238E27FC236}">
                  <a16:creationId xmlns:a16="http://schemas.microsoft.com/office/drawing/2014/main" id="{2BEB0BD7-4DF4-A892-66CC-460C354D5F00}"/>
                </a:ext>
              </a:extLst>
            </p:cNvPr>
            <p:cNvGrpSpPr/>
            <p:nvPr/>
          </p:nvGrpSpPr>
          <p:grpSpPr>
            <a:xfrm>
              <a:off x="907525" y="965832"/>
              <a:ext cx="3047668" cy="1572893"/>
              <a:chOff x="907525" y="965832"/>
              <a:chExt cx="3047668" cy="1572893"/>
            </a:xfrm>
          </p:grpSpPr>
          <p:pic>
            <p:nvPicPr>
              <p:cNvPr id="51" name="Graphic 50" descr="Speech outline">
                <a:extLst>
                  <a:ext uri="{FF2B5EF4-FFF2-40B4-BE49-F238E27FC236}">
                    <a16:creationId xmlns:a16="http://schemas.microsoft.com/office/drawing/2014/main" id="{F5423CB9-9764-61AA-DF06-8BCDEBA5F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907525" y="965832"/>
                <a:ext cx="3047668" cy="1572893"/>
              </a:xfrm>
              <a:prstGeom prst="rect">
                <a:avLst/>
              </a:prstGeom>
            </p:spPr>
          </p:pic>
          <p:sp>
            <p:nvSpPr>
              <p:cNvPr id="55" name="TextBox 54">
                <a:extLst>
                  <a:ext uri="{FF2B5EF4-FFF2-40B4-BE49-F238E27FC236}">
                    <a16:creationId xmlns:a16="http://schemas.microsoft.com/office/drawing/2014/main" id="{7EE67114-9EE6-0815-8792-8852407B1C72}"/>
                  </a:ext>
                </a:extLst>
              </p:cNvPr>
              <p:cNvSpPr txBox="1"/>
              <p:nvPr/>
            </p:nvSpPr>
            <p:spPr>
              <a:xfrm>
                <a:off x="1381617" y="1366263"/>
                <a:ext cx="208868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400" b="0" i="0" u="none" strike="noStrike" kern="0" cap="none" spc="0" normalizeH="0" baseline="0" noProof="0" dirty="0">
                    <a:ln>
                      <a:noFill/>
                    </a:ln>
                    <a:solidFill>
                      <a:prstClr val="black"/>
                    </a:solidFill>
                    <a:effectLst/>
                    <a:uLnTx/>
                    <a:uFillTx/>
                    <a:latin typeface="Aptos" panose="02110004020202020204"/>
                  </a:rPr>
                  <a:t>Create an video of a squirrel on a skateboard</a:t>
                </a:r>
                <a:endParaRPr kumimoji="0" lang="en-US" sz="1400" b="0" i="0" u="none" strike="noStrike" kern="0" cap="none" spc="0" normalizeH="0" baseline="0" noProof="0" dirty="0">
                  <a:ln>
                    <a:noFill/>
                  </a:ln>
                  <a:solidFill>
                    <a:prstClr val="black"/>
                  </a:solidFill>
                  <a:effectLst/>
                  <a:uLnTx/>
                  <a:uFillTx/>
                  <a:latin typeface="Aptos" panose="02110004020202020204"/>
                </a:endParaRPr>
              </a:p>
            </p:txBody>
          </p:sp>
        </p:grpSp>
        <p:pic>
          <p:nvPicPr>
            <p:cNvPr id="47" name="Graphic 46" descr="Speech outline">
              <a:extLst>
                <a:ext uri="{FF2B5EF4-FFF2-40B4-BE49-F238E27FC236}">
                  <a16:creationId xmlns:a16="http://schemas.microsoft.com/office/drawing/2014/main" id="{7EC84AB6-C9A4-209D-030B-0A22BAD804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V="1">
              <a:off x="3133201" y="1713613"/>
              <a:ext cx="2619446" cy="2619446"/>
            </a:xfrm>
            <a:prstGeom prst="rect">
              <a:avLst/>
            </a:prstGeom>
          </p:spPr>
        </p:pic>
        <p:sp>
          <p:nvSpPr>
            <p:cNvPr id="45" name="Arrow: Right 44">
              <a:extLst>
                <a:ext uri="{FF2B5EF4-FFF2-40B4-BE49-F238E27FC236}">
                  <a16:creationId xmlns:a16="http://schemas.microsoft.com/office/drawing/2014/main" id="{C64DD5DA-F4E6-BB13-16D3-F452771BD85E}"/>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sp>
        <p:nvSpPr>
          <p:cNvPr id="58" name="TextBox 57">
            <a:extLst>
              <a:ext uri="{FF2B5EF4-FFF2-40B4-BE49-F238E27FC236}">
                <a16:creationId xmlns:a16="http://schemas.microsoft.com/office/drawing/2014/main" id="{B8B43E06-9957-44BC-B34C-9A76D251A9A8}"/>
              </a:ext>
            </a:extLst>
          </p:cNvPr>
          <p:cNvSpPr txBox="1"/>
          <p:nvPr/>
        </p:nvSpPr>
        <p:spPr>
          <a:xfrm>
            <a:off x="476238" y="2012439"/>
            <a:ext cx="6144702" cy="2219838"/>
          </a:xfrm>
          <a:prstGeom prst="rect">
            <a:avLst/>
          </a:prstGeom>
          <a:noFill/>
        </p:spPr>
        <p:txBody>
          <a:bodyPr wrap="square">
            <a:spAutoFit/>
          </a:bodyPr>
          <a:lstStyle/>
          <a:p>
            <a:pPr>
              <a:spcAft>
                <a:spcPts val="600"/>
              </a:spcAft>
              <a:buClr>
                <a:schemeClr val="accent2">
                  <a:lumMod val="75000"/>
                </a:schemeClr>
              </a:buClr>
            </a:pPr>
            <a:r>
              <a:rPr lang="en-US" sz="1800" dirty="0"/>
              <a:t>Some generative AI models can create video scenes from text prompts.</a:t>
            </a:r>
          </a:p>
          <a:p>
            <a:pPr>
              <a:spcAft>
                <a:spcPts val="600"/>
              </a:spcAft>
              <a:buClr>
                <a:schemeClr val="accent2">
                  <a:lumMod val="75000"/>
                </a:schemeClr>
              </a:buClr>
            </a:pPr>
            <a:r>
              <a:rPr lang="en-US" sz="1800" dirty="0"/>
              <a:t>For example, Sora 2 is a model that can create generate realistic scenes from text prompts, reference images, or by remixing existing videos.</a:t>
            </a:r>
          </a:p>
          <a:p>
            <a:pPr>
              <a:spcAft>
                <a:spcPts val="600"/>
              </a:spcAft>
              <a:buClr>
                <a:schemeClr val="accent2">
                  <a:lumMod val="75000"/>
                </a:schemeClr>
              </a:buClr>
            </a:pPr>
            <a:r>
              <a:rPr lang="en-US" sz="1800" dirty="0"/>
              <a:t>You can deploy and use the Sora 2 model in Microsoft Foundry projects</a:t>
            </a:r>
          </a:p>
        </p:txBody>
      </p:sp>
      <p:pic>
        <p:nvPicPr>
          <p:cNvPr id="13" name="Picture 12">
            <a:extLst>
              <a:ext uri="{FF2B5EF4-FFF2-40B4-BE49-F238E27FC236}">
                <a16:creationId xmlns:a16="http://schemas.microsoft.com/office/drawing/2014/main" id="{46522D70-260E-AD88-8CFE-A31D85BB7C8F}"/>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rcRect r="-2279" b="12582"/>
          <a:stretch>
            <a:fillRect/>
          </a:stretch>
        </p:blipFill>
        <p:spPr>
          <a:xfrm>
            <a:off x="9492798" y="3996189"/>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634700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5CA4-2D36-DEF4-034D-21FB4EEAC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65E44-4F31-EEF2-301F-57E60F7E9B9E}"/>
              </a:ext>
            </a:extLst>
          </p:cNvPr>
          <p:cNvSpPr>
            <a:spLocks noGrp="1"/>
          </p:cNvSpPr>
          <p:nvPr>
            <p:ph type="title"/>
          </p:nvPr>
        </p:nvSpPr>
        <p:spPr>
          <a:xfrm>
            <a:off x="588262" y="585216"/>
            <a:ext cx="10694408" cy="492443"/>
          </a:xfrm>
        </p:spPr>
        <p:txBody>
          <a:bodyPr/>
          <a:lstStyle/>
          <a:p>
            <a:r>
              <a:rPr lang="en-US" sz="3200" dirty="0"/>
              <a:t>Generate videos from prompts</a:t>
            </a:r>
          </a:p>
        </p:txBody>
      </p:sp>
      <p:sp>
        <p:nvSpPr>
          <p:cNvPr id="3" name="Footer Placeholder 2">
            <a:extLst>
              <a:ext uri="{FF2B5EF4-FFF2-40B4-BE49-F238E27FC236}">
                <a16:creationId xmlns:a16="http://schemas.microsoft.com/office/drawing/2014/main" id="{47088AAE-F26C-EBBF-B323-AF5041FB67D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Box 3">
            <a:extLst>
              <a:ext uri="{FF2B5EF4-FFF2-40B4-BE49-F238E27FC236}">
                <a16:creationId xmlns:a16="http://schemas.microsoft.com/office/drawing/2014/main" id="{B3010A08-4EE8-FDE3-2B72-6F6FCC8D13FD}"/>
              </a:ext>
            </a:extLst>
          </p:cNvPr>
          <p:cNvSpPr txBox="1"/>
          <p:nvPr/>
        </p:nvSpPr>
        <p:spPr>
          <a:xfrm>
            <a:off x="588262" y="1457109"/>
            <a:ext cx="5815902" cy="2534925"/>
          </a:xfrm>
          <a:prstGeom prst="rect">
            <a:avLst/>
          </a:prstGeom>
          <a:noFill/>
        </p:spPr>
        <p:txBody>
          <a:bodyPr wrap="square" lIns="0" tIns="0" rIns="0" bIns="0" rtlCol="0">
            <a:spAutoFit/>
          </a:bodyPr>
          <a:lstStyle/>
          <a:p>
            <a:pPr algn="l"/>
            <a:r>
              <a:rPr lang="en-US" sz="1800" dirty="0"/>
              <a:t>For effective video prompts, describe a shot for a storyboard. Include details such as:</a:t>
            </a:r>
          </a:p>
          <a:p>
            <a:pPr marL="342900" indent="-342900" algn="l">
              <a:lnSpc>
                <a:spcPct val="150000"/>
              </a:lnSpc>
              <a:buFont typeface="Arial" panose="020B0604020202020204" pitchFamily="34" charset="0"/>
              <a:buChar char="•"/>
            </a:pPr>
            <a:r>
              <a:rPr lang="en-US" sz="1800" dirty="0"/>
              <a:t>Camera framing (wide, medium, close-up)</a:t>
            </a:r>
          </a:p>
          <a:p>
            <a:pPr marL="342900" indent="-342900" algn="l">
              <a:lnSpc>
                <a:spcPct val="150000"/>
              </a:lnSpc>
              <a:buFont typeface="Arial" panose="020B0604020202020204" pitchFamily="34" charset="0"/>
              <a:buChar char="•"/>
            </a:pPr>
            <a:r>
              <a:rPr lang="en-US" sz="1800" dirty="0"/>
              <a:t>Subject description with distinctive details</a:t>
            </a:r>
          </a:p>
          <a:p>
            <a:pPr marL="342900" indent="-342900" algn="l">
              <a:lnSpc>
                <a:spcPct val="150000"/>
              </a:lnSpc>
              <a:buFont typeface="Arial" panose="020B0604020202020204" pitchFamily="34" charset="0"/>
              <a:buChar char="•"/>
            </a:pPr>
            <a:r>
              <a:rPr lang="en-US" sz="1800" dirty="0"/>
              <a:t>Action described in small steps</a:t>
            </a:r>
          </a:p>
          <a:p>
            <a:pPr marL="342900" indent="-342900" algn="l">
              <a:lnSpc>
                <a:spcPct val="150000"/>
              </a:lnSpc>
              <a:buFont typeface="Arial" panose="020B0604020202020204" pitchFamily="34" charset="0"/>
              <a:buChar char="•"/>
            </a:pPr>
            <a:r>
              <a:rPr lang="en-US" sz="1800" dirty="0"/>
              <a:t>Lighting, color palette, and style</a:t>
            </a:r>
          </a:p>
          <a:p>
            <a:pPr algn="l"/>
            <a:endParaRPr lang="en-US" sz="2000" dirty="0"/>
          </a:p>
        </p:txBody>
      </p:sp>
      <p:sp>
        <p:nvSpPr>
          <p:cNvPr id="9" name="TextBox 8">
            <a:extLst>
              <a:ext uri="{FF2B5EF4-FFF2-40B4-BE49-F238E27FC236}">
                <a16:creationId xmlns:a16="http://schemas.microsoft.com/office/drawing/2014/main" id="{F5F4941E-DCFF-DF3E-1517-CBFBD314E3B3}"/>
              </a:ext>
            </a:extLst>
          </p:cNvPr>
          <p:cNvSpPr txBox="1"/>
          <p:nvPr/>
        </p:nvSpPr>
        <p:spPr>
          <a:xfrm>
            <a:off x="588262" y="4554590"/>
            <a:ext cx="895095" cy="276999"/>
          </a:xfrm>
          <a:prstGeom prst="rect">
            <a:avLst/>
          </a:prstGeom>
          <a:noFill/>
        </p:spPr>
        <p:txBody>
          <a:bodyPr wrap="square" lIns="0" tIns="0" rIns="0" bIns="0" rtlCol="0">
            <a:spAutoFit/>
          </a:bodyPr>
          <a:lstStyle/>
          <a:p>
            <a:pPr algn="l"/>
            <a:r>
              <a:rPr lang="en-US" sz="1800" dirty="0">
                <a:solidFill>
                  <a:schemeClr val="accent1"/>
                </a:solidFill>
                <a:latin typeface="+mj-lt"/>
              </a:rPr>
              <a:t>Example</a:t>
            </a:r>
          </a:p>
        </p:txBody>
      </p:sp>
      <p:sp>
        <p:nvSpPr>
          <p:cNvPr id="7" name="TextBox 6">
            <a:extLst>
              <a:ext uri="{FF2B5EF4-FFF2-40B4-BE49-F238E27FC236}">
                <a16:creationId xmlns:a16="http://schemas.microsoft.com/office/drawing/2014/main" id="{A88D56FE-2D6C-AE90-CED4-89A5333A9EE1}"/>
              </a:ext>
            </a:extLst>
          </p:cNvPr>
          <p:cNvSpPr txBox="1"/>
          <p:nvPr/>
        </p:nvSpPr>
        <p:spPr>
          <a:xfrm>
            <a:off x="588261" y="4862849"/>
            <a:ext cx="11466087" cy="1178784"/>
          </a:xfrm>
          <a:prstGeom prst="rect">
            <a:avLst/>
          </a:prstGeom>
          <a:solidFill>
            <a:schemeClr val="bg1">
              <a:lumMod val="95000"/>
            </a:schemeClr>
          </a:solidFill>
        </p:spPr>
        <p:txBody>
          <a:bodyPr wrap="square">
            <a:spAutoFit/>
          </a:bodyPr>
          <a:lstStyle/>
          <a:p>
            <a:r>
              <a:rPr lang="en-US" dirty="0"/>
              <a:t>In a 1980s sci-fi film style, a medium close-up shot at eye level captures a young woman standing at the edge of a rain-soaked rooftop. She takes two slow steps forward, pauses, and turns her head to look over her shoulder. Neon pink and blue light spills from billboards behind her. The color palette anchors are electric blue, hot pink, and steel gray.</a:t>
            </a:r>
          </a:p>
        </p:txBody>
      </p:sp>
      <p:pic>
        <p:nvPicPr>
          <p:cNvPr id="11" name="Picture 10" descr="A frame from the example prompt video generated by an AI model.">
            <a:extLst>
              <a:ext uri="{FF2B5EF4-FFF2-40B4-BE49-F238E27FC236}">
                <a16:creationId xmlns:a16="http://schemas.microsoft.com/office/drawing/2014/main" id="{A8110EDA-F913-C536-E10A-75464EC6B8FD}"/>
              </a:ext>
            </a:extLst>
          </p:cNvPr>
          <p:cNvPicPr>
            <a:picLocks noChangeAspect="1"/>
          </p:cNvPicPr>
          <p:nvPr/>
        </p:nvPicPr>
        <p:blipFill>
          <a:blip r:embed="rId3"/>
          <a:stretch>
            <a:fillRect/>
          </a:stretch>
        </p:blipFill>
        <p:spPr>
          <a:xfrm>
            <a:off x="6404164" y="1405759"/>
            <a:ext cx="5650185" cy="3182989"/>
          </a:xfrm>
          <a:prstGeom prst="rect">
            <a:avLst/>
          </a:prstGeom>
        </p:spPr>
      </p:pic>
    </p:spTree>
    <p:extLst>
      <p:ext uri="{BB962C8B-B14F-4D97-AF65-F5344CB8AC3E}">
        <p14:creationId xmlns:p14="http://schemas.microsoft.com/office/powerpoint/2010/main" val="261835370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492443"/>
          </a:xfrm>
        </p:spPr>
        <p:txBody>
          <a:bodyPr/>
          <a:lstStyle/>
          <a:p>
            <a:r>
              <a:rPr lang="en-US" sz="3200" dirty="0"/>
              <a:t>Using a video-generation model</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7" name="Picture 6" descr="Screenshot of Microsoft Foundry video generation playground.">
            <a:extLst>
              <a:ext uri="{FF2B5EF4-FFF2-40B4-BE49-F238E27FC236}">
                <a16:creationId xmlns:a16="http://schemas.microsoft.com/office/drawing/2014/main" id="{EE211F1A-3467-F7AF-3E46-A476E177FFE5}"/>
              </a:ext>
            </a:extLst>
          </p:cNvPr>
          <p:cNvPicPr>
            <a:picLocks noChangeAspect="1"/>
          </p:cNvPicPr>
          <p:nvPr/>
        </p:nvPicPr>
        <p:blipFill>
          <a:blip r:embed="rId3"/>
          <a:stretch>
            <a:fillRect/>
          </a:stretch>
        </p:blipFill>
        <p:spPr>
          <a:xfrm>
            <a:off x="588261" y="1297908"/>
            <a:ext cx="6893853" cy="5049209"/>
          </a:xfrm>
          <a:prstGeom prst="rect">
            <a:avLst/>
          </a:prstGeom>
        </p:spPr>
      </p:pic>
      <p:grpSp>
        <p:nvGrpSpPr>
          <p:cNvPr id="2" name="Group 1">
            <a:extLst>
              <a:ext uri="{FF2B5EF4-FFF2-40B4-BE49-F238E27FC236}">
                <a16:creationId xmlns:a16="http://schemas.microsoft.com/office/drawing/2014/main" id="{768A6069-2688-1010-D29C-B2C22EDF5571}"/>
              </a:ext>
              <a:ext uri="{C183D7F6-B498-43B3-948B-1728B52AA6E4}">
                <adec:decorative xmlns:adec="http://schemas.microsoft.com/office/drawing/2017/decorative" val="1"/>
              </a:ext>
            </a:extLst>
          </p:cNvPr>
          <p:cNvGrpSpPr/>
          <p:nvPr/>
        </p:nvGrpSpPr>
        <p:grpSpPr>
          <a:xfrm>
            <a:off x="5187001" y="2319478"/>
            <a:ext cx="6828042" cy="3713022"/>
            <a:chOff x="1559755" y="3436580"/>
            <a:chExt cx="5263397" cy="2677656"/>
          </a:xfrm>
        </p:grpSpPr>
        <p:sp>
          <p:nvSpPr>
            <p:cNvPr id="3" name="Rounded Rectangle 22">
              <a:extLst>
                <a:ext uri="{FF2B5EF4-FFF2-40B4-BE49-F238E27FC236}">
                  <a16:creationId xmlns:a16="http://schemas.microsoft.com/office/drawing/2014/main" id="{EFB8147D-43DF-EE3B-96C6-6B3065C1F6EC}"/>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5" name="TextBox 4">
              <a:extLst>
                <a:ext uri="{FF2B5EF4-FFF2-40B4-BE49-F238E27FC236}">
                  <a16:creationId xmlns:a16="http://schemas.microsoft.com/office/drawing/2014/main" id="{465B4899-286D-73B4-B586-22F11C314244}"/>
                </a:ext>
              </a:extLst>
            </p:cNvPr>
            <p:cNvSpPr txBox="1"/>
            <p:nvPr/>
          </p:nvSpPr>
          <p:spPr>
            <a:xfrm>
              <a:off x="1643050" y="3552901"/>
              <a:ext cx="5180102" cy="1901839"/>
            </a:xfrm>
            <a:prstGeom prst="rect">
              <a:avLst/>
            </a:prstGeom>
            <a:noFill/>
          </p:spPr>
          <p:txBody>
            <a:bodyPr wrap="square">
              <a:spAutoFit/>
            </a:bodyPr>
            <a:lstStyle/>
            <a:p>
              <a:r>
                <a:rPr lang="en-US" sz="1200" dirty="0">
                  <a:solidFill>
                    <a:srgbClr val="4CBC89"/>
                  </a:solidFill>
                  <a:latin typeface="Consolas" panose="020B0609020204030204" pitchFamily="49" charset="0"/>
                </a:rPr>
                <a:t># Create the video generation job</a:t>
              </a:r>
            </a:p>
            <a:p>
              <a:r>
                <a:rPr lang="en-US" sz="1200" dirty="0">
                  <a:solidFill>
                    <a:srgbClr val="9CDCFE"/>
                  </a:solidFill>
                  <a:latin typeface="Consolas" panose="020B0609020204030204" pitchFamily="49" charset="0"/>
                </a:rPr>
                <a:t>video</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create</a:t>
              </a:r>
              <a:r>
                <a:rPr lang="en-US" sz="1200" dirty="0">
                  <a:solidFill>
                    <a:srgbClr val="CE9178"/>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"sora-2"</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prompt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 robot waiter in a restaurant."</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"1280x720"</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seconds</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Poll for completion</a:t>
              </a:r>
            </a:p>
            <a:p>
              <a:r>
                <a:rPr lang="en-US" sz="1200" dirty="0">
                  <a:solidFill>
                    <a:srgbClr val="5295CD"/>
                  </a:solidFill>
                  <a:latin typeface="Consolas" panose="020B0609020204030204" pitchFamily="49" charset="0"/>
                </a:rPr>
                <a:t>while</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5295CD"/>
                  </a:solidFill>
                  <a:latin typeface="Consolas" panose="020B0609020204030204" pitchFamily="49" charset="0"/>
                </a:rPr>
                <a:t>not in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completed"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"failed"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"cancelled</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f</a:t>
              </a:r>
              <a:r>
                <a:rPr lang="en-US" sz="1200" dirty="0" err="1">
                  <a:solidFill>
                    <a:srgbClr val="CE9178"/>
                  </a:solidFill>
                  <a:latin typeface="Consolas" panose="020B0609020204030204" pitchFamily="49" charset="0"/>
                </a:rPr>
                <a:t>"Status</a:t>
              </a:r>
              <a:r>
                <a:rPr lang="en-US" sz="1200" dirty="0">
                  <a:solidFill>
                    <a:srgbClr val="CE9178"/>
                  </a:solidFill>
                  <a:latin typeface="Consolas" panose="020B0609020204030204" pitchFamily="49" charset="0"/>
                </a:rPr>
                <a:t>: {</a:t>
              </a:r>
              <a:r>
                <a:rPr lang="en-US" sz="1200" dirty="0" err="1">
                  <a:solidFill>
                    <a:srgbClr val="CE9178"/>
                  </a:solidFill>
                  <a:latin typeface="Consolas" panose="020B0609020204030204" pitchFamily="49" charset="0"/>
                </a:rPr>
                <a:t>video.status</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ABB2BF"/>
                  </a:solidFill>
                  <a:latin typeface="Consolas" panose="020B0609020204030204" pitchFamily="49" charset="0"/>
                </a:rPr>
                <a:t>time</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sleep</a:t>
              </a:r>
              <a:r>
                <a:rPr lang="en-US" sz="1200" dirty="0">
                  <a:solidFill>
                    <a:srgbClr val="ABB2BF"/>
                  </a:solidFill>
                  <a:latin typeface="Consolas" panose="020B0609020204030204" pitchFamily="49" charset="0"/>
                </a:rPr>
                <a:t>(20)</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video</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retrieve</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Download when complete</a:t>
              </a:r>
            </a:p>
            <a:p>
              <a:r>
                <a:rPr lang="en-US" sz="1200" dirty="0">
                  <a:solidFill>
                    <a:srgbClr val="5295CD"/>
                  </a:solidFill>
                  <a:latin typeface="Consolas" panose="020B0609020204030204" pitchFamily="49" charset="0"/>
                </a:rPr>
                <a:t>if</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CE9178"/>
                  </a:solidFill>
                  <a:latin typeface="Consolas" panose="020B0609020204030204" pitchFamily="49" charset="0"/>
                </a:rPr>
                <a:t>"completed"</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content</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download_content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variant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"video"</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content</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write_to_file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"output.mp4"</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359112880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552-EEAE-49ED-0FC6-A9EBF357EB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DC83EA-47A7-7D0F-E2CF-0952D2B0483B}"/>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1BED4495-5A6B-65EE-D726-A5C072FE47D0}"/>
              </a:ext>
            </a:extLst>
          </p:cNvPr>
          <p:cNvSpPr>
            <a:spLocks noGrp="1"/>
          </p:cNvSpPr>
          <p:nvPr>
            <p:ph type="body" sz="quarter" idx="16"/>
          </p:nvPr>
        </p:nvSpPr>
        <p:spPr>
          <a:xfrm>
            <a:off x="584199" y="1594155"/>
            <a:ext cx="5654573" cy="307777"/>
          </a:xfrm>
        </p:spPr>
        <p:txBody>
          <a:bodyPr/>
          <a:lstStyle/>
          <a:p>
            <a:r>
              <a:rPr lang="en-US" sz="2000" dirty="0"/>
              <a:t>Generate images with AI</a:t>
            </a:r>
          </a:p>
        </p:txBody>
      </p:sp>
      <p:sp>
        <p:nvSpPr>
          <p:cNvPr id="6" name="Text Placeholder 5">
            <a:extLst>
              <a:ext uri="{FF2B5EF4-FFF2-40B4-BE49-F238E27FC236}">
                <a16:creationId xmlns:a16="http://schemas.microsoft.com/office/drawing/2014/main" id="{53027B89-0569-77D0-F1A0-77E3D7925406}"/>
              </a:ext>
            </a:extLst>
          </p:cNvPr>
          <p:cNvSpPr>
            <a:spLocks noGrp="1"/>
          </p:cNvSpPr>
          <p:nvPr>
            <p:ph type="body" sz="quarter" idx="15"/>
          </p:nvPr>
        </p:nvSpPr>
        <p:spPr>
          <a:xfrm>
            <a:off x="586389" y="2085764"/>
            <a:ext cx="5652201" cy="1034129"/>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Use an image-generation model in the playground</a:t>
            </a:r>
          </a:p>
          <a:p>
            <a:pPr defTabSz="914367">
              <a:spcBef>
                <a:spcPts val="0"/>
              </a:spcBef>
              <a:buSzTx/>
              <a:defRPr/>
            </a:pPr>
            <a:r>
              <a:rPr lang="en-US" dirty="0"/>
              <a:t>Develop a client app that generates images</a:t>
            </a:r>
          </a:p>
          <a:p>
            <a:endParaRPr lang="en-US" dirty="0"/>
          </a:p>
        </p:txBody>
      </p:sp>
      <p:sp>
        <p:nvSpPr>
          <p:cNvPr id="10" name="TextBox 9">
            <a:extLst>
              <a:ext uri="{FF2B5EF4-FFF2-40B4-BE49-F238E27FC236}">
                <a16:creationId xmlns:a16="http://schemas.microsoft.com/office/drawing/2014/main" id="{F41FA5DB-9671-EC85-80C8-6BC6769B39C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https://go.microsoft.com/fwlink/?linkid=2356876</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99D66C76-E130-ED46-BEA5-56A6CFF05CC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6F11D801-646F-C1C7-856A-2863ED94FE88}"/>
              </a:ext>
              <a:ext uri="{C183D7F6-B498-43B3-948B-1728B52AA6E4}">
                <adec:decorative xmlns:adec="http://schemas.microsoft.com/office/drawing/2017/decorative" val="1"/>
              </a:ext>
            </a:extLst>
          </p:cNvPr>
          <p:cNvPicPr>
            <a:picLocks noChangeAspect="1"/>
          </p:cNvPicPr>
          <p:nvPr/>
        </p:nvPicPr>
        <p:blipFill>
          <a:blip r:embed="rId4"/>
          <a:srcRect t="337" b="337"/>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4F05B9B2-0A07-5BE4-6F8A-150D4C29A259}"/>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9950033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C152-A6E3-6F33-7CA2-CA9F67824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76E6D-D0D9-2B59-A302-8D7E5FD41019}"/>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A15826A6-6599-C39F-FB74-667354C560AF}"/>
              </a:ext>
            </a:extLst>
          </p:cNvPr>
          <p:cNvSpPr>
            <a:spLocks noGrp="1"/>
          </p:cNvSpPr>
          <p:nvPr>
            <p:ph type="body" sz="quarter" idx="17"/>
          </p:nvPr>
        </p:nvSpPr>
        <p:spPr>
          <a:xfrm>
            <a:off x="1235074" y="2348106"/>
            <a:ext cx="9024803" cy="430887"/>
          </a:xfrm>
        </p:spPr>
        <p:txBody>
          <a:bodyPr/>
          <a:lstStyle/>
          <a:p>
            <a:r>
              <a:rPr lang="en-US" b="1" dirty="0"/>
              <a:t>You want to find a model in Microsoft Foundry to generate images. Which inference task should you filter by?</a:t>
            </a:r>
          </a:p>
        </p:txBody>
      </p:sp>
      <p:sp>
        <p:nvSpPr>
          <p:cNvPr id="9" name="Text Placeholder 8">
            <a:extLst>
              <a:ext uri="{FF2B5EF4-FFF2-40B4-BE49-F238E27FC236}">
                <a16:creationId xmlns:a16="http://schemas.microsoft.com/office/drawing/2014/main" id="{54B120D2-420C-9741-DA22-426253811E9C}"/>
              </a:ext>
            </a:extLst>
          </p:cNvPr>
          <p:cNvSpPr>
            <a:spLocks noGrp="1"/>
          </p:cNvSpPr>
          <p:nvPr>
            <p:ph type="body" sz="quarter" idx="15"/>
          </p:nvPr>
        </p:nvSpPr>
        <p:spPr>
          <a:xfrm>
            <a:off x="1235075" y="2673319"/>
            <a:ext cx="8775098" cy="732508"/>
          </a:xfrm>
          <a:noFill/>
        </p:spPr>
        <p:txBody>
          <a:bodyPr/>
          <a:lstStyle/>
          <a:p>
            <a:r>
              <a:rPr lang="en-US" noProof="0" dirty="0"/>
              <a:t>Text to image</a:t>
            </a:r>
          </a:p>
          <a:p>
            <a:r>
              <a:rPr lang="en-US" noProof="0" dirty="0"/>
              <a:t>Image to text</a:t>
            </a:r>
          </a:p>
          <a:p>
            <a:r>
              <a:rPr lang="en-US" noProof="0" dirty="0"/>
              <a:t>Embeddings</a:t>
            </a:r>
          </a:p>
        </p:txBody>
      </p:sp>
      <p:sp>
        <p:nvSpPr>
          <p:cNvPr id="18" name="Text Placeholder 17">
            <a:extLst>
              <a:ext uri="{FF2B5EF4-FFF2-40B4-BE49-F238E27FC236}">
                <a16:creationId xmlns:a16="http://schemas.microsoft.com/office/drawing/2014/main" id="{310D9CF5-5AD8-3F28-6509-E6D4A9D46513}"/>
              </a:ext>
            </a:extLst>
          </p:cNvPr>
          <p:cNvSpPr>
            <a:spLocks noGrp="1"/>
          </p:cNvSpPr>
          <p:nvPr>
            <p:ph type="body" sz="quarter" idx="22"/>
          </p:nvPr>
        </p:nvSpPr>
        <p:spPr>
          <a:xfrm>
            <a:off x="1235075" y="4081535"/>
            <a:ext cx="8778782" cy="215444"/>
          </a:xfrm>
        </p:spPr>
        <p:txBody>
          <a:bodyPr/>
          <a:lstStyle/>
          <a:p>
            <a:r>
              <a:rPr lang="en-US" b="1" dirty="0"/>
              <a:t>Which OpenAI API can you use with image-generation models?</a:t>
            </a:r>
            <a:endParaRPr lang="en-US" noProof="0" dirty="0"/>
          </a:p>
        </p:txBody>
      </p:sp>
      <p:sp>
        <p:nvSpPr>
          <p:cNvPr id="19" name="Text Placeholder 18">
            <a:extLst>
              <a:ext uri="{FF2B5EF4-FFF2-40B4-BE49-F238E27FC236}">
                <a16:creationId xmlns:a16="http://schemas.microsoft.com/office/drawing/2014/main" id="{85615F16-5D3B-2FD7-4DB2-9595560BBCC4}"/>
              </a:ext>
            </a:extLst>
          </p:cNvPr>
          <p:cNvSpPr>
            <a:spLocks noGrp="1"/>
          </p:cNvSpPr>
          <p:nvPr>
            <p:ph type="body" sz="quarter" idx="23"/>
          </p:nvPr>
        </p:nvSpPr>
        <p:spPr>
          <a:xfrm>
            <a:off x="1235074" y="4383273"/>
            <a:ext cx="8775098" cy="732508"/>
          </a:xfrm>
        </p:spPr>
        <p:txBody>
          <a:bodyPr/>
          <a:lstStyle/>
          <a:p>
            <a:r>
              <a:rPr lang="en-US" dirty="0"/>
              <a:t>Video</a:t>
            </a:r>
          </a:p>
          <a:p>
            <a:r>
              <a:rPr lang="en-US" dirty="0"/>
              <a:t>Image</a:t>
            </a:r>
          </a:p>
          <a:p>
            <a:r>
              <a:rPr lang="en-US" dirty="0"/>
              <a:t>Graphics</a:t>
            </a:r>
          </a:p>
        </p:txBody>
      </p:sp>
      <p:sp>
        <p:nvSpPr>
          <p:cNvPr id="76" name="Oval 75">
            <a:extLst>
              <a:ext uri="{FF2B5EF4-FFF2-40B4-BE49-F238E27FC236}">
                <a16:creationId xmlns:a16="http://schemas.microsoft.com/office/drawing/2014/main" id="{404D9578-F100-2D27-DEF8-9703F8D67833}"/>
              </a:ext>
              <a:ext uri="{C183D7F6-B498-43B3-948B-1728B52AA6E4}">
                <adec:decorative xmlns:adec="http://schemas.microsoft.com/office/drawing/2017/decorative" val="1"/>
              </a:ext>
            </a:extLst>
          </p:cNvPr>
          <p:cNvSpPr>
            <a:spLocks/>
          </p:cNvSpPr>
          <p:nvPr/>
        </p:nvSpPr>
        <p:spPr bwMode="auto">
          <a:xfrm>
            <a:off x="722582" y="22546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CA0DE29A-C331-F24E-4543-D1D46F54BB6C}"/>
              </a:ext>
              <a:ext uri="{C183D7F6-B498-43B3-948B-1728B52AA6E4}">
                <adec:decorative xmlns:adec="http://schemas.microsoft.com/office/drawing/2017/decorative" val="1"/>
              </a:ext>
            </a:extLst>
          </p:cNvPr>
          <p:cNvSpPr>
            <a:spLocks/>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2B49D44A-D582-8833-4A99-5DA197C758F2}"/>
              </a:ext>
              <a:ext uri="{C183D7F6-B498-43B3-948B-1728B52AA6E4}">
                <adec:decorative xmlns:adec="http://schemas.microsoft.com/office/drawing/2017/decorative" val="1"/>
              </a:ext>
            </a:extLst>
          </p:cNvPr>
          <p:cNvSpPr>
            <a:spLocks/>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1C179E01-8A91-4C85-2C92-1ABCFAFBA829}"/>
              </a:ext>
              <a:ext uri="{C183D7F6-B498-43B3-948B-1728B52AA6E4}">
                <adec:decorative xmlns:adec="http://schemas.microsoft.com/office/drawing/2017/decorative" val="1"/>
              </a:ext>
            </a:extLst>
          </p:cNvPr>
          <p:cNvSpPr>
            <a:spLocks/>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779C37C-59DB-5718-00C0-4E21AC635426}"/>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08677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FC10-0C08-3404-6D02-064A87DF9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E6E4F-37B8-4F01-F0CC-83CD4A2DB6C1}"/>
              </a:ext>
            </a:extLst>
          </p:cNvPr>
          <p:cNvSpPr>
            <a:spLocks noGrp="1"/>
          </p:cNvSpPr>
          <p:nvPr>
            <p:ph type="title"/>
          </p:nvPr>
        </p:nvSpPr>
        <p:spPr>
          <a:xfrm>
            <a:off x="569911" y="2892167"/>
            <a:ext cx="6984775" cy="1107996"/>
          </a:xfrm>
        </p:spPr>
        <p:txBody>
          <a:bodyPr/>
          <a:lstStyle/>
          <a:p>
            <a:r>
              <a:rPr lang="en-US" sz="3600" dirty="0"/>
              <a:t>Analyze images with</a:t>
            </a:r>
            <a:br>
              <a:rPr lang="en-US" sz="3600" dirty="0"/>
            </a:br>
            <a:r>
              <a:rPr lang="en-US" sz="3600" dirty="0"/>
              <a:t>Content Understanding</a:t>
            </a:r>
            <a:endParaRPr lang="en-US" sz="3600" noProof="0" dirty="0"/>
          </a:p>
        </p:txBody>
      </p:sp>
      <p:sp>
        <p:nvSpPr>
          <p:cNvPr id="4" name="TextBox 3">
            <a:extLst>
              <a:ext uri="{FF2B5EF4-FFF2-40B4-BE49-F238E27FC236}">
                <a16:creationId xmlns:a16="http://schemas.microsoft.com/office/drawing/2014/main" id="{EAE45745-ABF2-8869-A65F-9D6556ECCF0A}"/>
              </a:ext>
            </a:extLst>
          </p:cNvPr>
          <p:cNvSpPr txBox="1"/>
          <p:nvPr/>
        </p:nvSpPr>
        <p:spPr>
          <a:xfrm>
            <a:off x="478471" y="4000163"/>
            <a:ext cx="5879298" cy="363946"/>
          </a:xfrm>
          <a:prstGeom prst="rect">
            <a:avLst/>
          </a:prstGeom>
          <a:noFill/>
        </p:spPr>
        <p:txBody>
          <a:bodyPr wrap="square">
            <a:spAutoFit/>
          </a:bodyPr>
          <a:lstStyle/>
          <a:p>
            <a:r>
              <a:rPr lang="en-US" dirty="0">
                <a:solidFill>
                  <a:schemeClr val="accent2"/>
                </a:solidFill>
              </a:rPr>
              <a:t>https://aka.ms/mslearn-image-content-understanding</a:t>
            </a:r>
          </a:p>
        </p:txBody>
      </p:sp>
    </p:spTree>
    <p:extLst>
      <p:ext uri="{BB962C8B-B14F-4D97-AF65-F5344CB8AC3E}">
        <p14:creationId xmlns:p14="http://schemas.microsoft.com/office/powerpoint/2010/main" val="4173878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What is Azure Content Understanding in Foundry Tools?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4" name="TextBox 63">
            <a:extLst>
              <a:ext uri="{FF2B5EF4-FFF2-40B4-BE49-F238E27FC236}">
                <a16:creationId xmlns:a16="http://schemas.microsoft.com/office/drawing/2014/main" id="{EA7D8650-A7A7-E5BD-9151-016C93A27AD0}"/>
              </a:ext>
            </a:extLst>
          </p:cNvPr>
          <p:cNvSpPr txBox="1"/>
          <p:nvPr/>
        </p:nvSpPr>
        <p:spPr>
          <a:xfrm>
            <a:off x="981674" y="2127465"/>
            <a:ext cx="4943249" cy="3200876"/>
          </a:xfrm>
          <a:prstGeom prst="rect">
            <a:avLst/>
          </a:prstGeom>
          <a:noFill/>
        </p:spPr>
        <p:txBody>
          <a:bodyPr wrap="square">
            <a:spAutoFit/>
          </a:bodyPr>
          <a:lstStyle/>
          <a:p>
            <a:pPr algn="l">
              <a:spcAft>
                <a:spcPts val="600"/>
              </a:spcAft>
              <a:buClr>
                <a:schemeClr val="accent1"/>
              </a:buClr>
              <a:buSzPct val="110000"/>
            </a:pPr>
            <a:r>
              <a:rPr lang="en-US" sz="1800" dirty="0">
                <a:solidFill>
                  <a:srgbClr val="161616"/>
                </a:solidFill>
                <a:latin typeface="Segoe UI" panose="020B0502040204020203" pitchFamily="34" charset="0"/>
              </a:rPr>
              <a:t>Multimodal content analysis:</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Images</a:t>
            </a:r>
          </a:p>
          <a:p>
            <a:pPr marL="285750" indent="-285750" algn="l">
              <a:spcAft>
                <a:spcPts val="600"/>
              </a:spcAft>
              <a:buClr>
                <a:schemeClr val="accent1"/>
              </a:buClr>
              <a:buSzPct val="110000"/>
              <a:buFont typeface="Arial" panose="020B0604020202020204" pitchFamily="34" charset="0"/>
              <a:buChar char="•"/>
            </a:pPr>
            <a:r>
              <a:rPr lang="en-US" sz="1800" b="0" i="0" dirty="0">
                <a:solidFill>
                  <a:srgbClr val="161616"/>
                </a:solidFill>
                <a:effectLst/>
                <a:latin typeface="Segoe UI" panose="020B0502040204020203" pitchFamily="34" charset="0"/>
              </a:rPr>
              <a:t>Documents and forms</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Audio</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Video</a:t>
            </a:r>
          </a:p>
          <a:p>
            <a:pPr marL="285750" indent="-285750" algn="l">
              <a:spcAft>
                <a:spcPts val="600"/>
              </a:spcAft>
              <a:buClr>
                <a:schemeClr val="accent1"/>
              </a:buClr>
              <a:buSzPct val="110000"/>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algn="l">
              <a:spcAft>
                <a:spcPts val="600"/>
              </a:spcAft>
              <a:buClr>
                <a:schemeClr val="accent1"/>
              </a:buClr>
              <a:buSzPct val="110000"/>
            </a:pPr>
            <a:r>
              <a:rPr lang="en-US" sz="1800" dirty="0">
                <a:solidFill>
                  <a:srgbClr val="161616"/>
                </a:solidFill>
                <a:latin typeface="Segoe UI" panose="020B0502040204020203" pitchFamily="34" charset="0"/>
              </a:rPr>
              <a:t>AI-powered information extraction</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Pre-built and custom analyzers</a:t>
            </a:r>
          </a:p>
          <a:p>
            <a:pPr marL="285750" indent="-285750" algn="l">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Single/Few-shot schema training</a:t>
            </a:r>
          </a:p>
        </p:txBody>
      </p:sp>
      <p:grpSp>
        <p:nvGrpSpPr>
          <p:cNvPr id="48" name="Group 47" descr="A diagram showing the flow of documents and other media through Azure Content Understanding, resulting in structured data.">
            <a:extLst>
              <a:ext uri="{FF2B5EF4-FFF2-40B4-BE49-F238E27FC236}">
                <a16:creationId xmlns:a16="http://schemas.microsoft.com/office/drawing/2014/main" id="{6E1A7D63-F969-50C1-C811-7E0C14C6CD54}"/>
              </a:ext>
            </a:extLst>
          </p:cNvPr>
          <p:cNvGrpSpPr/>
          <p:nvPr/>
        </p:nvGrpSpPr>
        <p:grpSpPr>
          <a:xfrm>
            <a:off x="6518988" y="2066009"/>
            <a:ext cx="4874571" cy="3572381"/>
            <a:chOff x="6526245" y="2254694"/>
            <a:chExt cx="4874571" cy="3572381"/>
          </a:xfrm>
        </p:grpSpPr>
        <p:pic>
          <p:nvPicPr>
            <p:cNvPr id="3" name="Picture 2">
              <a:extLst>
                <a:ext uri="{FF2B5EF4-FFF2-40B4-BE49-F238E27FC236}">
                  <a16:creationId xmlns:a16="http://schemas.microsoft.com/office/drawing/2014/main" id="{091C5245-9566-01FD-83C5-44CE858BC2C1}"/>
                </a:ext>
              </a:extLst>
            </p:cNvPr>
            <p:cNvPicPr>
              <a:picLocks noChangeAspect="1"/>
            </p:cNvPicPr>
            <p:nvPr/>
          </p:nvPicPr>
          <p:blipFill>
            <a:blip r:embed="rId3"/>
            <a:srcRect/>
            <a:stretch/>
          </p:blipFill>
          <p:spPr>
            <a:xfrm>
              <a:off x="8058828" y="3458162"/>
              <a:ext cx="1077685" cy="1077685"/>
            </a:xfrm>
            <a:prstGeom prst="rect">
              <a:avLst/>
            </a:prstGeom>
          </p:spPr>
        </p:pic>
        <p:pic>
          <p:nvPicPr>
            <p:cNvPr id="25" name="Graphic 24" descr="List with solid fill">
              <a:extLst>
                <a:ext uri="{FF2B5EF4-FFF2-40B4-BE49-F238E27FC236}">
                  <a16:creationId xmlns:a16="http://schemas.microsoft.com/office/drawing/2014/main" id="{F6F31B25-6DA6-670A-9E42-711A1610F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9886" y="3539804"/>
              <a:ext cx="914400" cy="914400"/>
            </a:xfrm>
            <a:prstGeom prst="rect">
              <a:avLst/>
            </a:prstGeom>
          </p:spPr>
        </p:pic>
        <p:pic>
          <p:nvPicPr>
            <p:cNvPr id="17" name="Graphic 16" descr="Document with solid fill">
              <a:extLst>
                <a:ext uri="{FF2B5EF4-FFF2-40B4-BE49-F238E27FC236}">
                  <a16:creationId xmlns:a16="http://schemas.microsoft.com/office/drawing/2014/main" id="{530347D7-EE46-EB98-4A10-2ACA6C5DA2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86107" y="3267442"/>
              <a:ext cx="682171" cy="682171"/>
            </a:xfrm>
            <a:prstGeom prst="rect">
              <a:avLst/>
            </a:prstGeom>
          </p:spPr>
        </p:pic>
        <p:grpSp>
          <p:nvGrpSpPr>
            <p:cNvPr id="29" name="Group 28">
              <a:extLst>
                <a:ext uri="{FF2B5EF4-FFF2-40B4-BE49-F238E27FC236}">
                  <a16:creationId xmlns:a16="http://schemas.microsoft.com/office/drawing/2014/main" id="{6267754C-7C17-1619-4192-FDA2660AC7EF}"/>
                </a:ext>
              </a:extLst>
            </p:cNvPr>
            <p:cNvGrpSpPr/>
            <p:nvPr/>
          </p:nvGrpSpPr>
          <p:grpSpPr>
            <a:xfrm>
              <a:off x="6806518" y="4225427"/>
              <a:ext cx="682171" cy="682171"/>
              <a:chOff x="5638800" y="2971800"/>
              <a:chExt cx="914400" cy="914400"/>
            </a:xfrm>
          </p:grpSpPr>
          <p:pic>
            <p:nvPicPr>
              <p:cNvPr id="15" name="Graphic 14" descr="Paper with solid fill">
                <a:extLst>
                  <a:ext uri="{FF2B5EF4-FFF2-40B4-BE49-F238E27FC236}">
                    <a16:creationId xmlns:a16="http://schemas.microsoft.com/office/drawing/2014/main" id="{9238A304-466D-83E2-30B2-634F368082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8800" y="2971800"/>
                <a:ext cx="914400" cy="914400"/>
              </a:xfrm>
              <a:prstGeom prst="rect">
                <a:avLst/>
              </a:prstGeom>
            </p:spPr>
          </p:pic>
          <p:pic>
            <p:nvPicPr>
              <p:cNvPr id="19" name="Graphic 18" descr="Voice with solid fill">
                <a:extLst>
                  <a:ext uri="{FF2B5EF4-FFF2-40B4-BE49-F238E27FC236}">
                    <a16:creationId xmlns:a16="http://schemas.microsoft.com/office/drawing/2014/main" id="{C4D31386-D8F6-376E-2328-CD4A2240E0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8857" y="3248877"/>
                <a:ext cx="473000" cy="473000"/>
              </a:xfrm>
              <a:prstGeom prst="rect">
                <a:avLst/>
              </a:prstGeom>
            </p:spPr>
          </p:pic>
        </p:grpSp>
        <p:grpSp>
          <p:nvGrpSpPr>
            <p:cNvPr id="28" name="Group 27">
              <a:extLst>
                <a:ext uri="{FF2B5EF4-FFF2-40B4-BE49-F238E27FC236}">
                  <a16:creationId xmlns:a16="http://schemas.microsoft.com/office/drawing/2014/main" id="{3918CB5D-F492-BF34-B9DF-198F9D22FF13}"/>
                </a:ext>
              </a:extLst>
            </p:cNvPr>
            <p:cNvGrpSpPr/>
            <p:nvPr/>
          </p:nvGrpSpPr>
          <p:grpSpPr>
            <a:xfrm>
              <a:off x="6806518" y="5144904"/>
              <a:ext cx="682171" cy="682171"/>
              <a:chOff x="6471834" y="3725562"/>
              <a:chExt cx="914400" cy="914400"/>
            </a:xfrm>
          </p:grpSpPr>
          <p:pic>
            <p:nvPicPr>
              <p:cNvPr id="21" name="Graphic 20" descr="Film strip with solid fill">
                <a:extLst>
                  <a:ext uri="{FF2B5EF4-FFF2-40B4-BE49-F238E27FC236}">
                    <a16:creationId xmlns:a16="http://schemas.microsoft.com/office/drawing/2014/main" id="{4437CF2B-2224-63F0-1B83-44FCA242D7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38030" y="4054425"/>
                <a:ext cx="408717" cy="408717"/>
              </a:xfrm>
              <a:prstGeom prst="rect">
                <a:avLst/>
              </a:prstGeom>
            </p:spPr>
          </p:pic>
          <p:pic>
            <p:nvPicPr>
              <p:cNvPr id="26" name="Graphic 25" descr="Paper with solid fill">
                <a:extLst>
                  <a:ext uri="{FF2B5EF4-FFF2-40B4-BE49-F238E27FC236}">
                    <a16:creationId xmlns:a16="http://schemas.microsoft.com/office/drawing/2014/main" id="{287FF2F6-C437-F89F-5C36-CF75BED036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1834" y="3725562"/>
                <a:ext cx="914400" cy="914400"/>
              </a:xfrm>
              <a:prstGeom prst="rect">
                <a:avLst/>
              </a:prstGeom>
            </p:spPr>
          </p:pic>
        </p:grpSp>
        <p:grpSp>
          <p:nvGrpSpPr>
            <p:cNvPr id="30" name="Group 29">
              <a:extLst>
                <a:ext uri="{FF2B5EF4-FFF2-40B4-BE49-F238E27FC236}">
                  <a16:creationId xmlns:a16="http://schemas.microsoft.com/office/drawing/2014/main" id="{5CCEECDC-0CCC-2093-9A81-5A831F9BC9E1}"/>
                </a:ext>
              </a:extLst>
            </p:cNvPr>
            <p:cNvGrpSpPr/>
            <p:nvPr/>
          </p:nvGrpSpPr>
          <p:grpSpPr>
            <a:xfrm>
              <a:off x="6786106" y="2254694"/>
              <a:ext cx="682171" cy="682171"/>
              <a:chOff x="5602514" y="5393724"/>
              <a:chExt cx="914400" cy="914400"/>
            </a:xfrm>
          </p:grpSpPr>
          <p:pic>
            <p:nvPicPr>
              <p:cNvPr id="23" name="Graphic 22" descr="Image with solid fill">
                <a:extLst>
                  <a:ext uri="{FF2B5EF4-FFF2-40B4-BE49-F238E27FC236}">
                    <a16:creationId xmlns:a16="http://schemas.microsoft.com/office/drawing/2014/main" id="{36C17563-B7B1-6EA5-9C63-F91A5E8650F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6028" y="5693751"/>
                <a:ext cx="424020" cy="424020"/>
              </a:xfrm>
              <a:prstGeom prst="rect">
                <a:avLst/>
              </a:prstGeom>
            </p:spPr>
          </p:pic>
          <p:pic>
            <p:nvPicPr>
              <p:cNvPr id="27" name="Graphic 26" descr="Paper with solid fill">
                <a:extLst>
                  <a:ext uri="{FF2B5EF4-FFF2-40B4-BE49-F238E27FC236}">
                    <a16:creationId xmlns:a16="http://schemas.microsoft.com/office/drawing/2014/main" id="{5AE4FB6F-0656-8240-1EFF-2E28B6BB42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2514" y="5393724"/>
                <a:ext cx="914400" cy="914400"/>
              </a:xfrm>
              <a:prstGeom prst="rect">
                <a:avLst/>
              </a:prstGeom>
            </p:spPr>
          </p:pic>
        </p:grpSp>
        <p:grpSp>
          <p:nvGrpSpPr>
            <p:cNvPr id="33" name="Group 32">
              <a:extLst>
                <a:ext uri="{FF2B5EF4-FFF2-40B4-BE49-F238E27FC236}">
                  <a16:creationId xmlns:a16="http://schemas.microsoft.com/office/drawing/2014/main" id="{A6139956-2E6D-E8EE-3AD6-56006BB8844F}"/>
                </a:ext>
              </a:extLst>
            </p:cNvPr>
            <p:cNvGrpSpPr/>
            <p:nvPr/>
          </p:nvGrpSpPr>
          <p:grpSpPr>
            <a:xfrm>
              <a:off x="9376780" y="3603042"/>
              <a:ext cx="566512" cy="716135"/>
              <a:chOff x="9122228" y="2917371"/>
              <a:chExt cx="566512" cy="716135"/>
            </a:xfrm>
          </p:grpSpPr>
          <p:grpSp>
            <p:nvGrpSpPr>
              <p:cNvPr id="13" name="Group 12">
                <a:extLst>
                  <a:ext uri="{FF2B5EF4-FFF2-40B4-BE49-F238E27FC236}">
                    <a16:creationId xmlns:a16="http://schemas.microsoft.com/office/drawing/2014/main" id="{FBEB2383-86A5-F500-1CE5-918A3BC5A770}"/>
                  </a:ext>
                </a:extLst>
              </p:cNvPr>
              <p:cNvGrpSpPr/>
              <p:nvPr/>
            </p:nvGrpSpPr>
            <p:grpSpPr>
              <a:xfrm>
                <a:off x="9122228" y="2917371"/>
                <a:ext cx="508908" cy="631371"/>
                <a:chOff x="6349999" y="3519715"/>
                <a:chExt cx="678543" cy="841827"/>
              </a:xfrm>
              <a:solidFill>
                <a:srgbClr val="0070C0"/>
              </a:solidFill>
            </p:grpSpPr>
            <p:pic>
              <p:nvPicPr>
                <p:cNvPr id="9" name="Graphic 8" descr="Document outline">
                  <a:extLst>
                    <a:ext uri="{FF2B5EF4-FFF2-40B4-BE49-F238E27FC236}">
                      <a16:creationId xmlns:a16="http://schemas.microsoft.com/office/drawing/2014/main" id="{F5F9E7C5-E24E-5587-CFEA-C315F510C3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49999" y="3682999"/>
                  <a:ext cx="678543" cy="678543"/>
                </a:xfrm>
                <a:prstGeom prst="rect">
                  <a:avLst/>
                </a:prstGeom>
              </p:spPr>
            </p:pic>
            <p:sp>
              <p:nvSpPr>
                <p:cNvPr id="11" name="Star: 4 Points 10">
                  <a:extLst>
                    <a:ext uri="{FF2B5EF4-FFF2-40B4-BE49-F238E27FC236}">
                      <a16:creationId xmlns:a16="http://schemas.microsoft.com/office/drawing/2014/main" id="{5FB4ABE4-673A-64D1-8468-ADCA9FC45EAE}"/>
                    </a:ext>
                  </a:extLst>
                </p:cNvPr>
                <p:cNvSpPr/>
                <p:nvPr/>
              </p:nvSpPr>
              <p:spPr bwMode="auto">
                <a:xfrm>
                  <a:off x="6625771" y="3519715"/>
                  <a:ext cx="290286" cy="341814"/>
                </a:xfrm>
                <a:prstGeom prst="star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Star: 4 Points 11">
                  <a:extLst>
                    <a:ext uri="{FF2B5EF4-FFF2-40B4-BE49-F238E27FC236}">
                      <a16:creationId xmlns:a16="http://schemas.microsoft.com/office/drawing/2014/main" id="{75B313CD-DA4F-2A34-24DB-D18C6B262A03}"/>
                    </a:ext>
                  </a:extLst>
                </p:cNvPr>
                <p:cNvSpPr/>
                <p:nvPr/>
              </p:nvSpPr>
              <p:spPr bwMode="auto">
                <a:xfrm>
                  <a:off x="6848929" y="3842657"/>
                  <a:ext cx="179613" cy="179613"/>
                </a:xfrm>
                <a:prstGeom prst="star4">
                  <a:avLst>
                    <a:gd name="adj" fmla="val 23611"/>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pic>
            <p:nvPicPr>
              <p:cNvPr id="32" name="Graphic 31" descr="Single gear with solid fill">
                <a:extLst>
                  <a:ext uri="{FF2B5EF4-FFF2-40B4-BE49-F238E27FC236}">
                    <a16:creationId xmlns:a16="http://schemas.microsoft.com/office/drawing/2014/main" id="{CAC65769-1F6F-3A3F-E5CB-092B46690C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04111" y="3248877"/>
                <a:ext cx="384629" cy="384629"/>
              </a:xfrm>
              <a:prstGeom prst="rect">
                <a:avLst/>
              </a:prstGeom>
            </p:spPr>
          </p:pic>
        </p:grpSp>
        <p:sp>
          <p:nvSpPr>
            <p:cNvPr id="36" name="Right Brace 35">
              <a:extLst>
                <a:ext uri="{FF2B5EF4-FFF2-40B4-BE49-F238E27FC236}">
                  <a16:creationId xmlns:a16="http://schemas.microsoft.com/office/drawing/2014/main" id="{1FDE7ACB-1ECB-31B7-142E-58C78EB827E5}"/>
                </a:ext>
              </a:extLst>
            </p:cNvPr>
            <p:cNvSpPr/>
            <p:nvPr/>
          </p:nvSpPr>
          <p:spPr>
            <a:xfrm>
              <a:off x="7496174" y="2623983"/>
              <a:ext cx="478289" cy="2766263"/>
            </a:xfrm>
            <a:prstGeom prst="rightBrace">
              <a:avLst/>
            </a:prstGeom>
            <a:ln w="381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D5F6E357-DDA0-3B2C-AEC9-5EE3EDEA1E93}"/>
                </a:ext>
              </a:extLst>
            </p:cNvPr>
            <p:cNvCxnSpPr>
              <a:cxnSpLocks/>
            </p:cNvCxnSpPr>
            <p:nvPr/>
          </p:nvCxnSpPr>
          <p:spPr>
            <a:xfrm>
              <a:off x="9071426"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ABE82D3-EE32-FCC6-D884-F96C19E85738}"/>
                </a:ext>
              </a:extLst>
            </p:cNvPr>
            <p:cNvCxnSpPr>
              <a:cxnSpLocks/>
            </p:cNvCxnSpPr>
            <p:nvPr/>
          </p:nvCxnSpPr>
          <p:spPr>
            <a:xfrm>
              <a:off x="9943058"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5169ACB-3FE5-25CC-5195-12989C794EA1}"/>
                </a:ext>
              </a:extLst>
            </p:cNvPr>
            <p:cNvSpPr txBox="1"/>
            <p:nvPr/>
          </p:nvSpPr>
          <p:spPr>
            <a:xfrm rot="16200000">
              <a:off x="6352167" y="2459024"/>
              <a:ext cx="565861" cy="215444"/>
            </a:xfrm>
            <a:prstGeom prst="rect">
              <a:avLst/>
            </a:prstGeom>
            <a:noFill/>
          </p:spPr>
          <p:txBody>
            <a:bodyPr wrap="none" lIns="0" tIns="0" rIns="0" bIns="0" rtlCol="0">
              <a:spAutoFit/>
            </a:bodyPr>
            <a:lstStyle/>
            <a:p>
              <a:pPr algn="l"/>
              <a:r>
                <a:rPr lang="en-US" sz="1400" dirty="0"/>
                <a:t>images</a:t>
              </a:r>
            </a:p>
          </p:txBody>
        </p:sp>
        <p:sp>
          <p:nvSpPr>
            <p:cNvPr id="42" name="TextBox 41">
              <a:extLst>
                <a:ext uri="{FF2B5EF4-FFF2-40B4-BE49-F238E27FC236}">
                  <a16:creationId xmlns:a16="http://schemas.microsoft.com/office/drawing/2014/main" id="{BD8EED02-7E8C-4FF4-B9D8-8B3B264D8BAF}"/>
                </a:ext>
              </a:extLst>
            </p:cNvPr>
            <p:cNvSpPr txBox="1"/>
            <p:nvPr/>
          </p:nvSpPr>
          <p:spPr>
            <a:xfrm rot="16200000">
              <a:off x="6181920" y="3495319"/>
              <a:ext cx="904094" cy="215444"/>
            </a:xfrm>
            <a:prstGeom prst="rect">
              <a:avLst/>
            </a:prstGeom>
            <a:noFill/>
          </p:spPr>
          <p:txBody>
            <a:bodyPr wrap="none" lIns="0" tIns="0" rIns="0" bIns="0" rtlCol="0">
              <a:spAutoFit/>
            </a:bodyPr>
            <a:lstStyle/>
            <a:p>
              <a:pPr algn="l"/>
              <a:r>
                <a:rPr lang="en-US" sz="1400" dirty="0"/>
                <a:t>Documents</a:t>
              </a:r>
            </a:p>
          </p:txBody>
        </p:sp>
        <p:sp>
          <p:nvSpPr>
            <p:cNvPr id="43" name="TextBox 42">
              <a:extLst>
                <a:ext uri="{FF2B5EF4-FFF2-40B4-BE49-F238E27FC236}">
                  <a16:creationId xmlns:a16="http://schemas.microsoft.com/office/drawing/2014/main" id="{B2E26E7C-EBB8-ECEC-5741-3CE1C66910B5}"/>
                </a:ext>
              </a:extLst>
            </p:cNvPr>
            <p:cNvSpPr txBox="1"/>
            <p:nvPr/>
          </p:nvSpPr>
          <p:spPr>
            <a:xfrm rot="16200000">
              <a:off x="6399455" y="4478715"/>
              <a:ext cx="471283" cy="215444"/>
            </a:xfrm>
            <a:prstGeom prst="rect">
              <a:avLst/>
            </a:prstGeom>
            <a:noFill/>
          </p:spPr>
          <p:txBody>
            <a:bodyPr wrap="none" lIns="0" tIns="0" rIns="0" bIns="0" rtlCol="0">
              <a:spAutoFit/>
            </a:bodyPr>
            <a:lstStyle/>
            <a:p>
              <a:pPr algn="l"/>
              <a:r>
                <a:rPr lang="en-US" sz="1400" dirty="0"/>
                <a:t>Audio</a:t>
              </a:r>
            </a:p>
          </p:txBody>
        </p:sp>
        <p:sp>
          <p:nvSpPr>
            <p:cNvPr id="44" name="TextBox 43">
              <a:extLst>
                <a:ext uri="{FF2B5EF4-FFF2-40B4-BE49-F238E27FC236}">
                  <a16:creationId xmlns:a16="http://schemas.microsoft.com/office/drawing/2014/main" id="{C752DD44-7551-717B-2236-68806D09DF22}"/>
                </a:ext>
              </a:extLst>
            </p:cNvPr>
            <p:cNvSpPr txBox="1"/>
            <p:nvPr/>
          </p:nvSpPr>
          <p:spPr>
            <a:xfrm rot="16200000">
              <a:off x="6403135" y="5399121"/>
              <a:ext cx="461665" cy="215444"/>
            </a:xfrm>
            <a:prstGeom prst="rect">
              <a:avLst/>
            </a:prstGeom>
            <a:noFill/>
          </p:spPr>
          <p:txBody>
            <a:bodyPr wrap="none" lIns="0" tIns="0" rIns="0" bIns="0" rtlCol="0">
              <a:spAutoFit/>
            </a:bodyPr>
            <a:lstStyle/>
            <a:p>
              <a:pPr algn="l"/>
              <a:r>
                <a:rPr lang="en-US" sz="1400" dirty="0"/>
                <a:t>Video</a:t>
              </a:r>
            </a:p>
          </p:txBody>
        </p:sp>
        <p:sp>
          <p:nvSpPr>
            <p:cNvPr id="45" name="TextBox 44">
              <a:extLst>
                <a:ext uri="{FF2B5EF4-FFF2-40B4-BE49-F238E27FC236}">
                  <a16:creationId xmlns:a16="http://schemas.microsoft.com/office/drawing/2014/main" id="{C242FC10-3B24-F090-0E5A-BDADC3DCF659}"/>
                </a:ext>
              </a:extLst>
            </p:cNvPr>
            <p:cNvSpPr txBox="1"/>
            <p:nvPr/>
          </p:nvSpPr>
          <p:spPr>
            <a:xfrm>
              <a:off x="7936920" y="4416853"/>
              <a:ext cx="1367461" cy="738664"/>
            </a:xfrm>
            <a:prstGeom prst="rect">
              <a:avLst/>
            </a:prstGeom>
            <a:noFill/>
          </p:spPr>
          <p:txBody>
            <a:bodyPr wrap="square" lIns="0" tIns="0" rIns="0" bIns="0" rtlCol="0">
              <a:spAutoFit/>
            </a:bodyPr>
            <a:lstStyle/>
            <a:p>
              <a:pPr algn="ctr"/>
              <a:r>
                <a:rPr lang="en-US" sz="1600" dirty="0"/>
                <a:t>Azure</a:t>
              </a:r>
            </a:p>
            <a:p>
              <a:pPr algn="ctr"/>
              <a:r>
                <a:rPr lang="en-US" sz="1600" dirty="0"/>
                <a:t>Content Understanding</a:t>
              </a:r>
            </a:p>
          </p:txBody>
        </p:sp>
        <p:sp>
          <p:nvSpPr>
            <p:cNvPr id="46" name="TextBox 45">
              <a:extLst>
                <a:ext uri="{FF2B5EF4-FFF2-40B4-BE49-F238E27FC236}">
                  <a16:creationId xmlns:a16="http://schemas.microsoft.com/office/drawing/2014/main" id="{737658AA-DF53-9528-B7E1-454620C7C3E5}"/>
                </a:ext>
              </a:extLst>
            </p:cNvPr>
            <p:cNvSpPr txBox="1"/>
            <p:nvPr/>
          </p:nvSpPr>
          <p:spPr>
            <a:xfrm>
              <a:off x="8994848" y="4276825"/>
              <a:ext cx="1367461" cy="184666"/>
            </a:xfrm>
            <a:prstGeom prst="rect">
              <a:avLst/>
            </a:prstGeom>
            <a:noFill/>
          </p:spPr>
          <p:txBody>
            <a:bodyPr wrap="square" lIns="0" tIns="0" rIns="0" bIns="0" rtlCol="0">
              <a:spAutoFit/>
            </a:bodyPr>
            <a:lstStyle/>
            <a:p>
              <a:pPr algn="ctr"/>
              <a:r>
                <a:rPr lang="en-US" sz="1200" dirty="0"/>
                <a:t>Analyzer</a:t>
              </a:r>
            </a:p>
          </p:txBody>
        </p:sp>
        <p:sp>
          <p:nvSpPr>
            <p:cNvPr id="47" name="TextBox 46">
              <a:extLst>
                <a:ext uri="{FF2B5EF4-FFF2-40B4-BE49-F238E27FC236}">
                  <a16:creationId xmlns:a16="http://schemas.microsoft.com/office/drawing/2014/main" id="{9218E9C9-3F86-1844-132D-45BC142A1352}"/>
                </a:ext>
              </a:extLst>
            </p:cNvPr>
            <p:cNvSpPr txBox="1"/>
            <p:nvPr/>
          </p:nvSpPr>
          <p:spPr>
            <a:xfrm>
              <a:off x="10033355" y="4423905"/>
              <a:ext cx="1367461" cy="184666"/>
            </a:xfrm>
            <a:prstGeom prst="rect">
              <a:avLst/>
            </a:prstGeom>
            <a:noFill/>
          </p:spPr>
          <p:txBody>
            <a:bodyPr wrap="square" lIns="0" tIns="0" rIns="0" bIns="0" rtlCol="0">
              <a:spAutoFit/>
            </a:bodyPr>
            <a:lstStyle/>
            <a:p>
              <a:pPr algn="ctr"/>
              <a:r>
                <a:rPr lang="en-US" sz="1200" dirty="0"/>
                <a:t>Structured data</a:t>
              </a:r>
            </a:p>
          </p:txBody>
        </p:sp>
      </p:grpSp>
    </p:spTree>
    <p:extLst>
      <p:ext uri="{BB962C8B-B14F-4D97-AF65-F5344CB8AC3E}">
        <p14:creationId xmlns:p14="http://schemas.microsoft.com/office/powerpoint/2010/main" val="165730393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Analyzing images with Content Understanding</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2" name="Group 1">
            <a:extLst>
              <a:ext uri="{FF2B5EF4-FFF2-40B4-BE49-F238E27FC236}">
                <a16:creationId xmlns:a16="http://schemas.microsoft.com/office/drawing/2014/main" id="{47620156-DAFD-16B4-1322-41523AB4F6F3}"/>
              </a:ext>
              <a:ext uri="{C183D7F6-B498-43B3-948B-1728B52AA6E4}">
                <adec:decorative xmlns:adec="http://schemas.microsoft.com/office/drawing/2017/decorative" val="1"/>
              </a:ext>
            </a:extLst>
          </p:cNvPr>
          <p:cNvGrpSpPr/>
          <p:nvPr/>
        </p:nvGrpSpPr>
        <p:grpSpPr>
          <a:xfrm>
            <a:off x="-257561" y="1450494"/>
            <a:ext cx="11751668" cy="3957012"/>
            <a:chOff x="-431732" y="5922654"/>
            <a:chExt cx="11751668" cy="3957012"/>
          </a:xfrm>
        </p:grpSpPr>
        <p:pic>
          <p:nvPicPr>
            <p:cNvPr id="3" name="Picture 2">
              <a:extLst>
                <a:ext uri="{FF2B5EF4-FFF2-40B4-BE49-F238E27FC236}">
                  <a16:creationId xmlns:a16="http://schemas.microsoft.com/office/drawing/2014/main" id="{B9FAEC9F-0922-945C-4E86-6BF80F9BEF5A}"/>
                </a:ext>
              </a:extLst>
            </p:cNvPr>
            <p:cNvPicPr>
              <a:picLocks noChangeAspect="1"/>
            </p:cNvPicPr>
            <p:nvPr/>
          </p:nvPicPr>
          <p:blipFill>
            <a:blip r:embed="rId3"/>
            <a:stretch>
              <a:fillRect/>
            </a:stretch>
          </p:blipFill>
          <p:spPr>
            <a:xfrm>
              <a:off x="-431732" y="5922654"/>
              <a:ext cx="6029734" cy="3957012"/>
            </a:xfrm>
            <a:prstGeom prst="rect">
              <a:avLst/>
            </a:prstGeom>
          </p:spPr>
        </p:pic>
        <p:sp>
          <p:nvSpPr>
            <p:cNvPr id="7" name="TextBox 6">
              <a:extLst>
                <a:ext uri="{FF2B5EF4-FFF2-40B4-BE49-F238E27FC236}">
                  <a16:creationId xmlns:a16="http://schemas.microsoft.com/office/drawing/2014/main" id="{2D9CB1E8-6AAC-2652-74CB-DDF86112FFBE}"/>
                </a:ext>
              </a:extLst>
            </p:cNvPr>
            <p:cNvSpPr txBox="1"/>
            <p:nvPr/>
          </p:nvSpPr>
          <p:spPr>
            <a:xfrm>
              <a:off x="4858469" y="6910625"/>
              <a:ext cx="6461467" cy="1668021"/>
            </a:xfrm>
            <a:prstGeom prst="rect">
              <a:avLst/>
            </a:prstGeom>
            <a:solidFill>
              <a:schemeClr val="bg1">
                <a:lumMod val="95000"/>
              </a:schemeClr>
            </a:solidFill>
          </p:spPr>
          <p:txBody>
            <a:bodyPr wrap="square">
              <a:spAutoFit/>
            </a:bodyPr>
            <a:lstStyle/>
            <a:p>
              <a:pPr>
                <a:lnSpc>
                  <a:spcPct val="150000"/>
                </a:lnSpc>
              </a:pPr>
              <a:r>
                <a:rPr lang="en-US" sz="1400" dirty="0"/>
                <a:t>The image shows a busy underground train station platform with a train passing by at high speed, creating a motion blur effect. Several people are walking along the platform, some appearing blurred due to motion. The station has a curved, arched ceiling with visible metal framework and lighting. A digital signboard above the platform indicates a train arrival in 3 minutes.</a:t>
              </a:r>
            </a:p>
          </p:txBody>
        </p:sp>
        <p:sp>
          <p:nvSpPr>
            <p:cNvPr id="8" name="TextBox 7">
              <a:extLst>
                <a:ext uri="{FF2B5EF4-FFF2-40B4-BE49-F238E27FC236}">
                  <a16:creationId xmlns:a16="http://schemas.microsoft.com/office/drawing/2014/main" id="{AC1F60E4-1B4D-34FF-805E-6861B168AB6B}"/>
                </a:ext>
              </a:extLst>
            </p:cNvPr>
            <p:cNvSpPr txBox="1"/>
            <p:nvPr/>
          </p:nvSpPr>
          <p:spPr>
            <a:xfrm>
              <a:off x="4858469" y="6641943"/>
              <a:ext cx="1673728" cy="246221"/>
            </a:xfrm>
            <a:prstGeom prst="rect">
              <a:avLst/>
            </a:prstGeom>
            <a:noFill/>
          </p:spPr>
          <p:txBody>
            <a:bodyPr wrap="none" lIns="0" tIns="0" rIns="0" bIns="0" rtlCol="0">
              <a:spAutoFit/>
            </a:bodyPr>
            <a:lstStyle/>
            <a:p>
              <a:pPr algn="l"/>
              <a:r>
                <a:rPr lang="en-US" sz="1600" dirty="0">
                  <a:solidFill>
                    <a:schemeClr val="accent1"/>
                  </a:solidFill>
                  <a:latin typeface="+mj-lt"/>
                </a:rPr>
                <a:t>Analysis summary</a:t>
              </a:r>
            </a:p>
          </p:txBody>
        </p:sp>
      </p:grpSp>
    </p:spTree>
    <p:extLst>
      <p:ext uri="{BB962C8B-B14F-4D97-AF65-F5344CB8AC3E}">
        <p14:creationId xmlns:p14="http://schemas.microsoft.com/office/powerpoint/2010/main" val="21373072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80A7-EDA2-9AEE-779F-3D14AE2557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77840C-813D-2707-FBAC-4C45ACEA36B8}"/>
              </a:ext>
            </a:extLst>
          </p:cNvPr>
          <p:cNvSpPr>
            <a:spLocks noGrp="1"/>
          </p:cNvSpPr>
          <p:nvPr>
            <p:ph type="title"/>
          </p:nvPr>
        </p:nvSpPr>
        <p:spPr>
          <a:xfrm>
            <a:off x="588261" y="585216"/>
            <a:ext cx="11015909" cy="492443"/>
          </a:xfrm>
        </p:spPr>
        <p:txBody>
          <a:bodyPr/>
          <a:lstStyle/>
          <a:p>
            <a:r>
              <a:rPr lang="en-US" sz="3200" dirty="0"/>
              <a:t>Analyzing images with Content Understanding</a:t>
            </a:r>
          </a:p>
        </p:txBody>
      </p:sp>
      <p:sp>
        <p:nvSpPr>
          <p:cNvPr id="35" name="Footer Placeholder 34">
            <a:extLst>
              <a:ext uri="{FF2B5EF4-FFF2-40B4-BE49-F238E27FC236}">
                <a16:creationId xmlns:a16="http://schemas.microsoft.com/office/drawing/2014/main" id="{885ACE53-C851-C36F-2CE5-8D4C629811C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5" name="Picture 4" descr="Screenshot of a content understanding studio interface showing an image analyzer tool with a photograph of an elephant standing in dry grassland. The interface includes file upload options, schema settings with fields for description and tags, and buttons for running analysis, saving, and discarding changes.&#10;">
            <a:extLst>
              <a:ext uri="{FF2B5EF4-FFF2-40B4-BE49-F238E27FC236}">
                <a16:creationId xmlns:a16="http://schemas.microsoft.com/office/drawing/2014/main" id="{EE026DF3-B41C-201A-BA60-53C15A677704}"/>
              </a:ext>
            </a:extLst>
          </p:cNvPr>
          <p:cNvPicPr>
            <a:picLocks noChangeAspect="1"/>
          </p:cNvPicPr>
          <p:nvPr/>
        </p:nvPicPr>
        <p:blipFill>
          <a:blip r:embed="rId3"/>
          <a:stretch>
            <a:fillRect/>
          </a:stretch>
        </p:blipFill>
        <p:spPr>
          <a:xfrm>
            <a:off x="481942" y="1295549"/>
            <a:ext cx="5650112" cy="4154984"/>
          </a:xfrm>
          <a:prstGeom prst="rect">
            <a:avLst/>
          </a:prstGeom>
        </p:spPr>
      </p:pic>
      <p:sp>
        <p:nvSpPr>
          <p:cNvPr id="6" name="TextBox 5">
            <a:extLst>
              <a:ext uri="{FF2B5EF4-FFF2-40B4-BE49-F238E27FC236}">
                <a16:creationId xmlns:a16="http://schemas.microsoft.com/office/drawing/2014/main" id="{6C8DE039-3878-8360-1C02-6E08765A15C1}"/>
              </a:ext>
            </a:extLst>
          </p:cNvPr>
          <p:cNvSpPr txBox="1"/>
          <p:nvPr/>
        </p:nvSpPr>
        <p:spPr>
          <a:xfrm>
            <a:off x="1497329" y="5556338"/>
            <a:ext cx="4083414" cy="553998"/>
          </a:xfrm>
          <a:prstGeom prst="rect">
            <a:avLst/>
          </a:prstGeom>
          <a:noFill/>
        </p:spPr>
        <p:txBody>
          <a:bodyPr wrap="square" lIns="0" tIns="0" rIns="0" bIns="0" rtlCol="0">
            <a:spAutoFit/>
          </a:bodyPr>
          <a:lstStyle/>
          <a:p>
            <a:pPr algn="l"/>
            <a:r>
              <a:rPr lang="en-US" sz="1800" dirty="0"/>
              <a:t>Use one or more training images to define a schema for a custom </a:t>
            </a:r>
            <a:r>
              <a:rPr lang="en-US" sz="1800" i="1" dirty="0"/>
              <a:t>analyzer</a:t>
            </a:r>
          </a:p>
        </p:txBody>
      </p:sp>
      <p:sp>
        <p:nvSpPr>
          <p:cNvPr id="16" name="TextBox 15">
            <a:extLst>
              <a:ext uri="{FF2B5EF4-FFF2-40B4-BE49-F238E27FC236}">
                <a16:creationId xmlns:a16="http://schemas.microsoft.com/office/drawing/2014/main" id="{17C173D9-9998-8E1D-8E08-3684F43DA668}"/>
              </a:ext>
            </a:extLst>
          </p:cNvPr>
          <p:cNvSpPr txBox="1"/>
          <p:nvPr/>
        </p:nvSpPr>
        <p:spPr>
          <a:xfrm>
            <a:off x="7240268" y="5556338"/>
            <a:ext cx="3833315" cy="553998"/>
          </a:xfrm>
          <a:prstGeom prst="rect">
            <a:avLst/>
          </a:prstGeom>
          <a:noFill/>
        </p:spPr>
        <p:txBody>
          <a:bodyPr wrap="square" lIns="0" tIns="0" rIns="0" bIns="0" rtlCol="0">
            <a:spAutoFit/>
          </a:bodyPr>
          <a:lstStyle/>
          <a:p>
            <a:pPr algn="l"/>
            <a:r>
              <a:rPr lang="en-US" sz="1800" dirty="0"/>
              <a:t>Use the Content Understanding API to run analyzers and generate results</a:t>
            </a:r>
            <a:endParaRPr lang="en-US" sz="1800" i="1" dirty="0"/>
          </a:p>
        </p:txBody>
      </p:sp>
      <p:grpSp>
        <p:nvGrpSpPr>
          <p:cNvPr id="2" name="Group 1">
            <a:extLst>
              <a:ext uri="{FF2B5EF4-FFF2-40B4-BE49-F238E27FC236}">
                <a16:creationId xmlns:a16="http://schemas.microsoft.com/office/drawing/2014/main" id="{8AF2667D-4708-246D-18F8-EDD3D0A7D513}"/>
              </a:ext>
              <a:ext uri="{C183D7F6-B498-43B3-948B-1728B52AA6E4}">
                <adec:decorative xmlns:adec="http://schemas.microsoft.com/office/drawing/2017/decorative" val="1"/>
              </a:ext>
            </a:extLst>
          </p:cNvPr>
          <p:cNvGrpSpPr/>
          <p:nvPr/>
        </p:nvGrpSpPr>
        <p:grpSpPr>
          <a:xfrm>
            <a:off x="6424215" y="1280149"/>
            <a:ext cx="5767785" cy="4185784"/>
            <a:chOff x="1559755" y="3436580"/>
            <a:chExt cx="5247727" cy="2677656"/>
          </a:xfrm>
        </p:grpSpPr>
        <p:sp>
          <p:nvSpPr>
            <p:cNvPr id="3" name="Rounded Rectangle 22">
              <a:extLst>
                <a:ext uri="{FF2B5EF4-FFF2-40B4-BE49-F238E27FC236}">
                  <a16:creationId xmlns:a16="http://schemas.microsoft.com/office/drawing/2014/main" id="{01AA8231-DF19-A732-51E5-E6DDB39C4EE0}"/>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7" name="TextBox 6">
              <a:extLst>
                <a:ext uri="{FF2B5EF4-FFF2-40B4-BE49-F238E27FC236}">
                  <a16:creationId xmlns:a16="http://schemas.microsoft.com/office/drawing/2014/main" id="{B60324FD-BE28-AFA8-0091-360678B04BC5}"/>
                </a:ext>
              </a:extLst>
            </p:cNvPr>
            <p:cNvSpPr txBox="1"/>
            <p:nvPr/>
          </p:nvSpPr>
          <p:spPr>
            <a:xfrm>
              <a:off x="1627380" y="3451258"/>
              <a:ext cx="5180102" cy="2662978"/>
            </a:xfrm>
            <a:prstGeom prst="rect">
              <a:avLst/>
            </a:prstGeom>
            <a:noFill/>
          </p:spPr>
          <p:txBody>
            <a:bodyPr wrap="square">
              <a:spAutoFit/>
            </a:bodyPr>
            <a:lstStyle/>
            <a:p>
              <a:r>
                <a:rPr lang="en-US" sz="1200" dirty="0">
                  <a:solidFill>
                    <a:srgbClr val="4CBC89"/>
                  </a:solidFill>
                  <a:latin typeface="Consolas" panose="020B0609020204030204" pitchFamily="49" charset="0"/>
                </a:rPr>
                <a:t># Get a Content Understanding client</a:t>
              </a: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ContentUnderstandingClient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endpoint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FOUNDRY_ENDPOINT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KEY_OR_IDENTITY</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api_version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"2025-11-01"</a:t>
              </a:r>
            </a:p>
            <a:p>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Submit an image file to the analyzer</a:t>
              </a:r>
            </a:p>
            <a:p>
              <a:r>
                <a:rPr lang="en-US" sz="1200" dirty="0">
                  <a:solidFill>
                    <a:srgbClr val="5295CD"/>
                  </a:solidFill>
                  <a:latin typeface="Consolas" panose="020B0609020204030204" pitchFamily="49" charset="0"/>
                </a:rPr>
                <a:t>with</a:t>
              </a:r>
              <a:r>
                <a:rPr lang="en-US" sz="1200" dirty="0">
                  <a:solidFill>
                    <a:srgbClr val="ABB2BF"/>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"my_image.png"</a:t>
              </a:r>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rb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f</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file_bytes</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read</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err="1">
                  <a:solidFill>
                    <a:srgbClr val="9CDCFE"/>
                  </a:solidFill>
                  <a:latin typeface="Consolas" panose="020B0609020204030204" pitchFamily="49" charset="0"/>
                </a:rPr>
                <a:t>poller</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begin_analyze</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analyzer_id</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ANALYSER_ID</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inputs</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AnalysisInput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data</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file_bytes</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4CBC89"/>
                  </a:solidFill>
                  <a:latin typeface="Consolas" panose="020B0609020204030204" pitchFamily="49" charset="0"/>
                </a:rPr>
                <a:t># Get results from </a:t>
              </a:r>
              <a:r>
                <a:rPr lang="en-US" sz="1200" dirty="0" err="1">
                  <a:solidFill>
                    <a:srgbClr val="4CBC89"/>
                  </a:solidFill>
                  <a:latin typeface="Consolas" panose="020B0609020204030204" pitchFamily="49" charset="0"/>
                </a:rPr>
                <a:t>poller</a:t>
              </a:r>
              <a:endParaRPr lang="en-US" sz="1200" dirty="0">
                <a:solidFill>
                  <a:srgbClr val="4CBC89"/>
                </a:solidFill>
                <a:latin typeface="Consolas" panose="020B0609020204030204" pitchFamily="49" charset="0"/>
              </a:endParaRPr>
            </a:p>
            <a:p>
              <a:r>
                <a:rPr lang="en-US" sz="1200" dirty="0">
                  <a:solidFill>
                    <a:srgbClr val="9CDCFE"/>
                  </a:solidFill>
                  <a:latin typeface="Consolas" panose="020B0609020204030204" pitchFamily="49" charset="0"/>
                </a:rPr>
                <a:t>result</a:t>
              </a:r>
              <a:r>
                <a:rPr lang="en-US" sz="1200" dirty="0">
                  <a:solidFill>
                    <a:srgbClr val="ABB2BF"/>
                  </a:solidFill>
                  <a:latin typeface="Consolas" panose="020B0609020204030204" pitchFamily="49" charset="0"/>
                </a:rPr>
                <a:t>: </a:t>
              </a:r>
              <a:r>
                <a:rPr lang="en-US" sz="1200" dirty="0" err="1">
                  <a:solidFill>
                    <a:srgbClr val="DCDCAA"/>
                  </a:solidFill>
                  <a:latin typeface="Consolas" panose="020B0609020204030204" pitchFamily="49" charset="0"/>
                </a:rPr>
                <a:t>AnalysisResult</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poller</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result</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Display results</a:t>
              </a:r>
            </a:p>
            <a:p>
              <a:r>
                <a:rPr lang="en-US" sz="1200" dirty="0" err="1">
                  <a:solidFill>
                    <a:srgbClr val="9CDCFE"/>
                  </a:solidFill>
                  <a:latin typeface="Consolas" panose="020B0609020204030204" pitchFamily="49" charset="0"/>
                </a:rPr>
                <a:t>result_str</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ABB2BF"/>
                  </a:solidFill>
                  <a:latin typeface="Consolas" panose="020B0609020204030204" pitchFamily="49" charset="0"/>
                </a:rPr>
                <a:t>json.</a:t>
              </a:r>
              <a:r>
                <a:rPr lang="en-US" sz="1200" dirty="0" err="1">
                  <a:solidFill>
                    <a:srgbClr val="DCDCAA"/>
                  </a:solidFill>
                  <a:latin typeface="Consolas" panose="020B0609020204030204" pitchFamily="49" charset="0"/>
                </a:rPr>
                <a:t>dumps</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a:t>
              </a:r>
              <a:r>
                <a:rPr lang="en-US" sz="1200" dirty="0" err="1">
                  <a:solidFill>
                    <a:srgbClr val="ABB2BF"/>
                  </a:solidFill>
                  <a:latin typeface="Consolas" panose="020B0609020204030204" pitchFamily="49" charset="0"/>
                </a:rPr>
                <a:t>.as_dict</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indent</a:t>
              </a:r>
              <a:r>
                <a:rPr lang="en-US" sz="1200" dirty="0">
                  <a:solidFill>
                    <a:srgbClr val="ABB2BF"/>
                  </a:solidFill>
                  <a:latin typeface="Consolas" panose="020B0609020204030204" pitchFamily="49" charset="0"/>
                </a:rPr>
                <a:t>=2)</a:t>
              </a:r>
            </a:p>
            <a:p>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result_str</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273917685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Analysis results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6" name="Picture 5" descr="Screenshot of Content Understanding Studio, showing a photograph of a person sitting cross-legged on a couch in a living room, using a laptop. Electric guitar is visible next to the couch, with natural light and indoor plants adding to a cozy atmosphere. The analysis results are in a pane to the side of the photograph.">
            <a:extLst>
              <a:ext uri="{FF2B5EF4-FFF2-40B4-BE49-F238E27FC236}">
                <a16:creationId xmlns:a16="http://schemas.microsoft.com/office/drawing/2014/main" id="{8CFFBBC1-8CEE-406C-97C2-1D94332C3175}"/>
              </a:ext>
            </a:extLst>
          </p:cNvPr>
          <p:cNvPicPr>
            <a:picLocks noChangeAspect="1"/>
          </p:cNvPicPr>
          <p:nvPr/>
        </p:nvPicPr>
        <p:blipFill>
          <a:blip r:embed="rId3"/>
          <a:stretch>
            <a:fillRect/>
          </a:stretch>
        </p:blipFill>
        <p:spPr>
          <a:xfrm>
            <a:off x="4950200" y="1548384"/>
            <a:ext cx="6031503" cy="4724400"/>
          </a:xfrm>
          <a:prstGeom prst="rect">
            <a:avLst/>
          </a:prstGeom>
          <a:ln>
            <a:solidFill>
              <a:schemeClr val="bg1">
                <a:lumMod val="75000"/>
              </a:schemeClr>
            </a:solidFill>
          </a:ln>
        </p:spPr>
      </p:pic>
      <p:pic>
        <p:nvPicPr>
          <p:cNvPr id="3" name="Picture 2" descr="Screenshot of Content Understanding Studio showing a photograph of a person sitting on a purple couch with legs crossed, using a laptop, in a cozy living room setting. Key elements include an electric guitar resting on the couch, plants in the foreground, and a wooden coffee table with items on it, with the person dressed casually in a gray t-shirt and blue jeans. The analysis results are shown by field in a pane next to the photo.">
            <a:extLst>
              <a:ext uri="{FF2B5EF4-FFF2-40B4-BE49-F238E27FC236}">
                <a16:creationId xmlns:a16="http://schemas.microsoft.com/office/drawing/2014/main" id="{DB7B3B7A-67CB-6EB1-2E3E-47976EEEC052}"/>
              </a:ext>
            </a:extLst>
          </p:cNvPr>
          <p:cNvPicPr>
            <a:picLocks noChangeAspect="1"/>
          </p:cNvPicPr>
          <p:nvPr/>
        </p:nvPicPr>
        <p:blipFill>
          <a:blip r:embed="rId4"/>
          <a:stretch>
            <a:fillRect/>
          </a:stretch>
        </p:blipFill>
        <p:spPr>
          <a:xfrm>
            <a:off x="1014865" y="1150534"/>
            <a:ext cx="5879419" cy="4570477"/>
          </a:xfrm>
          <a:prstGeom prst="rect">
            <a:avLst/>
          </a:prstGeom>
          <a:ln>
            <a:solidFill>
              <a:schemeClr val="bg1">
                <a:lumMod val="75000"/>
              </a:schemeClr>
            </a:solidFill>
          </a:ln>
        </p:spPr>
      </p:pic>
    </p:spTree>
    <p:extLst>
      <p:ext uri="{BB962C8B-B14F-4D97-AF65-F5344CB8AC3E}">
        <p14:creationId xmlns:p14="http://schemas.microsoft.com/office/powerpoint/2010/main" val="273527971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C4BA-1797-D27C-FF70-FC118A402B6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F1D4D4-CDB5-8A6B-7B7C-95EDCD5CB06C}"/>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9F36D34A-029A-B84E-FD6A-FB828018BB53}"/>
              </a:ext>
            </a:extLst>
          </p:cNvPr>
          <p:cNvSpPr>
            <a:spLocks noGrp="1"/>
          </p:cNvSpPr>
          <p:nvPr>
            <p:ph type="body" sz="quarter" idx="16"/>
          </p:nvPr>
        </p:nvSpPr>
        <p:spPr>
          <a:xfrm>
            <a:off x="584199" y="1594155"/>
            <a:ext cx="5932715" cy="615553"/>
          </a:xfrm>
        </p:spPr>
        <p:txBody>
          <a:bodyPr/>
          <a:lstStyle/>
          <a:p>
            <a:r>
              <a:rPr lang="en-US" sz="2000" dirty="0"/>
              <a:t>Analyze images with Azure Content Understanding</a:t>
            </a:r>
          </a:p>
        </p:txBody>
      </p:sp>
      <p:sp>
        <p:nvSpPr>
          <p:cNvPr id="6" name="Text Placeholder 5">
            <a:extLst>
              <a:ext uri="{FF2B5EF4-FFF2-40B4-BE49-F238E27FC236}">
                <a16:creationId xmlns:a16="http://schemas.microsoft.com/office/drawing/2014/main" id="{85CEA152-B7FC-4EC3-972B-0345482ACCE2}"/>
              </a:ext>
            </a:extLst>
          </p:cNvPr>
          <p:cNvSpPr>
            <a:spLocks noGrp="1"/>
          </p:cNvSpPr>
          <p:nvPr>
            <p:ph type="body" sz="quarter" idx="15"/>
          </p:nvPr>
        </p:nvSpPr>
        <p:spPr>
          <a:xfrm>
            <a:off x="586390" y="2085764"/>
            <a:ext cx="5509610"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Create an image analyzer in Azure Content Understanding</a:t>
            </a:r>
          </a:p>
          <a:p>
            <a:r>
              <a:rPr lang="en-US" dirty="0"/>
              <a:t>Use the Content Understanding API to submit images for analysis</a:t>
            </a:r>
          </a:p>
        </p:txBody>
      </p:sp>
      <p:sp>
        <p:nvSpPr>
          <p:cNvPr id="10" name="TextBox 9">
            <a:extLst>
              <a:ext uri="{FF2B5EF4-FFF2-40B4-BE49-F238E27FC236}">
                <a16:creationId xmlns:a16="http://schemas.microsoft.com/office/drawing/2014/main" id="{A0F5B7AA-9422-9E06-8356-C7C2B94892E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https://go.microsoft.com/fwlink/?linkid=2356972</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B8BE9ADA-19DF-6468-CA96-F1C0B135EB7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D7563974-566D-F7E9-66DD-D7B3C09EE874}"/>
              </a:ext>
              <a:ext uri="{C183D7F6-B498-43B3-948B-1728B52AA6E4}">
                <adec:decorative xmlns:adec="http://schemas.microsoft.com/office/drawing/2017/decorative" val="1"/>
              </a:ext>
            </a:extLst>
          </p:cNvPr>
          <p:cNvPicPr>
            <a:picLocks noChangeAspect="1"/>
          </p:cNvPicPr>
          <p:nvPr/>
        </p:nvPicPr>
        <p:blipFill>
          <a:blip r:embed="rId4"/>
          <a:srcRect t="505" b="505"/>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50CFC637-DF0C-D923-2494-D1DB11DD23D0}"/>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8637865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5585-DBF8-782C-33D7-76B04196F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88FF5-8A54-2B3F-F784-678FDA6202EE}"/>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7EC1A9EC-28E9-9BD5-B24B-434B280AB9FB}"/>
              </a:ext>
            </a:extLst>
          </p:cNvPr>
          <p:cNvSpPr>
            <a:spLocks noGrp="1"/>
          </p:cNvSpPr>
          <p:nvPr>
            <p:ph type="body" sz="quarter" idx="17"/>
          </p:nvPr>
        </p:nvSpPr>
        <p:spPr>
          <a:xfrm>
            <a:off x="1235074" y="2348106"/>
            <a:ext cx="9024803" cy="430887"/>
          </a:xfrm>
        </p:spPr>
        <p:txBody>
          <a:bodyPr/>
          <a:lstStyle/>
          <a:p>
            <a:r>
              <a:rPr lang="en-US" b="1" dirty="0"/>
              <a:t>You want to find a model in Microsoft Foundry to generate images. Which inference task should you filter by?</a:t>
            </a:r>
          </a:p>
        </p:txBody>
      </p:sp>
      <p:sp>
        <p:nvSpPr>
          <p:cNvPr id="9" name="Text Placeholder 8">
            <a:extLst>
              <a:ext uri="{FF2B5EF4-FFF2-40B4-BE49-F238E27FC236}">
                <a16:creationId xmlns:a16="http://schemas.microsoft.com/office/drawing/2014/main" id="{46E5798E-0AA9-228A-320E-2161C9A4D92C}"/>
              </a:ext>
            </a:extLst>
          </p:cNvPr>
          <p:cNvSpPr>
            <a:spLocks noGrp="1"/>
          </p:cNvSpPr>
          <p:nvPr>
            <p:ph type="body" sz="quarter" idx="15"/>
          </p:nvPr>
        </p:nvSpPr>
        <p:spPr>
          <a:xfrm>
            <a:off x="1235075" y="2673319"/>
            <a:ext cx="8775098" cy="732508"/>
          </a:xfrm>
          <a:noFill/>
        </p:spPr>
        <p:txBody>
          <a:bodyPr/>
          <a:lstStyle/>
          <a:p>
            <a:r>
              <a:rPr lang="en-US" noProof="0" dirty="0"/>
              <a:t>Text to image</a:t>
            </a:r>
          </a:p>
          <a:p>
            <a:r>
              <a:rPr lang="en-US" noProof="0" dirty="0"/>
              <a:t>Image to text</a:t>
            </a:r>
          </a:p>
          <a:p>
            <a:r>
              <a:rPr lang="en-US" noProof="0" dirty="0"/>
              <a:t>Embeddings</a:t>
            </a:r>
          </a:p>
        </p:txBody>
      </p:sp>
      <p:sp>
        <p:nvSpPr>
          <p:cNvPr id="18" name="Text Placeholder 17">
            <a:extLst>
              <a:ext uri="{FF2B5EF4-FFF2-40B4-BE49-F238E27FC236}">
                <a16:creationId xmlns:a16="http://schemas.microsoft.com/office/drawing/2014/main" id="{489E215E-4A79-F742-3F45-4D8527F5561C}"/>
              </a:ext>
            </a:extLst>
          </p:cNvPr>
          <p:cNvSpPr>
            <a:spLocks noGrp="1"/>
          </p:cNvSpPr>
          <p:nvPr>
            <p:ph type="body" sz="quarter" idx="22"/>
          </p:nvPr>
        </p:nvSpPr>
        <p:spPr>
          <a:xfrm>
            <a:off x="1235075" y="4081535"/>
            <a:ext cx="8778782" cy="215444"/>
          </a:xfrm>
        </p:spPr>
        <p:txBody>
          <a:bodyPr/>
          <a:lstStyle/>
          <a:p>
            <a:r>
              <a:rPr lang="en-US" b="1" dirty="0"/>
              <a:t>Which OpenAI API can you use with image-generation models?</a:t>
            </a:r>
            <a:endParaRPr lang="en-US" noProof="0" dirty="0"/>
          </a:p>
        </p:txBody>
      </p:sp>
      <p:sp>
        <p:nvSpPr>
          <p:cNvPr id="19" name="Text Placeholder 18">
            <a:extLst>
              <a:ext uri="{FF2B5EF4-FFF2-40B4-BE49-F238E27FC236}">
                <a16:creationId xmlns:a16="http://schemas.microsoft.com/office/drawing/2014/main" id="{7585EBAE-8264-DA88-2574-A0F1C323047B}"/>
              </a:ext>
            </a:extLst>
          </p:cNvPr>
          <p:cNvSpPr>
            <a:spLocks noGrp="1"/>
          </p:cNvSpPr>
          <p:nvPr>
            <p:ph type="body" sz="quarter" idx="23"/>
          </p:nvPr>
        </p:nvSpPr>
        <p:spPr>
          <a:xfrm>
            <a:off x="1235074" y="4383273"/>
            <a:ext cx="8775098" cy="732508"/>
          </a:xfrm>
        </p:spPr>
        <p:txBody>
          <a:bodyPr/>
          <a:lstStyle/>
          <a:p>
            <a:r>
              <a:rPr lang="en-US" dirty="0"/>
              <a:t>Video</a:t>
            </a:r>
          </a:p>
          <a:p>
            <a:r>
              <a:rPr lang="en-US" dirty="0"/>
              <a:t>Image</a:t>
            </a:r>
          </a:p>
          <a:p>
            <a:r>
              <a:rPr lang="en-US" dirty="0"/>
              <a:t>Graphics</a:t>
            </a:r>
          </a:p>
        </p:txBody>
      </p:sp>
      <p:sp>
        <p:nvSpPr>
          <p:cNvPr id="76" name="Oval 75">
            <a:extLst>
              <a:ext uri="{FF2B5EF4-FFF2-40B4-BE49-F238E27FC236}">
                <a16:creationId xmlns:a16="http://schemas.microsoft.com/office/drawing/2014/main" id="{A4CB02A0-68FF-FF0A-AB16-7560E2622365}"/>
              </a:ext>
              <a:ext uri="{C183D7F6-B498-43B3-948B-1728B52AA6E4}">
                <adec:decorative xmlns:adec="http://schemas.microsoft.com/office/drawing/2017/decorative" val="1"/>
              </a:ext>
            </a:extLst>
          </p:cNvPr>
          <p:cNvSpPr>
            <a:spLocks/>
          </p:cNvSpPr>
          <p:nvPr/>
        </p:nvSpPr>
        <p:spPr bwMode="auto">
          <a:xfrm>
            <a:off x="722582" y="22546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6CF5213-14A5-9A54-5AED-56C8A725CCF6}"/>
              </a:ext>
              <a:ext uri="{C183D7F6-B498-43B3-948B-1728B52AA6E4}">
                <adec:decorative xmlns:adec="http://schemas.microsoft.com/office/drawing/2017/decorative" val="1"/>
              </a:ext>
            </a:extLst>
          </p:cNvPr>
          <p:cNvSpPr>
            <a:spLocks/>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A6F2A190-CF0E-84ED-2DE8-271882285E48}"/>
              </a:ext>
              <a:ext uri="{C183D7F6-B498-43B3-948B-1728B52AA6E4}">
                <adec:decorative xmlns:adec="http://schemas.microsoft.com/office/drawing/2017/decorative" val="1"/>
              </a:ext>
            </a:extLst>
          </p:cNvPr>
          <p:cNvSpPr>
            <a:spLocks/>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CB1A4439-0A67-BE55-4B20-DE24F3DC30E7}"/>
              </a:ext>
              <a:ext uri="{C183D7F6-B498-43B3-948B-1728B52AA6E4}">
                <adec:decorative xmlns:adec="http://schemas.microsoft.com/office/drawing/2017/decorative" val="1"/>
              </a:ext>
            </a:extLst>
          </p:cNvPr>
          <p:cNvSpPr>
            <a:spLocks/>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9E209B65-35BA-BD4D-15A6-161C378E43A2}"/>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35307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665B-9064-6386-0BF5-81006DD52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A478E-B67A-456F-2C2D-FCCBB2CF9FC7}"/>
              </a:ext>
            </a:extLst>
          </p:cNvPr>
          <p:cNvSpPr>
            <a:spLocks noGrp="1"/>
          </p:cNvSpPr>
          <p:nvPr>
            <p:ph type="title"/>
          </p:nvPr>
        </p:nvSpPr>
        <p:spPr>
          <a:xfrm>
            <a:off x="569911" y="2892167"/>
            <a:ext cx="6984775" cy="1107996"/>
          </a:xfrm>
        </p:spPr>
        <p:txBody>
          <a:bodyPr/>
          <a:lstStyle/>
          <a:p>
            <a:r>
              <a:rPr lang="en-US" sz="3600" dirty="0"/>
              <a:t>Analyze documents with</a:t>
            </a:r>
            <a:br>
              <a:rPr lang="en-US" sz="3600" dirty="0"/>
            </a:br>
            <a:r>
              <a:rPr lang="en-US" sz="3600" dirty="0"/>
              <a:t>Content Understanding</a:t>
            </a:r>
            <a:endParaRPr lang="en-US" sz="3600" noProof="0" dirty="0"/>
          </a:p>
        </p:txBody>
      </p:sp>
      <p:sp>
        <p:nvSpPr>
          <p:cNvPr id="4" name="TextBox 3">
            <a:extLst>
              <a:ext uri="{FF2B5EF4-FFF2-40B4-BE49-F238E27FC236}">
                <a16:creationId xmlns:a16="http://schemas.microsoft.com/office/drawing/2014/main" id="{C9B660BC-B018-4D15-98E4-AC6B45B0578A}"/>
              </a:ext>
            </a:extLst>
          </p:cNvPr>
          <p:cNvSpPr txBox="1"/>
          <p:nvPr/>
        </p:nvSpPr>
        <p:spPr>
          <a:xfrm>
            <a:off x="478471" y="4000163"/>
            <a:ext cx="5879298" cy="635559"/>
          </a:xfrm>
          <a:prstGeom prst="rect">
            <a:avLst/>
          </a:prstGeom>
          <a:noFill/>
        </p:spPr>
        <p:txBody>
          <a:bodyPr wrap="square">
            <a:spAutoFit/>
          </a:bodyPr>
          <a:lstStyle/>
          <a:p>
            <a:r>
              <a:rPr lang="en-US" dirty="0">
                <a:solidFill>
                  <a:schemeClr val="accent2"/>
                </a:solidFill>
              </a:rPr>
              <a:t>https://aka.ms/mslearn-analyze-content-understanding</a:t>
            </a:r>
          </a:p>
          <a:p>
            <a:r>
              <a:rPr lang="en-US" dirty="0">
                <a:solidFill>
                  <a:schemeClr val="accent2"/>
                </a:solidFill>
              </a:rPr>
              <a:t>https://aka.ms/mslearn-ai-content-understanding-api</a:t>
            </a:r>
            <a:endParaRPr lang="en-US" dirty="0">
              <a:solidFill>
                <a:schemeClr val="accent2"/>
              </a:solidFill>
              <a:highlight>
                <a:srgbClr val="FFFF00"/>
              </a:highlight>
            </a:endParaRPr>
          </a:p>
        </p:txBody>
      </p:sp>
    </p:spTree>
    <p:extLst>
      <p:ext uri="{BB962C8B-B14F-4D97-AF65-F5344CB8AC3E}">
        <p14:creationId xmlns:p14="http://schemas.microsoft.com/office/powerpoint/2010/main" val="1459831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documents</a:t>
            </a:r>
          </a:p>
        </p:txBody>
      </p:sp>
      <p:sp>
        <p:nvSpPr>
          <p:cNvPr id="10" name="TextBox 9">
            <a:extLst>
              <a:ext uri="{FF2B5EF4-FFF2-40B4-BE49-F238E27FC236}">
                <a16:creationId xmlns:a16="http://schemas.microsoft.com/office/drawing/2014/main" id="{9801FE67-9B0C-F188-1FFE-85F12BED7C77}"/>
              </a:ext>
            </a:extLst>
          </p:cNvPr>
          <p:cNvSpPr txBox="1"/>
          <p:nvPr/>
        </p:nvSpPr>
        <p:spPr>
          <a:xfrm>
            <a:off x="449580" y="1902348"/>
            <a:ext cx="4800600" cy="1754326"/>
          </a:xfrm>
          <a:prstGeom prst="rect">
            <a:avLst/>
          </a:prstGeom>
          <a:noFill/>
        </p:spPr>
        <p:txBody>
          <a:bodyPr wrap="square">
            <a:spAutoFit/>
          </a:bodyPr>
          <a:lstStyle/>
          <a:p>
            <a:r>
              <a:rPr lang="en-US" sz="1800" dirty="0">
                <a:solidFill>
                  <a:srgbClr val="171717"/>
                </a:solidFill>
                <a:latin typeface="Segoe UI" panose="020B0502040204020203" pitchFamily="34" charset="0"/>
              </a:rPr>
              <a:t>U</a:t>
            </a:r>
            <a:r>
              <a:rPr lang="en-US" sz="1800" b="0" i="0" dirty="0">
                <a:solidFill>
                  <a:srgbClr val="171717"/>
                </a:solidFill>
                <a:effectLst/>
                <a:latin typeface="Segoe UI" panose="020B0502040204020203" pitchFamily="34" charset="0"/>
              </a:rPr>
              <a:t>se Content Understanding to analyze documents and forms and retrieve specific field values</a:t>
            </a:r>
            <a:endParaRPr lang="en-US" sz="1800" dirty="0">
              <a:solidFill>
                <a:srgbClr val="171717"/>
              </a:solidFill>
              <a:latin typeface="Segoe UI" panose="020B0502040204020203" pitchFamily="34" charset="0"/>
            </a:endParaRPr>
          </a:p>
          <a:p>
            <a:endParaRPr lang="en-US" sz="1800" b="0" i="0" dirty="0">
              <a:solidFill>
                <a:srgbClr val="171717"/>
              </a:solidFill>
              <a:effectLst/>
              <a:latin typeface="Segoe UI" panose="020B0502040204020203" pitchFamily="34" charset="0"/>
            </a:endParaRPr>
          </a:p>
          <a:p>
            <a:r>
              <a:rPr lang="en-US" sz="1800" b="0" i="0" dirty="0">
                <a:solidFill>
                  <a:srgbClr val="171717"/>
                </a:solidFill>
                <a:effectLst/>
                <a:latin typeface="Segoe UI" panose="020B0502040204020203" pitchFamily="34" charset="0"/>
              </a:rPr>
              <a:t>For example, extract key data values from an invoice to automate payment processing</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3" name="Picture 2" descr="Screenshot of a software interface displaying a document analysis tool with a sample invoice. The interface highlights extracted fields such as InvoiceNumber, InvoiceDate, DueDate, and InvoiceAmount with color-coded labels and confidence scores, showing structured data extraction and validation results.">
            <a:extLst>
              <a:ext uri="{FF2B5EF4-FFF2-40B4-BE49-F238E27FC236}">
                <a16:creationId xmlns:a16="http://schemas.microsoft.com/office/drawing/2014/main" id="{124F9288-C506-2C4F-476F-36B27679FC4F}"/>
              </a:ext>
            </a:extLst>
          </p:cNvPr>
          <p:cNvPicPr>
            <a:picLocks noChangeAspect="1"/>
          </p:cNvPicPr>
          <p:nvPr/>
        </p:nvPicPr>
        <p:blipFill>
          <a:blip r:embed="rId3"/>
          <a:stretch>
            <a:fillRect/>
          </a:stretch>
        </p:blipFill>
        <p:spPr>
          <a:xfrm>
            <a:off x="5124765" y="1401534"/>
            <a:ext cx="6720782" cy="4054931"/>
          </a:xfrm>
          <a:prstGeom prst="rect">
            <a:avLst/>
          </a:prstGeom>
        </p:spPr>
      </p:pic>
    </p:spTree>
    <p:extLst>
      <p:ext uri="{BB962C8B-B14F-4D97-AF65-F5344CB8AC3E}">
        <p14:creationId xmlns:p14="http://schemas.microsoft.com/office/powerpoint/2010/main" val="349208928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audio</a:t>
            </a:r>
          </a:p>
        </p:txBody>
      </p:sp>
      <p:sp>
        <p:nvSpPr>
          <p:cNvPr id="3" name="TextBox 2">
            <a:extLst>
              <a:ext uri="{FF2B5EF4-FFF2-40B4-BE49-F238E27FC236}">
                <a16:creationId xmlns:a16="http://schemas.microsoft.com/office/drawing/2014/main" id="{C0EB7954-7B5D-47FA-2D93-71F947275603}"/>
              </a:ext>
            </a:extLst>
          </p:cNvPr>
          <p:cNvSpPr txBox="1"/>
          <p:nvPr/>
        </p:nvSpPr>
        <p:spPr>
          <a:xfrm>
            <a:off x="449580" y="1902348"/>
            <a:ext cx="4485277" cy="2185214"/>
          </a:xfrm>
          <a:prstGeom prst="rect">
            <a:avLst/>
          </a:prstGeom>
          <a:noFill/>
        </p:spPr>
        <p:txBody>
          <a:bodyPr wrap="square">
            <a:spAutoFit/>
          </a:bodyPr>
          <a:lstStyle/>
          <a:p>
            <a:pPr>
              <a:spcAft>
                <a:spcPts val="1200"/>
              </a:spcAft>
            </a:pPr>
            <a:r>
              <a:rPr lang="en-US" sz="1800" dirty="0">
                <a:solidFill>
                  <a:srgbClr val="171717"/>
                </a:solidFill>
                <a:latin typeface="Segoe UI" panose="020B0502040204020203" pitchFamily="34" charset="0"/>
              </a:rPr>
              <a:t>A</a:t>
            </a:r>
            <a:r>
              <a:rPr lang="en-US" sz="1800" b="0" i="0" dirty="0">
                <a:solidFill>
                  <a:srgbClr val="171717"/>
                </a:solidFill>
                <a:effectLst/>
                <a:latin typeface="Segoe UI" panose="020B0502040204020203" pitchFamily="34" charset="0"/>
              </a:rPr>
              <a:t>nalyze audio to: </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Summarize conference calls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Determine sentiment of recorded customer conversations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Extract key data from telephone messages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6" name="Picture 5" descr="Screenshot of an audio file being analyzed by Content Understanding.">
            <a:extLst>
              <a:ext uri="{FF2B5EF4-FFF2-40B4-BE49-F238E27FC236}">
                <a16:creationId xmlns:a16="http://schemas.microsoft.com/office/drawing/2014/main" id="{B94CACF4-4FE1-A60F-7666-A19EB808DD35}"/>
              </a:ext>
            </a:extLst>
          </p:cNvPr>
          <p:cNvPicPr>
            <a:picLocks noChangeAspect="1"/>
          </p:cNvPicPr>
          <p:nvPr/>
        </p:nvPicPr>
        <p:blipFill>
          <a:blip r:embed="rId3"/>
          <a:stretch>
            <a:fillRect/>
          </a:stretch>
        </p:blipFill>
        <p:spPr>
          <a:xfrm>
            <a:off x="5078295" y="1369477"/>
            <a:ext cx="6765725" cy="4119045"/>
          </a:xfrm>
          <a:prstGeom prst="rect">
            <a:avLst/>
          </a:prstGeom>
        </p:spPr>
      </p:pic>
    </p:spTree>
    <p:extLst>
      <p:ext uri="{BB962C8B-B14F-4D97-AF65-F5344CB8AC3E}">
        <p14:creationId xmlns:p14="http://schemas.microsoft.com/office/powerpoint/2010/main" val="257405660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video</a:t>
            </a:r>
          </a:p>
        </p:txBody>
      </p:sp>
      <p:sp>
        <p:nvSpPr>
          <p:cNvPr id="3" name="TextBox 2">
            <a:extLst>
              <a:ext uri="{FF2B5EF4-FFF2-40B4-BE49-F238E27FC236}">
                <a16:creationId xmlns:a16="http://schemas.microsoft.com/office/drawing/2014/main" id="{AC8BBFAD-B867-E19A-597C-DD07F911E6CA}"/>
              </a:ext>
            </a:extLst>
          </p:cNvPr>
          <p:cNvSpPr txBox="1"/>
          <p:nvPr/>
        </p:nvSpPr>
        <p:spPr>
          <a:xfrm>
            <a:off x="449580" y="1902348"/>
            <a:ext cx="4151312" cy="2185214"/>
          </a:xfrm>
          <a:prstGeom prst="rect">
            <a:avLst/>
          </a:prstGeom>
          <a:noFill/>
        </p:spPr>
        <p:txBody>
          <a:bodyPr wrap="square">
            <a:spAutoFit/>
          </a:bodyPr>
          <a:lstStyle/>
          <a:p>
            <a:pPr>
              <a:spcAft>
                <a:spcPts val="1200"/>
              </a:spcAft>
            </a:pPr>
            <a:r>
              <a:rPr lang="en-US" sz="1800" dirty="0">
                <a:solidFill>
                  <a:srgbClr val="171717"/>
                </a:solidFill>
                <a:latin typeface="Segoe UI" panose="020B0502040204020203" pitchFamily="34" charset="0"/>
              </a:rPr>
              <a:t>A</a:t>
            </a:r>
            <a:r>
              <a:rPr lang="en-US" sz="1800" b="0" i="0" dirty="0">
                <a:solidFill>
                  <a:srgbClr val="171717"/>
                </a:solidFill>
                <a:effectLst/>
                <a:latin typeface="Segoe UI" panose="020B0502040204020203" pitchFamily="34" charset="0"/>
              </a:rPr>
              <a:t>nalyze video to:</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Extract key points from video conference recordings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Summarize presentations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Detect the presence of specific activity in security footage</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7" name="Picture 6" descr="Screenshot of an video file being analyzed by Content Understanding.">
            <a:extLst>
              <a:ext uri="{FF2B5EF4-FFF2-40B4-BE49-F238E27FC236}">
                <a16:creationId xmlns:a16="http://schemas.microsoft.com/office/drawing/2014/main" id="{99D78B0B-5F79-6F38-385B-AA4052A40189}"/>
              </a:ext>
            </a:extLst>
          </p:cNvPr>
          <p:cNvPicPr>
            <a:picLocks noChangeAspect="1"/>
          </p:cNvPicPr>
          <p:nvPr/>
        </p:nvPicPr>
        <p:blipFill>
          <a:blip r:embed="rId3"/>
          <a:stretch>
            <a:fillRect/>
          </a:stretch>
        </p:blipFill>
        <p:spPr>
          <a:xfrm>
            <a:off x="4974990" y="1369477"/>
            <a:ext cx="6767430" cy="4119045"/>
          </a:xfrm>
          <a:prstGeom prst="rect">
            <a:avLst/>
          </a:prstGeom>
        </p:spPr>
      </p:pic>
    </p:spTree>
    <p:extLst>
      <p:ext uri="{BB962C8B-B14F-4D97-AF65-F5344CB8AC3E}">
        <p14:creationId xmlns:p14="http://schemas.microsoft.com/office/powerpoint/2010/main" val="91356169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Creating an analyzer</a:t>
            </a:r>
          </a:p>
        </p:txBody>
      </p:sp>
      <p:sp>
        <p:nvSpPr>
          <p:cNvPr id="47" name="TextBox 46">
            <a:extLst>
              <a:ext uri="{FF2B5EF4-FFF2-40B4-BE49-F238E27FC236}">
                <a16:creationId xmlns:a16="http://schemas.microsoft.com/office/drawing/2014/main" id="{5701AC1B-CD99-87D0-F2D8-BF0FC7EDD400}"/>
              </a:ext>
            </a:extLst>
          </p:cNvPr>
          <p:cNvSpPr txBox="1"/>
          <p:nvPr/>
        </p:nvSpPr>
        <p:spPr>
          <a:xfrm>
            <a:off x="729683" y="2250360"/>
            <a:ext cx="5184471" cy="2769989"/>
          </a:xfrm>
          <a:prstGeom prst="rect">
            <a:avLst/>
          </a:prstGeom>
          <a:noFill/>
        </p:spPr>
        <p:txBody>
          <a:bodyPr wrap="square" lIns="0" tIns="0" rIns="0" bIns="0" rtlCol="0">
            <a:spAutoFit/>
          </a:bodyPr>
          <a:lstStyle/>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Create a Microsoft Foundry project</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Define a Content Understanding schema for the information to be extracted</a:t>
            </a:r>
          </a:p>
          <a:p>
            <a:pPr marL="798512" lvl="1" indent="-342900">
              <a:buClr>
                <a:schemeClr val="tx1"/>
              </a:buClr>
              <a:buFont typeface="Arial" panose="020B0604020202020204" pitchFamily="34" charset="0"/>
              <a:buChar char="•"/>
            </a:pPr>
            <a:r>
              <a:rPr lang="en-US" sz="1800" dirty="0">
                <a:solidFill>
                  <a:sysClr val="windowText" lastClr="000000"/>
                </a:solidFill>
                <a:latin typeface="Segoe UI" panose="020B0502040204020203" pitchFamily="34" charset="0"/>
              </a:rPr>
              <a:t>This can be based on a content sample and an analyzer template</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Build an analyzer based on the completed schema</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Use the analyzer to extract or generate fields from new content</a:t>
            </a:r>
          </a:p>
          <a:p>
            <a:pPr marL="457200" indent="-457200" algn="l">
              <a:buFont typeface="+mj-lt"/>
              <a:buAutoNum type="arabicPeriod"/>
            </a:pPr>
            <a:endParaRPr lang="en-US" sz="1800" dirty="0">
              <a:solidFill>
                <a:sysClr val="windowText" lastClr="000000"/>
              </a:solidFill>
            </a:endParaRPr>
          </a:p>
        </p:txBody>
      </p:sp>
      <p:grpSp>
        <p:nvGrpSpPr>
          <p:cNvPr id="26" name="Group 25" descr="Diagram showing logical flow of creating an analyzer in Foundry.">
            <a:extLst>
              <a:ext uri="{FF2B5EF4-FFF2-40B4-BE49-F238E27FC236}">
                <a16:creationId xmlns:a16="http://schemas.microsoft.com/office/drawing/2014/main" id="{3232CC31-49FD-F19B-D3F2-CC4228414F8C}"/>
              </a:ext>
            </a:extLst>
          </p:cNvPr>
          <p:cNvGrpSpPr/>
          <p:nvPr/>
        </p:nvGrpSpPr>
        <p:grpSpPr>
          <a:xfrm>
            <a:off x="6374541" y="1457997"/>
            <a:ext cx="4842502" cy="4570520"/>
            <a:chOff x="6131482" y="1183499"/>
            <a:chExt cx="4256927" cy="3717399"/>
          </a:xfrm>
        </p:grpSpPr>
        <p:sp>
          <p:nvSpPr>
            <p:cNvPr id="28" name="Rectangle 27">
              <a:extLst>
                <a:ext uri="{FF2B5EF4-FFF2-40B4-BE49-F238E27FC236}">
                  <a16:creationId xmlns:a16="http://schemas.microsoft.com/office/drawing/2014/main" id="{120323A0-55D0-B52C-6B2D-8C5109040DAD}"/>
                </a:ext>
              </a:extLst>
            </p:cNvPr>
            <p:cNvSpPr/>
            <p:nvPr/>
          </p:nvSpPr>
          <p:spPr>
            <a:xfrm>
              <a:off x="6696433" y="1656920"/>
              <a:ext cx="3691976" cy="1645946"/>
            </a:xfrm>
            <a:prstGeom prst="rect">
              <a:avLst/>
            </a:prstGeom>
            <a:solidFill>
              <a:sysClr val="window" lastClr="FFFFFF"/>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9" name="Graphic 28">
              <a:extLst>
                <a:ext uri="{FF2B5EF4-FFF2-40B4-BE49-F238E27FC236}">
                  <a16:creationId xmlns:a16="http://schemas.microsoft.com/office/drawing/2014/main" id="{7E3EAB43-AF4B-2002-9C84-35E2A7748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1070" y="1183499"/>
              <a:ext cx="946842" cy="946842"/>
            </a:xfrm>
            <a:prstGeom prst="rect">
              <a:avLst/>
            </a:prstGeom>
          </p:spPr>
        </p:pic>
        <p:pic>
          <p:nvPicPr>
            <p:cNvPr id="30" name="Graphic 29" descr="Document outline">
              <a:extLst>
                <a:ext uri="{FF2B5EF4-FFF2-40B4-BE49-F238E27FC236}">
                  <a16:creationId xmlns:a16="http://schemas.microsoft.com/office/drawing/2014/main" id="{66C7CE3A-5017-9FC0-757C-4C09BEE961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7912" y="1954825"/>
              <a:ext cx="669180" cy="669180"/>
            </a:xfrm>
            <a:prstGeom prst="rect">
              <a:avLst/>
            </a:prstGeom>
          </p:spPr>
        </p:pic>
        <p:pic>
          <p:nvPicPr>
            <p:cNvPr id="31" name="Graphic 30" descr="List outline">
              <a:extLst>
                <a:ext uri="{FF2B5EF4-FFF2-40B4-BE49-F238E27FC236}">
                  <a16:creationId xmlns:a16="http://schemas.microsoft.com/office/drawing/2014/main" id="{8B413C31-AEBD-2BBC-32E3-80F5E2D5EE8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10564" y="1974137"/>
              <a:ext cx="672828" cy="672828"/>
            </a:xfrm>
            <a:prstGeom prst="rect">
              <a:avLst/>
            </a:prstGeom>
          </p:spPr>
        </p:pic>
        <p:sp>
          <p:nvSpPr>
            <p:cNvPr id="32" name="Arrow: Right 31">
              <a:extLst>
                <a:ext uri="{FF2B5EF4-FFF2-40B4-BE49-F238E27FC236}">
                  <a16:creationId xmlns:a16="http://schemas.microsoft.com/office/drawing/2014/main" id="{2614EA11-D3FF-4D17-AC1E-1C1090C322D4}"/>
                </a:ext>
              </a:extLst>
            </p:cNvPr>
            <p:cNvSpPr/>
            <p:nvPr/>
          </p:nvSpPr>
          <p:spPr>
            <a:xfrm>
              <a:off x="7927092" y="2055845"/>
              <a:ext cx="1251284" cy="458743"/>
            </a:xfrm>
            <a:prstGeom prst="rightArrow">
              <a:avLst/>
            </a:prstGeom>
            <a:solidFill>
              <a:sysClr val="window" lastClr="FFFFFF">
                <a:lumMod val="95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3" name="Graphic 32">
              <a:extLst>
                <a:ext uri="{FF2B5EF4-FFF2-40B4-BE49-F238E27FC236}">
                  <a16:creationId xmlns:a16="http://schemas.microsoft.com/office/drawing/2014/main" id="{BE5842E7-8EBC-8214-8761-C7194F215F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4620" y="1879919"/>
              <a:ext cx="881851" cy="881851"/>
            </a:xfrm>
            <a:prstGeom prst="rect">
              <a:avLst/>
            </a:prstGeom>
          </p:spPr>
        </p:pic>
        <p:pic>
          <p:nvPicPr>
            <p:cNvPr id="34" name="Graphic 33" descr="Browser window outline">
              <a:extLst>
                <a:ext uri="{FF2B5EF4-FFF2-40B4-BE49-F238E27FC236}">
                  <a16:creationId xmlns:a16="http://schemas.microsoft.com/office/drawing/2014/main" id="{5B37B8D3-B33A-ED9F-C701-3AEFC48D6FC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058262" y="3830866"/>
              <a:ext cx="1070032" cy="1070032"/>
            </a:xfrm>
            <a:prstGeom prst="rect">
              <a:avLst/>
            </a:prstGeom>
          </p:spPr>
        </p:pic>
        <p:pic>
          <p:nvPicPr>
            <p:cNvPr id="35" name="Graphic 34" descr="Document outline">
              <a:extLst>
                <a:ext uri="{FF2B5EF4-FFF2-40B4-BE49-F238E27FC236}">
                  <a16:creationId xmlns:a16="http://schemas.microsoft.com/office/drawing/2014/main" id="{29DA9E53-A30A-2975-B132-B3B1077DA0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7455" y="4225966"/>
              <a:ext cx="419573" cy="419573"/>
            </a:xfrm>
            <a:prstGeom prst="rect">
              <a:avLst/>
            </a:prstGeom>
          </p:spPr>
        </p:pic>
        <p:pic>
          <p:nvPicPr>
            <p:cNvPr id="36" name="Graphic 35" descr="List outline">
              <a:extLst>
                <a:ext uri="{FF2B5EF4-FFF2-40B4-BE49-F238E27FC236}">
                  <a16:creationId xmlns:a16="http://schemas.microsoft.com/office/drawing/2014/main" id="{B238B5A3-20E7-C30E-4DEE-486E2E25D61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532003" y="4224564"/>
              <a:ext cx="421860" cy="421860"/>
            </a:xfrm>
            <a:prstGeom prst="rect">
              <a:avLst/>
            </a:prstGeom>
          </p:spPr>
        </p:pic>
        <p:cxnSp>
          <p:nvCxnSpPr>
            <p:cNvPr id="37" name="Straight Arrow Connector 36">
              <a:extLst>
                <a:ext uri="{FF2B5EF4-FFF2-40B4-BE49-F238E27FC236}">
                  <a16:creationId xmlns:a16="http://schemas.microsoft.com/office/drawing/2014/main" id="{E88C3084-50CA-C56C-698B-DE038DB373BE}"/>
                </a:ext>
              </a:extLst>
            </p:cNvPr>
            <p:cNvCxnSpPr>
              <a:cxnSpLocks/>
            </p:cNvCxnSpPr>
            <p:nvPr/>
          </p:nvCxnSpPr>
          <p:spPr>
            <a:xfrm flipV="1">
              <a:off x="8412331" y="3400908"/>
              <a:ext cx="0" cy="823656"/>
            </a:xfrm>
            <a:prstGeom prst="straightConnector1">
              <a:avLst/>
            </a:prstGeom>
            <a:noFill/>
            <a:ln w="38100" cap="flat" cmpd="sng" algn="ctr">
              <a:solidFill>
                <a:srgbClr val="A02B93"/>
              </a:solidFill>
              <a:prstDash val="solid"/>
              <a:miter lim="800000"/>
              <a:tailEnd type="triangle"/>
            </a:ln>
            <a:effectLst/>
          </p:spPr>
        </p:cxnSp>
        <p:cxnSp>
          <p:nvCxnSpPr>
            <p:cNvPr id="38" name="Straight Arrow Connector 37">
              <a:extLst>
                <a:ext uri="{FF2B5EF4-FFF2-40B4-BE49-F238E27FC236}">
                  <a16:creationId xmlns:a16="http://schemas.microsoft.com/office/drawing/2014/main" id="{462B75A4-92D8-124F-3DA0-732D83DE0EFE}"/>
                </a:ext>
              </a:extLst>
            </p:cNvPr>
            <p:cNvCxnSpPr>
              <a:cxnSpLocks/>
            </p:cNvCxnSpPr>
            <p:nvPr/>
          </p:nvCxnSpPr>
          <p:spPr>
            <a:xfrm>
              <a:off x="8709110" y="3433588"/>
              <a:ext cx="0" cy="842779"/>
            </a:xfrm>
            <a:prstGeom prst="straightConnector1">
              <a:avLst/>
            </a:prstGeom>
            <a:noFill/>
            <a:ln w="38100" cap="flat" cmpd="sng" algn="ctr">
              <a:solidFill>
                <a:srgbClr val="A02B93"/>
              </a:solidFill>
              <a:prstDash val="solid"/>
              <a:miter lim="800000"/>
              <a:tailEnd type="triangle"/>
            </a:ln>
            <a:effectLst/>
          </p:spPr>
        </p:cxnSp>
        <p:pic>
          <p:nvPicPr>
            <p:cNvPr id="39" name="Graphic 38" descr="Badge with solid fill">
              <a:extLst>
                <a:ext uri="{FF2B5EF4-FFF2-40B4-BE49-F238E27FC236}">
                  <a16:creationId xmlns:a16="http://schemas.microsoft.com/office/drawing/2014/main" id="{D926656B-DA05-BCD2-8CD8-569788CAA8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47505" y="1708991"/>
              <a:ext cx="372269" cy="372269"/>
            </a:xfrm>
            <a:prstGeom prst="rect">
              <a:avLst/>
            </a:prstGeom>
          </p:spPr>
        </p:pic>
        <p:pic>
          <p:nvPicPr>
            <p:cNvPr id="40" name="Graphic 39" descr="Badge 3 with solid fill">
              <a:extLst>
                <a:ext uri="{FF2B5EF4-FFF2-40B4-BE49-F238E27FC236}">
                  <a16:creationId xmlns:a16="http://schemas.microsoft.com/office/drawing/2014/main" id="{736E5E39-0519-7D32-D412-C77C8B0C72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9661" y="2827225"/>
              <a:ext cx="372269" cy="372269"/>
            </a:xfrm>
            <a:prstGeom prst="rect">
              <a:avLst/>
            </a:prstGeom>
          </p:spPr>
        </p:pic>
        <p:pic>
          <p:nvPicPr>
            <p:cNvPr id="41" name="Graphic 40" descr="Badge 1 with solid fill">
              <a:extLst>
                <a:ext uri="{FF2B5EF4-FFF2-40B4-BE49-F238E27FC236}">
                  <a16:creationId xmlns:a16="http://schemas.microsoft.com/office/drawing/2014/main" id="{9E65D94C-CA42-1DEF-13A6-6E3F0A0E3AA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31482" y="1284651"/>
              <a:ext cx="372269" cy="372269"/>
            </a:xfrm>
            <a:prstGeom prst="rect">
              <a:avLst/>
            </a:prstGeom>
          </p:spPr>
        </p:pic>
        <p:pic>
          <p:nvPicPr>
            <p:cNvPr id="42" name="Graphic 41" descr="Badge 4 with solid fill">
              <a:extLst>
                <a:ext uri="{FF2B5EF4-FFF2-40B4-BE49-F238E27FC236}">
                  <a16:creationId xmlns:a16="http://schemas.microsoft.com/office/drawing/2014/main" id="{3BF06976-8641-F36D-C3CE-16D8581B3345}"/>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7900773" y="3748233"/>
              <a:ext cx="372269" cy="372269"/>
            </a:xfrm>
            <a:prstGeom prst="rect">
              <a:avLst/>
            </a:prstGeom>
          </p:spPr>
        </p:pic>
        <p:sp>
          <p:nvSpPr>
            <p:cNvPr id="43" name="Right Brace 42">
              <a:extLst>
                <a:ext uri="{FF2B5EF4-FFF2-40B4-BE49-F238E27FC236}">
                  <a16:creationId xmlns:a16="http://schemas.microsoft.com/office/drawing/2014/main" id="{5F16E0A7-306B-133F-929E-DF78F243E1F7}"/>
                </a:ext>
              </a:extLst>
            </p:cNvPr>
            <p:cNvSpPr/>
            <p:nvPr/>
          </p:nvSpPr>
          <p:spPr>
            <a:xfrm rot="5400000">
              <a:off x="8427279" y="1989463"/>
              <a:ext cx="146488" cy="1645946"/>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nvGrpSpPr>
            <p:cNvPr id="44" name="Group 43">
              <a:extLst>
                <a:ext uri="{FF2B5EF4-FFF2-40B4-BE49-F238E27FC236}">
                  <a16:creationId xmlns:a16="http://schemas.microsoft.com/office/drawing/2014/main" id="{E85CC7F0-17C3-F9A9-3DA9-F9B77875B0EB}"/>
                </a:ext>
              </a:extLst>
            </p:cNvPr>
            <p:cNvGrpSpPr/>
            <p:nvPr/>
          </p:nvGrpSpPr>
          <p:grpSpPr>
            <a:xfrm>
              <a:off x="8251096" y="2882877"/>
              <a:ext cx="603276" cy="577279"/>
              <a:chOff x="5788800" y="3121800"/>
              <a:chExt cx="603276" cy="577279"/>
            </a:xfrm>
          </p:grpSpPr>
          <p:pic>
            <p:nvPicPr>
              <p:cNvPr id="45" name="Graphic 44" descr="Gears with solid fill">
                <a:extLst>
                  <a:ext uri="{FF2B5EF4-FFF2-40B4-BE49-F238E27FC236}">
                    <a16:creationId xmlns:a16="http://schemas.microsoft.com/office/drawing/2014/main" id="{A2BCB4BE-C9B9-14E0-5FFA-70F76FE234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8800" y="3121800"/>
                <a:ext cx="488450" cy="488450"/>
              </a:xfrm>
              <a:prstGeom prst="rect">
                <a:avLst/>
              </a:prstGeom>
            </p:spPr>
          </p:pic>
          <p:pic>
            <p:nvPicPr>
              <p:cNvPr id="46" name="Graphic 45" descr="Magnifying glass with solid fill">
                <a:extLst>
                  <a:ext uri="{FF2B5EF4-FFF2-40B4-BE49-F238E27FC236}">
                    <a16:creationId xmlns:a16="http://schemas.microsoft.com/office/drawing/2014/main" id="{43423C4B-8B38-95A6-F7B7-B1306129199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40850" y="3247853"/>
                <a:ext cx="451226" cy="451226"/>
              </a:xfrm>
              <a:prstGeom prst="rect">
                <a:avLst/>
              </a:prstGeom>
            </p:spPr>
          </p:pic>
        </p:grpSp>
      </p:gr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62154975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Extract information from multimodal content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526572"/>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Content Understanding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Analyze documents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slides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Analyze audio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video</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https://go.microsoft.com/fwlink/?linkid=2320174</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16" name="Picture Placeholder 15">
            <a:extLst>
              <a:ext uri="{FF2B5EF4-FFF2-40B4-BE49-F238E27FC236}">
                <a16:creationId xmlns:a16="http://schemas.microsoft.com/office/drawing/2014/main" id="{D69BC18D-39B4-A717-A427-26CFF36FF9B2}"/>
              </a:ext>
              <a:ext uri="{C183D7F6-B498-43B3-948B-1728B52AA6E4}">
                <adec:decorative xmlns:adec="http://schemas.microsoft.com/office/drawing/2017/decorative" val="1"/>
              </a:ext>
            </a:extLst>
          </p:cNvPr>
          <p:cNvPicPr>
            <a:picLocks noGrp="1" noChangeAspect="1"/>
          </p:cNvPicPr>
          <p:nvPr>
            <p:ph type="pic" sz="quarter" idx="20"/>
          </p:nvPr>
        </p:nvPicPr>
        <p:blipFill>
          <a:blip r:embed="rId4"/>
          <a:srcRect l="5290" r="5290"/>
          <a:stretch/>
        </p:blipFill>
        <p:spPr bwMode="ltGray">
          <a:prstGeom prst="rect">
            <a:avLst/>
          </a:prstGeom>
          <a:solidFill>
            <a:srgbClr val="F4F4F7"/>
          </a:solidFill>
          <a:ln>
            <a:noFill/>
          </a:ln>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353888554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Prepare to use the Content Understanding API</a:t>
            </a:r>
            <a:endParaRPr lang="en-US" sz="3200" noProof="0"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7" name="Google Shape;453;g3d127db4489_0_312">
            <a:extLst>
              <a:ext uri="{FF2B5EF4-FFF2-40B4-BE49-F238E27FC236}">
                <a16:creationId xmlns:a16="http://schemas.microsoft.com/office/drawing/2014/main" id="{0348A324-49FD-F24C-9C8F-16C94BC4369C}"/>
              </a:ext>
            </a:extLst>
          </p:cNvPr>
          <p:cNvSpPr txBox="1"/>
          <p:nvPr/>
        </p:nvSpPr>
        <p:spPr>
          <a:xfrm>
            <a:off x="475653" y="1422823"/>
            <a:ext cx="5242976" cy="4125961"/>
          </a:xfrm>
          <a:prstGeom prst="rect">
            <a:avLst/>
          </a:prstGeom>
          <a:noFill/>
          <a:ln>
            <a:noFill/>
          </a:ln>
        </p:spPr>
        <p:txBody>
          <a:bodyPr spcFirstLastPara="1" wrap="square" lIns="91425" tIns="45700" rIns="91425" bIns="45700" anchor="t" anchorCtr="0">
            <a:spAutoFit/>
          </a:bodyPr>
          <a:lstStyle/>
          <a:p>
            <a:pPr marL="114300">
              <a:lnSpc>
                <a:spcPct val="115000"/>
              </a:lnSpc>
              <a:spcBef>
                <a:spcPts val="1000"/>
              </a:spcBef>
              <a:buClr>
                <a:srgbClr val="8F2B92"/>
              </a:buClr>
              <a:buSzPts val="1800"/>
            </a:pPr>
            <a:r>
              <a:rPr lang="en-US" sz="1800" dirty="0">
                <a:solidFill>
                  <a:schemeClr val="dk1"/>
                </a:solidFill>
              </a:rPr>
              <a:t>To use the Azure Content Understanding API:</a:t>
            </a:r>
          </a:p>
          <a:p>
            <a:pPr marL="400050" lvl="0" indent="-285750" algn="l" rtl="0">
              <a:lnSpc>
                <a:spcPct val="115000"/>
              </a:lnSpc>
              <a:spcBef>
                <a:spcPts val="1000"/>
              </a:spcBef>
              <a:spcAft>
                <a:spcPts val="0"/>
              </a:spcAft>
              <a:buClr>
                <a:schemeClr val="tx1"/>
              </a:buClr>
              <a:buSzPts val="1800"/>
              <a:buFont typeface="Arial" panose="020B0604020202020204" pitchFamily="34" charset="0"/>
              <a:buChar char="•"/>
            </a:pPr>
            <a:r>
              <a:rPr lang="en-US" sz="1800" dirty="0">
                <a:solidFill>
                  <a:schemeClr val="dk1"/>
                </a:solidFill>
              </a:rPr>
              <a:t>Create a Microsoft Foundry project.</a:t>
            </a:r>
          </a:p>
          <a:p>
            <a:pPr marL="400050" lvl="0" indent="-285750" algn="l" rtl="0">
              <a:lnSpc>
                <a:spcPct val="115000"/>
              </a:lnSpc>
              <a:spcBef>
                <a:spcPts val="1000"/>
              </a:spcBef>
              <a:spcAft>
                <a:spcPts val="0"/>
              </a:spcAft>
              <a:buClr>
                <a:schemeClr val="tx1"/>
              </a:buClr>
              <a:buSzPts val="1800"/>
              <a:buFont typeface="Arial" panose="020B0604020202020204" pitchFamily="34" charset="0"/>
              <a:buChar char="•"/>
            </a:pPr>
            <a:r>
              <a:rPr lang="en-US" sz="1800" dirty="0">
                <a:solidFill>
                  <a:schemeClr val="dk1"/>
                </a:solidFill>
              </a:rPr>
              <a:t>Authenticate via Entra ID or Content Understanding endpoint and API key </a:t>
            </a:r>
          </a:p>
          <a:p>
            <a:pPr marL="857233" lvl="1" indent="-285750">
              <a:lnSpc>
                <a:spcPct val="115000"/>
              </a:lnSpc>
              <a:spcBef>
                <a:spcPts val="1000"/>
              </a:spcBef>
              <a:buClr>
                <a:schemeClr val="tx1"/>
              </a:buClr>
              <a:buSzPts val="1800"/>
              <a:buFont typeface="Arial" panose="020B0604020202020204" pitchFamily="34" charset="0"/>
              <a:buChar char="•"/>
            </a:pPr>
            <a:r>
              <a:rPr lang="en-US" sz="1800" dirty="0">
                <a:solidFill>
                  <a:schemeClr val="dk1"/>
                </a:solidFill>
              </a:rPr>
              <a:t>To find your credentials via code: </a:t>
            </a:r>
            <a:r>
              <a:rPr lang="en-US" sz="1700" dirty="0">
                <a:solidFill>
                  <a:schemeClr val="dk1"/>
                </a:solidFill>
              </a:rPr>
              <a:t>use the Microsoft Foundry SDK with Microsoft Entra ID to automatically retrieve connection details from your project.</a:t>
            </a:r>
          </a:p>
          <a:p>
            <a:pPr marL="0" lvl="0" indent="0" algn="l" rtl="0">
              <a:lnSpc>
                <a:spcPct val="115000"/>
              </a:lnSpc>
              <a:spcBef>
                <a:spcPts val="1000"/>
              </a:spcBef>
              <a:spcAft>
                <a:spcPts val="0"/>
              </a:spcAft>
              <a:buNone/>
            </a:pPr>
            <a:endParaRPr sz="1800" dirty="0">
              <a:solidFill>
                <a:schemeClr val="dk1"/>
              </a:solidFill>
            </a:endParaRPr>
          </a:p>
          <a:p>
            <a:pPr marL="0" lvl="0" indent="0" algn="l" rtl="0">
              <a:lnSpc>
                <a:spcPct val="115000"/>
              </a:lnSpc>
              <a:spcBef>
                <a:spcPts val="600"/>
              </a:spcBef>
              <a:spcAft>
                <a:spcPts val="600"/>
              </a:spcAft>
              <a:buNone/>
            </a:pPr>
            <a:endParaRPr sz="2400" dirty="0">
              <a:solidFill>
                <a:schemeClr val="dk1"/>
              </a:solidFill>
            </a:endParaRPr>
          </a:p>
        </p:txBody>
      </p:sp>
      <p:pic>
        <p:nvPicPr>
          <p:cNvPr id="9" name="Picture 8" descr="Screenshot of the Microsoft Foundry settings in the Azure portal.">
            <a:extLst>
              <a:ext uri="{FF2B5EF4-FFF2-40B4-BE49-F238E27FC236}">
                <a16:creationId xmlns:a16="http://schemas.microsoft.com/office/drawing/2014/main" id="{F5422970-C500-C4DE-4C92-E9924C6D620F}"/>
              </a:ext>
            </a:extLst>
          </p:cNvPr>
          <p:cNvPicPr>
            <a:picLocks noChangeAspect="1"/>
          </p:cNvPicPr>
          <p:nvPr/>
        </p:nvPicPr>
        <p:blipFill>
          <a:blip r:embed="rId3"/>
          <a:stretch>
            <a:fillRect/>
          </a:stretch>
        </p:blipFill>
        <p:spPr>
          <a:xfrm>
            <a:off x="6094999" y="1244900"/>
            <a:ext cx="5728786" cy="4368199"/>
          </a:xfrm>
          <a:prstGeom prst="rect">
            <a:avLst/>
          </a:prstGeom>
        </p:spPr>
      </p:pic>
      <p:grpSp>
        <p:nvGrpSpPr>
          <p:cNvPr id="4" name="Group 3">
            <a:extLst>
              <a:ext uri="{FF2B5EF4-FFF2-40B4-BE49-F238E27FC236}">
                <a16:creationId xmlns:a16="http://schemas.microsoft.com/office/drawing/2014/main" id="{0F85677A-17AE-F1DF-99F8-CD12584807AD}"/>
              </a:ext>
              <a:ext uri="{C183D7F6-B498-43B3-948B-1728B52AA6E4}">
                <adec:decorative xmlns:adec="http://schemas.microsoft.com/office/drawing/2017/decorative" val="1"/>
              </a:ext>
            </a:extLst>
          </p:cNvPr>
          <p:cNvGrpSpPr/>
          <p:nvPr/>
        </p:nvGrpSpPr>
        <p:grpSpPr>
          <a:xfrm>
            <a:off x="6582662" y="4619515"/>
            <a:ext cx="5767785" cy="1999544"/>
            <a:chOff x="1559755" y="3436580"/>
            <a:chExt cx="5247727" cy="2677656"/>
          </a:xfrm>
        </p:grpSpPr>
        <p:sp>
          <p:nvSpPr>
            <p:cNvPr id="5" name="Rounded Rectangle 22">
              <a:extLst>
                <a:ext uri="{FF2B5EF4-FFF2-40B4-BE49-F238E27FC236}">
                  <a16:creationId xmlns:a16="http://schemas.microsoft.com/office/drawing/2014/main" id="{775E238F-2CD1-BFAE-808A-9B1F3E4A0999}"/>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6" name="TextBox 5">
              <a:extLst>
                <a:ext uri="{FF2B5EF4-FFF2-40B4-BE49-F238E27FC236}">
                  <a16:creationId xmlns:a16="http://schemas.microsoft.com/office/drawing/2014/main" id="{B77C8BBC-E196-EA4B-9D61-0064D3C72981}"/>
                </a:ext>
              </a:extLst>
            </p:cNvPr>
            <p:cNvSpPr txBox="1"/>
            <p:nvPr/>
          </p:nvSpPr>
          <p:spPr>
            <a:xfrm>
              <a:off x="1627380" y="3451258"/>
              <a:ext cx="5180102" cy="1358509"/>
            </a:xfrm>
            <a:prstGeom prst="rect">
              <a:avLst/>
            </a:prstGeom>
            <a:noFill/>
          </p:spPr>
          <p:txBody>
            <a:bodyPr wrap="square">
              <a:spAutoFit/>
            </a:bodyPr>
            <a:lstStyle/>
            <a:p>
              <a:r>
                <a:rPr lang="en-US" sz="1200" dirty="0">
                  <a:solidFill>
                    <a:srgbClr val="4CBC89"/>
                  </a:solidFill>
                  <a:latin typeface="Consolas" panose="020B0609020204030204" pitchFamily="49" charset="0"/>
                </a:rPr>
                <a:t># Create an OpenAI client</a:t>
              </a:r>
            </a:p>
            <a:p>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DefaultAzureCredential</a:t>
              </a:r>
              <a:r>
                <a:rPr lang="en-US" sz="1200" dirty="0">
                  <a:solidFill>
                    <a:srgbClr val="ABB2BF"/>
                  </a:solidFill>
                  <a:latin typeface="Consolas" panose="020B0609020204030204" pitchFamily="49" charset="0"/>
                </a:rPr>
                <a:t>()</a:t>
              </a:r>
            </a:p>
            <a:p>
              <a:r>
                <a:rPr lang="en-US" sz="1200" dirty="0" err="1">
                  <a:solidFill>
                    <a:srgbClr val="9CDCFE"/>
                  </a:solidFill>
                  <a:latin typeface="Consolas" panose="020B0609020204030204" pitchFamily="49" charset="0"/>
                </a:rPr>
                <a:t>token_provider</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get_bearer_token_provider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"https://ai.azure.com/.default"</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a:solidFill>
                    <a:srgbClr val="DCDCAA"/>
                  </a:solidFill>
                  <a:latin typeface="Consolas" panose="020B0609020204030204" pitchFamily="49" charset="0"/>
                </a:rPr>
                <a:t>OpenAI</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base_url</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openai_endpoint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api_key</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5091921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Define your schema and create analyzer</a:t>
            </a:r>
            <a:endParaRPr lang="en-US" sz="3200" noProof="0" dirty="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588262" y="1346915"/>
            <a:ext cx="4953317" cy="5986254"/>
          </a:xfrm>
        </p:spPr>
        <p:txBody>
          <a:bodyPr/>
          <a:lstStyle/>
          <a:p>
            <a:r>
              <a:rPr lang="en-US" sz="1800" dirty="0"/>
              <a:t>Define the fields you want to extract or generate</a:t>
            </a:r>
          </a:p>
          <a:p>
            <a:r>
              <a:rPr lang="en-US" sz="1800" dirty="0"/>
              <a:t>Specify the base analyzer and generative models to use</a:t>
            </a:r>
          </a:p>
          <a:p>
            <a:r>
              <a:rPr lang="en-US" sz="1800" dirty="0"/>
              <a:t>Send schema to client to create analyzer</a:t>
            </a:r>
          </a:p>
          <a:p>
            <a:endParaRPr lang="en-US" sz="1800" dirty="0"/>
          </a:p>
          <a:p>
            <a:endParaRPr lang="en-US" sz="1800" dirty="0"/>
          </a:p>
          <a:p>
            <a:endParaRPr lang="en-US" sz="1800" dirty="0"/>
          </a:p>
          <a:p>
            <a:r>
              <a:rPr lang="en-US" sz="1800" dirty="0"/>
              <a:t>Key components:</a:t>
            </a:r>
          </a:p>
          <a:p>
            <a:pPr lvl="1">
              <a:lnSpc>
                <a:spcPct val="150000"/>
              </a:lnSpc>
            </a:pPr>
            <a:r>
              <a:rPr lang="en-US" dirty="0" err="1">
                <a:latin typeface="Consolas" panose="020B0609020204030204" pitchFamily="49" charset="0"/>
              </a:rPr>
              <a:t>baseAnalyzerId</a:t>
            </a:r>
            <a:r>
              <a:rPr lang="en-US" dirty="0">
                <a:latin typeface="Consolas" panose="020B0609020204030204" pitchFamily="49" charset="0"/>
              </a:rPr>
              <a:t> </a:t>
            </a:r>
            <a:r>
              <a:rPr lang="en-US" dirty="0"/>
              <a:t>– Base analyzer (e.g., prebuilt-document)</a:t>
            </a:r>
          </a:p>
          <a:p>
            <a:pPr lvl="1">
              <a:lnSpc>
                <a:spcPct val="150000"/>
              </a:lnSpc>
            </a:pPr>
            <a:r>
              <a:rPr lang="en-US" dirty="0" err="1">
                <a:latin typeface="Consolas" panose="020B0609020204030204" pitchFamily="49" charset="0"/>
              </a:rPr>
              <a:t>fieldSchema</a:t>
            </a:r>
            <a:r>
              <a:rPr lang="en-US" dirty="0"/>
              <a:t> – Fields with type, method (extract/generate), and description</a:t>
            </a:r>
          </a:p>
          <a:p>
            <a:pPr lvl="1">
              <a:lnSpc>
                <a:spcPct val="150000"/>
              </a:lnSpc>
            </a:pPr>
            <a:r>
              <a:rPr lang="en-US" dirty="0">
                <a:latin typeface="Consolas" panose="020B0609020204030204" pitchFamily="49" charset="0"/>
              </a:rPr>
              <a:t>models</a:t>
            </a:r>
            <a:r>
              <a:rPr lang="en-US" dirty="0"/>
              <a:t> – Completion and embedding models to use</a:t>
            </a:r>
          </a:p>
          <a:p>
            <a:pPr lvl="1"/>
            <a:endParaRPr lang="en-US" sz="1600" dirty="0"/>
          </a:p>
          <a:p>
            <a:endParaRPr lang="en-US" sz="1800" dirty="0"/>
          </a:p>
          <a:p>
            <a:endParaRPr lang="en-US" sz="1800" dirty="0"/>
          </a:p>
          <a:p>
            <a:pPr marL="0" indent="0">
              <a:buNone/>
            </a:pPr>
            <a:endParaRPr lang="en-US" sz="1800" dirty="0"/>
          </a:p>
          <a:p>
            <a:pPr marL="457200" indent="-457200">
              <a:buFont typeface="+mj-lt"/>
              <a:buAutoNum type="arabicPeriod"/>
            </a:pPr>
            <a:endParaRPr lang="en-US"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6" name="Rounded Rectangle 25">
            <a:extLst>
              <a:ext uri="{FF2B5EF4-FFF2-40B4-BE49-F238E27FC236}">
                <a16:creationId xmlns:a16="http://schemas.microsoft.com/office/drawing/2014/main" id="{CEC22047-C30D-1C26-EF5D-366E0C815580}"/>
              </a:ext>
            </a:extLst>
          </p:cNvPr>
          <p:cNvSpPr/>
          <p:nvPr/>
        </p:nvSpPr>
        <p:spPr bwMode="auto">
          <a:xfrm>
            <a:off x="665840" y="2875588"/>
            <a:ext cx="4039467" cy="942416"/>
          </a:xfrm>
          <a:prstGeom prst="roundRect">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ct val="0"/>
              </a:spcBef>
              <a:spcAft>
                <a:spcPct val="0"/>
              </a:spcAft>
            </a:pP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client.begin_create_analyzer</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fontAlgn="base">
              <a:spcBef>
                <a:spcPct val="0"/>
              </a:spcBef>
              <a:spcAft>
                <a:spcPct val="0"/>
              </a:spcAft>
            </a:pP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analyzer_name</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fontAlgn="base">
              <a:spcBef>
                <a:spcPct val="0"/>
              </a:spcBef>
              <a:spcAft>
                <a:spcPct val="0"/>
              </a:spcAft>
            </a:pP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    body=</a:t>
            </a: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analyzer_definition</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grpSp>
        <p:nvGrpSpPr>
          <p:cNvPr id="7" name="Group 6">
            <a:extLst>
              <a:ext uri="{FF2B5EF4-FFF2-40B4-BE49-F238E27FC236}">
                <a16:creationId xmlns:a16="http://schemas.microsoft.com/office/drawing/2014/main" id="{2F27A4BF-3FC0-1C4D-D040-67AEDBCB3D9A}"/>
              </a:ext>
              <a:ext uri="{C183D7F6-B498-43B3-948B-1728B52AA6E4}">
                <adec:decorative xmlns:adec="http://schemas.microsoft.com/office/drawing/2017/decorative" val="1"/>
              </a:ext>
            </a:extLst>
          </p:cNvPr>
          <p:cNvGrpSpPr/>
          <p:nvPr/>
        </p:nvGrpSpPr>
        <p:grpSpPr>
          <a:xfrm>
            <a:off x="5703122" y="1346915"/>
            <a:ext cx="5898614" cy="4942179"/>
            <a:chOff x="1559754" y="3436580"/>
            <a:chExt cx="5366760" cy="7420673"/>
          </a:xfrm>
        </p:grpSpPr>
        <p:sp>
          <p:nvSpPr>
            <p:cNvPr id="8" name="Rounded Rectangle 22">
              <a:extLst>
                <a:ext uri="{FF2B5EF4-FFF2-40B4-BE49-F238E27FC236}">
                  <a16:creationId xmlns:a16="http://schemas.microsoft.com/office/drawing/2014/main" id="{58D9564D-458E-3935-07E5-D8C0E7AC10A9}"/>
                </a:ext>
              </a:extLst>
            </p:cNvPr>
            <p:cNvSpPr/>
            <p:nvPr/>
          </p:nvSpPr>
          <p:spPr bwMode="auto">
            <a:xfrm>
              <a:off x="1559754" y="3436580"/>
              <a:ext cx="5348878" cy="7420673"/>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9" name="TextBox 8">
              <a:extLst>
                <a:ext uri="{FF2B5EF4-FFF2-40B4-BE49-F238E27FC236}">
                  <a16:creationId xmlns:a16="http://schemas.microsoft.com/office/drawing/2014/main" id="{197F446C-28A4-49AB-8310-1DFAF7ADE4DA}"/>
                </a:ext>
              </a:extLst>
            </p:cNvPr>
            <p:cNvSpPr txBox="1"/>
            <p:nvPr/>
          </p:nvSpPr>
          <p:spPr>
            <a:xfrm>
              <a:off x="1746412" y="3679962"/>
              <a:ext cx="5180102" cy="6305953"/>
            </a:xfrm>
            <a:prstGeom prst="rect">
              <a:avLst/>
            </a:prstGeom>
            <a:noFill/>
          </p:spPr>
          <p:txBody>
            <a:bodyPr wrap="square">
              <a:spAutoFit/>
            </a:bodyPr>
            <a:lstStyle/>
            <a:p>
              <a:r>
                <a:rPr lang="en-US" sz="1200" dirty="0">
                  <a:solidFill>
                    <a:schemeClr val="tx2">
                      <a:lumMod val="25000"/>
                      <a:lumOff val="7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endParaRPr lang="en-US" sz="1200" dirty="0">
                <a:solidFill>
                  <a:srgbClr val="9CDCFE"/>
                </a:solidFill>
                <a:latin typeface="Consolas" panose="020B0609020204030204" pitchFamily="49" charset="0"/>
              </a:endParaRPr>
            </a:p>
            <a:p>
              <a:r>
                <a:rPr lang="en-US" sz="1200" dirty="0">
                  <a:solidFill>
                    <a:srgbClr val="9CDCFE"/>
                  </a:solidFill>
                  <a:latin typeface="Consolas" panose="020B0609020204030204" pitchFamily="49" charset="0"/>
                </a:rPr>
                <a:t>    "description": "Simple business card",</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baseAnalyzerId</a:t>
              </a:r>
              <a:r>
                <a:rPr lang="en-US" sz="1200" dirty="0">
                  <a:solidFill>
                    <a:srgbClr val="9CDCFE"/>
                  </a:solidFill>
                  <a:latin typeface="Consolas" panose="020B0609020204030204" pitchFamily="49" charset="0"/>
                </a:rPr>
                <a:t>": "prebuilt-document",</a:t>
              </a:r>
            </a:p>
            <a:p>
              <a:r>
                <a:rPr lang="en-US" sz="1200" dirty="0">
                  <a:solidFill>
                    <a:srgbClr val="9CDCFE"/>
                  </a:solidFill>
                  <a:latin typeface="Consolas" panose="020B0609020204030204" pitchFamily="49" charset="0"/>
                </a:rPr>
                <a:t>    "config":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returnDetails</a:t>
              </a:r>
              <a:r>
                <a:rPr lang="en-US" sz="1200" dirty="0">
                  <a:solidFill>
                    <a:srgbClr val="9CDCFE"/>
                  </a:solidFill>
                  <a:latin typeface="Consolas" panose="020B0609020204030204" pitchFamily="49" charset="0"/>
                </a:rPr>
                <a:t>": true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fieldSchema</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"Name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"Email address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"models": {</a:t>
              </a:r>
            </a:p>
            <a:p>
              <a:r>
                <a:rPr lang="en-US" sz="1200" dirty="0">
                  <a:solidFill>
                    <a:srgbClr val="9CDCFE"/>
                  </a:solidFill>
                  <a:latin typeface="Consolas" panose="020B0609020204030204" pitchFamily="49" charset="0"/>
                </a:rPr>
                <a:t>        "completion": "gpt-4.1",</a:t>
              </a:r>
            </a:p>
            <a:p>
              <a:r>
                <a:rPr lang="en-US" sz="1200" dirty="0">
                  <a:solidFill>
                    <a:srgbClr val="9CDCFE"/>
                  </a:solidFill>
                  <a:latin typeface="Consolas" panose="020B0609020204030204" pitchFamily="49" charset="0"/>
                </a:rPr>
                <a:t>        "embedding": "text-embedding-3-large"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a:t>
              </a:r>
            </a:p>
          </p:txBody>
        </p:sp>
      </p:grpSp>
    </p:spTree>
    <p:extLst>
      <p:ext uri="{BB962C8B-B14F-4D97-AF65-F5344CB8AC3E}">
        <p14:creationId xmlns:p14="http://schemas.microsoft.com/office/powerpoint/2010/main" val="315305292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A4BBAC7-4EB1-AE73-236B-28C3A75EDEA5}"/>
              </a:ext>
              <a:ext uri="{C183D7F6-B498-43B3-948B-1728B52AA6E4}">
                <adec:decorative xmlns:adec="http://schemas.microsoft.com/office/drawing/2017/decorative" val="1"/>
              </a:ext>
            </a:extLst>
          </p:cNvPr>
          <p:cNvGrpSpPr/>
          <p:nvPr/>
        </p:nvGrpSpPr>
        <p:grpSpPr>
          <a:xfrm>
            <a:off x="4985499" y="715772"/>
            <a:ext cx="7008911" cy="5876220"/>
            <a:chOff x="1559754" y="3436580"/>
            <a:chExt cx="5348878" cy="8475753"/>
          </a:xfrm>
        </p:grpSpPr>
        <p:sp>
          <p:nvSpPr>
            <p:cNvPr id="9" name="Rounded Rectangle 22">
              <a:extLst>
                <a:ext uri="{FF2B5EF4-FFF2-40B4-BE49-F238E27FC236}">
                  <a16:creationId xmlns:a16="http://schemas.microsoft.com/office/drawing/2014/main" id="{8702933B-DEEF-B64A-1FCE-D610C5D3457E}"/>
                </a:ext>
              </a:extLst>
            </p:cNvPr>
            <p:cNvSpPr/>
            <p:nvPr/>
          </p:nvSpPr>
          <p:spPr bwMode="auto">
            <a:xfrm>
              <a:off x="1559754" y="3436580"/>
              <a:ext cx="5348878" cy="8308918"/>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TextBox 9">
              <a:extLst>
                <a:ext uri="{FF2B5EF4-FFF2-40B4-BE49-F238E27FC236}">
                  <a16:creationId xmlns:a16="http://schemas.microsoft.com/office/drawing/2014/main" id="{7C113812-FE4A-DD77-46B6-8885093C8168}"/>
                </a:ext>
              </a:extLst>
            </p:cNvPr>
            <p:cNvSpPr txBox="1"/>
            <p:nvPr/>
          </p:nvSpPr>
          <p:spPr>
            <a:xfrm>
              <a:off x="1644141" y="3603413"/>
              <a:ext cx="5180102" cy="8308920"/>
            </a:xfrm>
            <a:prstGeom prst="rect">
              <a:avLst/>
            </a:prstGeom>
            <a:noFill/>
          </p:spPr>
          <p:txBody>
            <a:bodyPr wrap="square">
              <a:spAutoFit/>
            </a:bodyPr>
            <a:lstStyle/>
            <a:p>
              <a:r>
                <a:rPr lang="en-US" sz="1200" dirty="0">
                  <a:solidFill>
                    <a:srgbClr val="9CDCFE"/>
                  </a:solidFill>
                  <a:latin typeface="Consolas" panose="020B0609020204030204" pitchFamily="49" charset="0"/>
                </a:rPr>
                <a:t>"contents":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"markdown": "John Smith\</a:t>
              </a:r>
              <a:r>
                <a:rPr lang="en-US" sz="1200" dirty="0" err="1">
                  <a:solidFill>
                    <a:srgbClr val="9CDCFE"/>
                  </a:solidFill>
                  <a:latin typeface="Consolas" panose="020B0609020204030204" pitchFamily="49" charset="0"/>
                </a:rPr>
                <a:t>nEmail</a:t>
              </a:r>
              <a:r>
                <a:rPr lang="en-US" sz="1200" dirty="0">
                  <a:solidFill>
                    <a:srgbClr val="9CDCFE"/>
                  </a:solidFill>
                  <a:latin typeface="Consolas" panose="020B0609020204030204" pitchFamily="49" charset="0"/>
                </a:rPr>
                <a:t>: john@contoso.com\n",</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 Smith",</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0,</a:t>
              </a:r>
            </a:p>
            <a:p>
              <a:r>
                <a:rPr lang="en-US" sz="1200" dirty="0">
                  <a:solidFill>
                    <a:srgbClr val="9CDCFE"/>
                  </a:solidFill>
                  <a:latin typeface="Consolas" panose="020B0609020204030204" pitchFamily="49" charset="0"/>
                </a:rPr>
                <a:t>                                "length": 10</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0.994,</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"john@contoso.com",</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18,</a:t>
              </a:r>
            </a:p>
            <a:p>
              <a:r>
                <a:rPr lang="en-US" sz="1200" dirty="0">
                  <a:solidFill>
                    <a:srgbClr val="9CDCFE"/>
                  </a:solidFill>
                  <a:latin typeface="Consolas" panose="020B0609020204030204" pitchFamily="49" charset="0"/>
                </a:rPr>
                <a:t>                                "length": 16</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0.998,</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p:txBody>
        </p:sp>
      </p:grpSp>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Analyze content</a:t>
            </a:r>
            <a:endParaRPr lang="en-US" sz="3200" noProof="0" dirty="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479246" y="1748495"/>
            <a:ext cx="6099456" cy="2449901"/>
          </a:xfrm>
        </p:spPr>
        <p:txBody>
          <a:bodyPr/>
          <a:lstStyle/>
          <a:p>
            <a:pPr marL="457200" indent="-457200">
              <a:buFont typeface="+mj-lt"/>
              <a:buAutoNum type="arabicPeriod"/>
            </a:pPr>
            <a:r>
              <a:rPr lang="en-US" sz="2000" dirty="0"/>
              <a:t>Authenticate to your client</a:t>
            </a:r>
          </a:p>
          <a:p>
            <a:pPr marL="457200" indent="-457200">
              <a:buFont typeface="+mj-lt"/>
              <a:buAutoNum type="arabicPeriod"/>
            </a:pPr>
            <a:r>
              <a:rPr lang="en-US" sz="2000" dirty="0"/>
              <a:t>Begin analysis, providing:</a:t>
            </a:r>
          </a:p>
          <a:p>
            <a:pPr marL="585216" lvl="1" indent="-457200"/>
            <a:r>
              <a:rPr lang="en-US" sz="2000" dirty="0" err="1"/>
              <a:t>analyzer_name</a:t>
            </a:r>
            <a:endParaRPr lang="en-US" sz="2000" dirty="0"/>
          </a:p>
          <a:p>
            <a:pPr marL="585216" lvl="1" indent="-457200"/>
            <a:r>
              <a:rPr lang="en-US" sz="2000" dirty="0"/>
              <a:t>input (URL or binary data)</a:t>
            </a:r>
          </a:p>
          <a:p>
            <a:pPr marL="457200" indent="-457200">
              <a:buFont typeface="+mj-lt"/>
              <a:buAutoNum type="arabicPeriod"/>
            </a:pPr>
            <a:r>
              <a:rPr lang="en-US" sz="2000" dirty="0"/>
              <a:t>Retrieve the result</a:t>
            </a:r>
          </a:p>
          <a:p>
            <a:pPr marL="457200" indent="-457200">
              <a:buFont typeface="+mj-lt"/>
              <a:buAutoNum type="arabicPeriod"/>
            </a:pPr>
            <a:r>
              <a:rPr lang="en-US" sz="2000" dirty="0"/>
              <a:t>Extract contents</a:t>
            </a:r>
          </a:p>
          <a:p>
            <a:pPr marL="457200" indent="-457200">
              <a:buFont typeface="+mj-lt"/>
              <a:buAutoNum type="arabicPeriod"/>
            </a:pPr>
            <a:endParaRPr lang="en-US"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Box 3">
            <a:extLst>
              <a:ext uri="{FF2B5EF4-FFF2-40B4-BE49-F238E27FC236}">
                <a16:creationId xmlns:a16="http://schemas.microsoft.com/office/drawing/2014/main" id="{56EE230E-93F0-67B7-4B42-CB3F7F44BB99}"/>
              </a:ext>
            </a:extLst>
          </p:cNvPr>
          <p:cNvSpPr txBox="1"/>
          <p:nvPr/>
        </p:nvSpPr>
        <p:spPr>
          <a:xfrm>
            <a:off x="9919513" y="6489329"/>
            <a:ext cx="1846468" cy="246221"/>
          </a:xfrm>
          <a:prstGeom prst="rect">
            <a:avLst/>
          </a:prstGeom>
          <a:noFill/>
        </p:spPr>
        <p:txBody>
          <a:bodyPr wrap="none" lIns="0" tIns="0" rIns="0" bIns="0" rtlCol="0">
            <a:spAutoFit/>
          </a:bodyPr>
          <a:lstStyle/>
          <a:p>
            <a:pPr algn="l"/>
            <a:r>
              <a:rPr lang="en-US" sz="1600" i="1" dirty="0"/>
              <a:t>Partial results shown</a:t>
            </a:r>
          </a:p>
        </p:txBody>
      </p:sp>
      <p:pic>
        <p:nvPicPr>
          <p:cNvPr id="7" name="Picture 6">
            <a:extLst>
              <a:ext uri="{FF2B5EF4-FFF2-40B4-BE49-F238E27FC236}">
                <a16:creationId xmlns:a16="http://schemas.microsoft.com/office/drawing/2014/main" id="{CB779309-2CAE-4502-3837-9BE3334741D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878" y="3901092"/>
            <a:ext cx="3862522" cy="2394769"/>
          </a:xfrm>
          <a:prstGeom prst="rect">
            <a:avLst/>
          </a:prstGeom>
        </p:spPr>
      </p:pic>
    </p:spTree>
    <p:extLst>
      <p:ext uri="{BB962C8B-B14F-4D97-AF65-F5344CB8AC3E}">
        <p14:creationId xmlns:p14="http://schemas.microsoft.com/office/powerpoint/2010/main" val="96025260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6B54-D302-123E-B2BB-29AAD733B2C3}"/>
            </a:ext>
          </a:extLst>
        </p:cNvPr>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FE0252BB-8573-447E-F39B-11CEEEB51103}"/>
              </a:ext>
              <a:ext uri="{C183D7F6-B498-43B3-948B-1728B52AA6E4}">
                <adec:decorative xmlns:adec="http://schemas.microsoft.com/office/drawing/2017/decorative" val="1"/>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val="0"/>
              </a:ext>
            </a:extLst>
          </a:blip>
          <a:srcRect t="745" b="745"/>
          <a:stretch>
            <a:fillRect/>
          </a:stretch>
        </p:blipFill>
        <p:spPr/>
      </p:pic>
      <p:sp>
        <p:nvSpPr>
          <p:cNvPr id="5" name="Title 4">
            <a:extLst>
              <a:ext uri="{FF2B5EF4-FFF2-40B4-BE49-F238E27FC236}">
                <a16:creationId xmlns:a16="http://schemas.microsoft.com/office/drawing/2014/main" id="{71EE0FB2-8EAB-5536-98AF-0AF7D0619602}"/>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028F1D29-0819-AB1D-272A-B75377E74716}"/>
              </a:ext>
            </a:extLst>
          </p:cNvPr>
          <p:cNvSpPr>
            <a:spLocks noGrp="1"/>
          </p:cNvSpPr>
          <p:nvPr>
            <p:ph type="body" sz="quarter" idx="16"/>
          </p:nvPr>
        </p:nvSpPr>
        <p:spPr>
          <a:xfrm>
            <a:off x="584199" y="1594155"/>
            <a:ext cx="6185435" cy="615553"/>
          </a:xfrm>
        </p:spPr>
        <p:txBody>
          <a:bodyPr/>
          <a:lstStyle/>
          <a:p>
            <a:r>
              <a:rPr lang="en-US" sz="2000" dirty="0"/>
              <a:t>Develop a Content Understanding client application</a:t>
            </a:r>
          </a:p>
        </p:txBody>
      </p:sp>
      <p:sp>
        <p:nvSpPr>
          <p:cNvPr id="6" name="Text Placeholder 5">
            <a:extLst>
              <a:ext uri="{FF2B5EF4-FFF2-40B4-BE49-F238E27FC236}">
                <a16:creationId xmlns:a16="http://schemas.microsoft.com/office/drawing/2014/main" id="{728404BA-2DF0-008B-EDDC-05EDF2C8897D}"/>
              </a:ext>
            </a:extLst>
          </p:cNvPr>
          <p:cNvSpPr>
            <a:spLocks noGrp="1"/>
          </p:cNvSpPr>
          <p:nvPr>
            <p:ph type="body" sz="quarter" idx="15"/>
          </p:nvPr>
        </p:nvSpPr>
        <p:spPr>
          <a:xfrm>
            <a:off x="586389" y="2085764"/>
            <a:ext cx="5652201" cy="738664"/>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Content Understanding API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analyzer</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content</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8C376FB-B6A9-B02A-3A29-20FD8FCF44BE}"/>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4"/>
              </a:rPr>
              <a:t>https://go.microsoft.com/fwlink/?linkid=2320464</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11" name="Flowchart: Off-page Connector 44">
            <a:extLst>
              <a:ext uri="{FF2B5EF4-FFF2-40B4-BE49-F238E27FC236}">
                <a16:creationId xmlns:a16="http://schemas.microsoft.com/office/drawing/2014/main" id="{DD762FA1-20CF-13D3-5E19-91A63937461E}"/>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E929AF02-50A9-3470-8653-2A63CE3EDDA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762220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687706"/>
            <a:ext cx="8778782" cy="215444"/>
          </a:xfrm>
        </p:spPr>
        <p:txBody>
          <a:bodyPr/>
          <a:lstStyle/>
          <a:p>
            <a:pPr>
              <a:buNone/>
            </a:pPr>
            <a:r>
              <a:rPr lang="en-US" noProof="0" dirty="0"/>
              <a:t>What kinds of AI solutions is Azure Content Understanding designed to help you build?</a:t>
            </a:r>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8775098" cy="732508"/>
          </a:xfrm>
          <a:noFill/>
        </p:spPr>
        <p:txBody>
          <a:bodyPr/>
          <a:lstStyle/>
          <a:p>
            <a:r>
              <a:rPr lang="en-US" noProof="0" dirty="0"/>
              <a:t>Chatbots that automatically translate between multiple spoken and written languages</a:t>
            </a:r>
            <a:endParaRPr lang="en-US" noProof="0" dirty="0">
              <a:solidFill>
                <a:srgbClr val="000000"/>
              </a:solidFill>
            </a:endParaRPr>
          </a:p>
          <a:p>
            <a:r>
              <a:rPr lang="en-US" noProof="0" dirty="0"/>
              <a:t>Analyzers that extract information from documents, images, videos, and audio files</a:t>
            </a:r>
          </a:p>
          <a:p>
            <a:r>
              <a:rPr lang="en-US" noProof="0" dirty="0"/>
              <a:t>Image generators that create visualizations based on descriptions</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046370"/>
            <a:ext cx="8778782" cy="215444"/>
          </a:xfrm>
        </p:spPr>
        <p:txBody>
          <a:bodyPr/>
          <a:lstStyle/>
          <a:p>
            <a:r>
              <a:rPr lang="en-US" noProof="0" dirty="0"/>
              <a:t>Which graphical tool should you use to create an Azure Content Understanding project?</a:t>
            </a:r>
            <a:endParaRPr lang="en-US" b="1" noProof="0" dirty="0"/>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357111"/>
            <a:ext cx="8775098" cy="732508"/>
          </a:xfrm>
        </p:spPr>
        <p:txBody>
          <a:bodyPr/>
          <a:lstStyle/>
          <a:p>
            <a:r>
              <a:rPr lang="en-US" noProof="0" dirty="0"/>
              <a:t>Microsoft Visual Studio</a:t>
            </a:r>
          </a:p>
          <a:p>
            <a:r>
              <a:rPr lang="en-US" noProof="0" dirty="0"/>
              <a:t>Azure Machine Learning studio</a:t>
            </a:r>
          </a:p>
          <a:p>
            <a:r>
              <a:rPr lang="en-US" noProof="0" dirty="0"/>
              <a:t>Content Understanding studio</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389983"/>
            <a:ext cx="8957333" cy="215444"/>
          </a:xfrm>
        </p:spPr>
        <p:txBody>
          <a:bodyPr/>
          <a:lstStyle/>
          <a:p>
            <a:r>
              <a:rPr lang="en-US" b="1" noProof="0" dirty="0"/>
              <a:t>What should you define for the information you want to extract from content?</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5" y="4725133"/>
            <a:ext cx="8775098" cy="732508"/>
          </a:xfrm>
        </p:spPr>
        <p:txBody>
          <a:bodyPr/>
          <a:lstStyle/>
          <a:p>
            <a:r>
              <a:rPr lang="en-US" noProof="0" dirty="0"/>
              <a:t>A schema </a:t>
            </a:r>
          </a:p>
          <a:p>
            <a:r>
              <a:rPr lang="en-US" noProof="0" dirty="0"/>
              <a:t>An index</a:t>
            </a:r>
          </a:p>
          <a:p>
            <a:r>
              <a:rPr lang="en-US" noProof="0" dirty="0"/>
              <a:t>A cluster</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a:spLocks/>
          </p:cNvSpPr>
          <p:nvPr/>
        </p:nvSpPr>
        <p:spPr>
          <a:xfrm>
            <a:off x="1263852" y="393057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a:spLocks/>
          </p:cNvSpPr>
          <p:nvPr/>
        </p:nvSpPr>
        <p:spPr bwMode="auto">
          <a:xfrm>
            <a:off x="722582" y="429810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a:spLocks/>
          </p:cNvSpPr>
          <p:nvPr/>
        </p:nvSpPr>
        <p:spPr>
          <a:xfrm>
            <a:off x="1263852" y="476699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a:spLocks/>
          </p:cNvSpPr>
          <p:nvPr/>
        </p:nvSpPr>
        <p:spPr>
          <a:xfrm>
            <a:off x="1256418" y="23034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4112033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2769057"/>
            <a:ext cx="6737669" cy="1231106"/>
          </a:xfrm>
        </p:spPr>
        <p:txBody>
          <a:bodyPr/>
          <a:lstStyle/>
          <a:p>
            <a:r>
              <a:rPr lang="en-US" noProof="0" dirty="0"/>
              <a:t>Create a knowledge mining solution with Azure AI Search</a:t>
            </a:r>
          </a:p>
        </p:txBody>
      </p:sp>
      <p:sp>
        <p:nvSpPr>
          <p:cNvPr id="4" name="TextBox 3">
            <a:extLst>
              <a:ext uri="{FF2B5EF4-FFF2-40B4-BE49-F238E27FC236}">
                <a16:creationId xmlns:a16="http://schemas.microsoft.com/office/drawing/2014/main" id="{3FA8109B-8A88-0A91-A78B-DD790C3EA0AA}"/>
              </a:ext>
            </a:extLst>
          </p:cNvPr>
          <p:cNvSpPr txBox="1"/>
          <p:nvPr/>
        </p:nvSpPr>
        <p:spPr>
          <a:xfrm>
            <a:off x="495300" y="4000163"/>
            <a:ext cx="6096000" cy="363946"/>
          </a:xfrm>
          <a:prstGeom prst="rect">
            <a:avLst/>
          </a:prstGeom>
          <a:noFill/>
        </p:spPr>
        <p:txBody>
          <a:bodyPr wrap="square">
            <a:spAutoFit/>
          </a:bodyPr>
          <a:lstStyle/>
          <a:p>
            <a:r>
              <a:rPr lang="en-US" dirty="0">
                <a:solidFill>
                  <a:schemeClr val="accent2"/>
                </a:solidFill>
              </a:rPr>
              <a:t>https://aka.ms/mslearn-ai-knowledge-mining</a:t>
            </a:r>
            <a:endParaRPr lang="en-US" dirty="0">
              <a:solidFill>
                <a:schemeClr val="accent2"/>
              </a:solidFill>
              <a:highlight>
                <a:srgbClr val="FFFF00"/>
              </a:highlight>
            </a:endParaRPr>
          </a:p>
        </p:txBody>
      </p:sp>
    </p:spTree>
    <p:extLst>
      <p:ext uri="{BB962C8B-B14F-4D97-AF65-F5344CB8AC3E}">
        <p14:creationId xmlns:p14="http://schemas.microsoft.com/office/powerpoint/2010/main" val="3861534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644EFA-D468-C0F1-A9A7-E3B57B68976F}"/>
              </a:ext>
            </a:extLst>
          </p:cNvPr>
          <p:cNvSpPr>
            <a:spLocks noGrp="1"/>
          </p:cNvSpPr>
          <p:nvPr>
            <p:ph type="title"/>
          </p:nvPr>
        </p:nvSpPr>
        <p:spPr>
          <a:xfrm>
            <a:off x="588262" y="585216"/>
            <a:ext cx="8193024" cy="492443"/>
          </a:xfrm>
        </p:spPr>
        <p:txBody>
          <a:bodyPr/>
          <a:lstStyle/>
          <a:p>
            <a:r>
              <a:rPr lang="en-US" sz="3200" dirty="0"/>
              <a:t>What is Azure AI Search?</a:t>
            </a:r>
          </a:p>
        </p:txBody>
      </p:sp>
      <p:sp>
        <p:nvSpPr>
          <p:cNvPr id="7" name="TextBox 6">
            <a:extLst>
              <a:ext uri="{FF2B5EF4-FFF2-40B4-BE49-F238E27FC236}">
                <a16:creationId xmlns:a16="http://schemas.microsoft.com/office/drawing/2014/main" id="{AA7F16D9-5EA3-E781-D513-1E5C2AA40E89}"/>
              </a:ext>
            </a:extLst>
          </p:cNvPr>
          <p:cNvSpPr txBox="1"/>
          <p:nvPr/>
        </p:nvSpPr>
        <p:spPr>
          <a:xfrm>
            <a:off x="522515" y="3859262"/>
            <a:ext cx="5573486" cy="1763560"/>
          </a:xfrm>
          <a:prstGeom prst="rect">
            <a:avLst/>
          </a:prstGeom>
          <a:noFill/>
        </p:spPr>
        <p:txBody>
          <a:bodyPr wrap="square">
            <a:spAutoFit/>
          </a:bodyPr>
          <a:lstStyle/>
          <a:p>
            <a:pPr algn="l">
              <a:buNone/>
            </a:pPr>
            <a:r>
              <a:rPr lang="en-US" sz="2000" b="0" i="0" dirty="0">
                <a:solidFill>
                  <a:srgbClr val="161616"/>
                </a:solidFill>
                <a:effectLst/>
                <a:latin typeface="Segoe UI" panose="020B0502040204020203" pitchFamily="34" charset="0"/>
              </a:rPr>
              <a:t>Key capabilities:</a:t>
            </a:r>
          </a:p>
          <a:p>
            <a:pPr algn="l">
              <a:buNone/>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Intelligent indexing</a:t>
            </a:r>
            <a:r>
              <a:rPr lang="en-US" b="0" i="0" dirty="0">
                <a:solidFill>
                  <a:srgbClr val="161616"/>
                </a:solidFill>
                <a:effectLst/>
                <a:latin typeface="Segoe UI" panose="020B0502040204020203" pitchFamily="34" charset="0"/>
              </a:rPr>
              <a:t>: Index documents and data from a range of sources, including images</a:t>
            </a: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AI enrichment</a:t>
            </a:r>
            <a:r>
              <a:rPr lang="en-US" b="0" i="0" dirty="0">
                <a:solidFill>
                  <a:srgbClr val="161616"/>
                </a:solidFill>
                <a:effectLst/>
                <a:latin typeface="Segoe UI" panose="020B0502040204020203" pitchFamily="34" charset="0"/>
              </a:rPr>
              <a:t>: Use AI skills to enrich index data</a:t>
            </a: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Vectorization</a:t>
            </a:r>
            <a:r>
              <a:rPr lang="en-US" b="0" dirty="0">
                <a:solidFill>
                  <a:srgbClr val="161616"/>
                </a:solidFill>
                <a:effectLst/>
                <a:latin typeface="Segoe UI" panose="020B0502040204020203" pitchFamily="34" charset="0"/>
              </a:rPr>
              <a:t>: Support agentic workloads</a:t>
            </a:r>
            <a:endParaRPr lang="en-US" sz="1600" b="0" i="0" dirty="0">
              <a:solidFill>
                <a:srgbClr val="161616"/>
              </a:solidFill>
              <a:effectLst/>
              <a:latin typeface="Segoe UI" panose="020B0502040204020203" pitchFamily="34" charset="0"/>
            </a:endParaRPr>
          </a:p>
        </p:txBody>
      </p:sp>
      <p:sp>
        <p:nvSpPr>
          <p:cNvPr id="3" name="Footer Placeholder 2">
            <a:extLst>
              <a:ext uri="{FF2B5EF4-FFF2-40B4-BE49-F238E27FC236}">
                <a16:creationId xmlns:a16="http://schemas.microsoft.com/office/drawing/2014/main" id="{3F39ABD6-210D-502B-681C-C2D8B7FA5CE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61" name="Group 60" descr="Diagram showing how Azure AI Search can apply to many different solutions.">
            <a:extLst>
              <a:ext uri="{FF2B5EF4-FFF2-40B4-BE49-F238E27FC236}">
                <a16:creationId xmlns:a16="http://schemas.microsoft.com/office/drawing/2014/main" id="{4C257740-4819-BCB6-7166-6F65DC0C4E68}"/>
              </a:ext>
            </a:extLst>
          </p:cNvPr>
          <p:cNvGrpSpPr/>
          <p:nvPr/>
        </p:nvGrpSpPr>
        <p:grpSpPr>
          <a:xfrm>
            <a:off x="3634549" y="1129554"/>
            <a:ext cx="4582728" cy="2676664"/>
            <a:chOff x="2710775" y="1202204"/>
            <a:chExt cx="4356917" cy="2550362"/>
          </a:xfrm>
        </p:grpSpPr>
        <p:pic>
          <p:nvPicPr>
            <p:cNvPr id="64" name="Graphic 63">
              <a:extLst>
                <a:ext uri="{FF2B5EF4-FFF2-40B4-BE49-F238E27FC236}">
                  <a16:creationId xmlns:a16="http://schemas.microsoft.com/office/drawing/2014/main" id="{5257B6D0-C62B-8B6E-DEA4-FEAF474DFD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1990" y="1202204"/>
              <a:ext cx="1100031" cy="1100031"/>
            </a:xfrm>
            <a:prstGeom prst="rect">
              <a:avLst/>
            </a:prstGeom>
          </p:spPr>
        </p:pic>
        <p:grpSp>
          <p:nvGrpSpPr>
            <p:cNvPr id="65" name="Group 64">
              <a:extLst>
                <a:ext uri="{FF2B5EF4-FFF2-40B4-BE49-F238E27FC236}">
                  <a16:creationId xmlns:a16="http://schemas.microsoft.com/office/drawing/2014/main" id="{70372824-5739-F328-8CB7-0A8871DD9561}"/>
                </a:ext>
              </a:extLst>
            </p:cNvPr>
            <p:cNvGrpSpPr/>
            <p:nvPr/>
          </p:nvGrpSpPr>
          <p:grpSpPr>
            <a:xfrm>
              <a:off x="2710775" y="2527830"/>
              <a:ext cx="1224736" cy="1224736"/>
              <a:chOff x="3025941" y="2344903"/>
              <a:chExt cx="1277817" cy="1277817"/>
            </a:xfrm>
          </p:grpSpPr>
          <p:pic>
            <p:nvPicPr>
              <p:cNvPr id="86" name="Graphic 85" descr="Magnifying glass with solid fill">
                <a:extLst>
                  <a:ext uri="{FF2B5EF4-FFF2-40B4-BE49-F238E27FC236}">
                    <a16:creationId xmlns:a16="http://schemas.microsoft.com/office/drawing/2014/main" id="{D2FBCB12-35BC-0BA3-BC4E-14EBF527C1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4848" y="2840291"/>
                <a:ext cx="287039" cy="287039"/>
              </a:xfrm>
              <a:prstGeom prst="rect">
                <a:avLst/>
              </a:prstGeom>
            </p:spPr>
          </p:pic>
          <p:pic>
            <p:nvPicPr>
              <p:cNvPr id="87" name="Graphic 86" descr="World outline">
                <a:extLst>
                  <a:ext uri="{FF2B5EF4-FFF2-40B4-BE49-F238E27FC236}">
                    <a16:creationId xmlns:a16="http://schemas.microsoft.com/office/drawing/2014/main" id="{CCD83263-2CAF-90C3-D281-8AC817CFF8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0417" y="2738043"/>
                <a:ext cx="328863" cy="328863"/>
              </a:xfrm>
              <a:prstGeom prst="rect">
                <a:avLst/>
              </a:prstGeom>
            </p:spPr>
          </p:pic>
          <p:pic>
            <p:nvPicPr>
              <p:cNvPr id="88" name="Graphic 87" descr="Laptop outline">
                <a:extLst>
                  <a:ext uri="{FF2B5EF4-FFF2-40B4-BE49-F238E27FC236}">
                    <a16:creationId xmlns:a16="http://schemas.microsoft.com/office/drawing/2014/main" id="{EF444ED9-695C-A372-C45D-9912D2087C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25941" y="2344903"/>
                <a:ext cx="1277817" cy="1277817"/>
              </a:xfrm>
              <a:prstGeom prst="rect">
                <a:avLst/>
              </a:prstGeom>
            </p:spPr>
          </p:pic>
        </p:grpSp>
        <p:grpSp>
          <p:nvGrpSpPr>
            <p:cNvPr id="66" name="Group 65">
              <a:extLst>
                <a:ext uri="{FF2B5EF4-FFF2-40B4-BE49-F238E27FC236}">
                  <a16:creationId xmlns:a16="http://schemas.microsoft.com/office/drawing/2014/main" id="{618B7A23-95B9-CC26-B722-EEC9A235572B}"/>
                </a:ext>
              </a:extLst>
            </p:cNvPr>
            <p:cNvGrpSpPr/>
            <p:nvPr/>
          </p:nvGrpSpPr>
          <p:grpSpPr>
            <a:xfrm>
              <a:off x="5640445" y="2666357"/>
              <a:ext cx="1427247" cy="947677"/>
              <a:chOff x="2150777" y="3946050"/>
              <a:chExt cx="2548413" cy="1692121"/>
            </a:xfrm>
          </p:grpSpPr>
          <p:sp>
            <p:nvSpPr>
              <p:cNvPr id="71" name="Arrow: Right 70">
                <a:extLst>
                  <a:ext uri="{FF2B5EF4-FFF2-40B4-BE49-F238E27FC236}">
                    <a16:creationId xmlns:a16="http://schemas.microsoft.com/office/drawing/2014/main" id="{70742238-66A3-A223-7A3D-3919E677F331}"/>
                  </a:ext>
                </a:extLst>
              </p:cNvPr>
              <p:cNvSpPr/>
              <p:nvPr/>
            </p:nvSpPr>
            <p:spPr>
              <a:xfrm>
                <a:off x="3066839" y="4507371"/>
                <a:ext cx="966485" cy="651638"/>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pSp>
            <p:nvGrpSpPr>
              <p:cNvPr id="72" name="Group 71">
                <a:extLst>
                  <a:ext uri="{FF2B5EF4-FFF2-40B4-BE49-F238E27FC236}">
                    <a16:creationId xmlns:a16="http://schemas.microsoft.com/office/drawing/2014/main" id="{97341AA5-FE62-29A5-4F8D-F236DA024F2E}"/>
                  </a:ext>
                </a:extLst>
              </p:cNvPr>
              <p:cNvGrpSpPr/>
              <p:nvPr/>
            </p:nvGrpSpPr>
            <p:grpSpPr>
              <a:xfrm rot="372238">
                <a:off x="2213432" y="4723771"/>
                <a:ext cx="914400" cy="914400"/>
                <a:chOff x="3206996" y="3748009"/>
                <a:chExt cx="914400" cy="914400"/>
              </a:xfrm>
            </p:grpSpPr>
            <p:sp>
              <p:nvSpPr>
                <p:cNvPr id="84" name="Rectangle 83">
                  <a:extLst>
                    <a:ext uri="{FF2B5EF4-FFF2-40B4-BE49-F238E27FC236}">
                      <a16:creationId xmlns:a16="http://schemas.microsoft.com/office/drawing/2014/main" id="{9E9A6FBD-715C-408B-B394-3B63BD84F84F}"/>
                    </a:ext>
                  </a:extLst>
                </p:cNvPr>
                <p:cNvSpPr/>
                <p:nvPr/>
              </p:nvSpPr>
              <p:spPr>
                <a:xfrm>
                  <a:off x="3389467" y="3843230"/>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5" name="Graphic 84" descr="Contract outline">
                  <a:extLst>
                    <a:ext uri="{FF2B5EF4-FFF2-40B4-BE49-F238E27FC236}">
                      <a16:creationId xmlns:a16="http://schemas.microsoft.com/office/drawing/2014/main" id="{79228374-33E9-1A8C-FCA3-EED264323F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06996" y="3748009"/>
                  <a:ext cx="914400" cy="914400"/>
                </a:xfrm>
                <a:prstGeom prst="rect">
                  <a:avLst/>
                </a:prstGeom>
              </p:spPr>
            </p:pic>
          </p:grpSp>
          <p:grpSp>
            <p:nvGrpSpPr>
              <p:cNvPr id="73" name="Group 72">
                <a:extLst>
                  <a:ext uri="{FF2B5EF4-FFF2-40B4-BE49-F238E27FC236}">
                    <a16:creationId xmlns:a16="http://schemas.microsoft.com/office/drawing/2014/main" id="{0684BAA2-CC41-D69D-873B-FDE63ABF3FC0}"/>
                  </a:ext>
                </a:extLst>
              </p:cNvPr>
              <p:cNvGrpSpPr/>
              <p:nvPr/>
            </p:nvGrpSpPr>
            <p:grpSpPr>
              <a:xfrm rot="21112203">
                <a:off x="2150777" y="3946050"/>
                <a:ext cx="914400" cy="914400"/>
                <a:chOff x="3116357" y="5130609"/>
                <a:chExt cx="914400" cy="914400"/>
              </a:xfrm>
            </p:grpSpPr>
            <p:sp>
              <p:nvSpPr>
                <p:cNvPr id="82" name="Rectangle 81">
                  <a:extLst>
                    <a:ext uri="{FF2B5EF4-FFF2-40B4-BE49-F238E27FC236}">
                      <a16:creationId xmlns:a16="http://schemas.microsoft.com/office/drawing/2014/main" id="{A5A8D2BC-CBFD-1297-A119-030FCB258DAF}"/>
                    </a:ext>
                  </a:extLst>
                </p:cNvPr>
                <p:cNvSpPr/>
                <p:nvPr/>
              </p:nvSpPr>
              <p:spPr>
                <a:xfrm>
                  <a:off x="3285078" y="5211691"/>
                  <a:ext cx="56620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3" name="Graphic 82" descr="Document outline">
                  <a:extLst>
                    <a:ext uri="{FF2B5EF4-FFF2-40B4-BE49-F238E27FC236}">
                      <a16:creationId xmlns:a16="http://schemas.microsoft.com/office/drawing/2014/main" id="{E9F0F14A-5061-8E1E-5BB1-CFB441EBEA3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16357" y="5130609"/>
                  <a:ext cx="914400" cy="914400"/>
                </a:xfrm>
                <a:prstGeom prst="rect">
                  <a:avLst/>
                </a:prstGeom>
              </p:spPr>
            </p:pic>
          </p:grpSp>
          <p:grpSp>
            <p:nvGrpSpPr>
              <p:cNvPr id="74" name="Group 73">
                <a:extLst>
                  <a:ext uri="{FF2B5EF4-FFF2-40B4-BE49-F238E27FC236}">
                    <a16:creationId xmlns:a16="http://schemas.microsoft.com/office/drawing/2014/main" id="{AA249131-2D4E-82CB-ABAA-A214BEB858A0}"/>
                  </a:ext>
                </a:extLst>
              </p:cNvPr>
              <p:cNvGrpSpPr/>
              <p:nvPr/>
            </p:nvGrpSpPr>
            <p:grpSpPr>
              <a:xfrm>
                <a:off x="3784790" y="4375990"/>
                <a:ext cx="914400" cy="914400"/>
                <a:chOff x="4105545" y="4389593"/>
                <a:chExt cx="914400" cy="914400"/>
              </a:xfrm>
            </p:grpSpPr>
            <p:sp>
              <p:nvSpPr>
                <p:cNvPr id="80" name="Rectangle 79">
                  <a:extLst>
                    <a:ext uri="{FF2B5EF4-FFF2-40B4-BE49-F238E27FC236}">
                      <a16:creationId xmlns:a16="http://schemas.microsoft.com/office/drawing/2014/main" id="{8324F1C1-B0EF-2359-6697-5A863B1A03FE}"/>
                    </a:ext>
                  </a:extLst>
                </p:cNvPr>
                <p:cNvSpPr/>
                <p:nvPr/>
              </p:nvSpPr>
              <p:spPr>
                <a:xfrm>
                  <a:off x="4286519" y="4472128"/>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1" name="Graphic 80" descr="Checklist outline">
                  <a:extLst>
                    <a:ext uri="{FF2B5EF4-FFF2-40B4-BE49-F238E27FC236}">
                      <a16:creationId xmlns:a16="http://schemas.microsoft.com/office/drawing/2014/main" id="{38E3B967-C1B3-6372-AEF6-51B042D268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05545" y="4389593"/>
                  <a:ext cx="914400" cy="914400"/>
                </a:xfrm>
                <a:prstGeom prst="rect">
                  <a:avLst/>
                </a:prstGeom>
              </p:spPr>
            </p:pic>
          </p:grpSp>
          <p:grpSp>
            <p:nvGrpSpPr>
              <p:cNvPr id="75" name="Group 74">
                <a:extLst>
                  <a:ext uri="{FF2B5EF4-FFF2-40B4-BE49-F238E27FC236}">
                    <a16:creationId xmlns:a16="http://schemas.microsoft.com/office/drawing/2014/main" id="{95B58738-2366-9D85-A5D7-D6EC1E134195}"/>
                  </a:ext>
                </a:extLst>
              </p:cNvPr>
              <p:cNvGrpSpPr/>
              <p:nvPr/>
            </p:nvGrpSpPr>
            <p:grpSpPr>
              <a:xfrm>
                <a:off x="2545194" y="4272326"/>
                <a:ext cx="914400" cy="914400"/>
                <a:chOff x="2627878" y="4280734"/>
                <a:chExt cx="914400" cy="914400"/>
              </a:xfrm>
            </p:grpSpPr>
            <p:sp>
              <p:nvSpPr>
                <p:cNvPr id="76" name="Rectangle 75">
                  <a:extLst>
                    <a:ext uri="{FF2B5EF4-FFF2-40B4-BE49-F238E27FC236}">
                      <a16:creationId xmlns:a16="http://schemas.microsoft.com/office/drawing/2014/main" id="{497BE9C0-A690-3E17-9D85-1750822CB3F5}"/>
                    </a:ext>
                  </a:extLst>
                </p:cNvPr>
                <p:cNvSpPr/>
                <p:nvPr/>
              </p:nvSpPr>
              <p:spPr>
                <a:xfrm>
                  <a:off x="2802808" y="4363269"/>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7" name="Group 76">
                  <a:extLst>
                    <a:ext uri="{FF2B5EF4-FFF2-40B4-BE49-F238E27FC236}">
                      <a16:creationId xmlns:a16="http://schemas.microsoft.com/office/drawing/2014/main" id="{EB538052-27D1-E376-CAF5-0D7B67A8516A}"/>
                    </a:ext>
                  </a:extLst>
                </p:cNvPr>
                <p:cNvGrpSpPr/>
                <p:nvPr/>
              </p:nvGrpSpPr>
              <p:grpSpPr>
                <a:xfrm>
                  <a:off x="2627878" y="4280734"/>
                  <a:ext cx="914400" cy="914400"/>
                  <a:chOff x="2627878" y="4280734"/>
                  <a:chExt cx="914400" cy="914400"/>
                </a:xfrm>
              </p:grpSpPr>
              <p:pic>
                <p:nvPicPr>
                  <p:cNvPr id="78" name="Graphic 77" descr="Paper outline">
                    <a:extLst>
                      <a:ext uri="{FF2B5EF4-FFF2-40B4-BE49-F238E27FC236}">
                        <a16:creationId xmlns:a16="http://schemas.microsoft.com/office/drawing/2014/main" id="{21FE4AC8-7FE2-0985-5902-AE8762F622B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27878" y="4280734"/>
                    <a:ext cx="914400" cy="914400"/>
                  </a:xfrm>
                  <a:prstGeom prst="rect">
                    <a:avLst/>
                  </a:prstGeom>
                </p:spPr>
              </p:pic>
              <p:pic>
                <p:nvPicPr>
                  <p:cNvPr id="79" name="Graphic 78" descr="Polaroid Pictures outline">
                    <a:extLst>
                      <a:ext uri="{FF2B5EF4-FFF2-40B4-BE49-F238E27FC236}">
                        <a16:creationId xmlns:a16="http://schemas.microsoft.com/office/drawing/2014/main" id="{4624C6AF-DD40-E1B3-EB56-7AFBC2B3A3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21106" y="4592559"/>
                    <a:ext cx="477336" cy="477336"/>
                  </a:xfrm>
                  <a:prstGeom prst="rect">
                    <a:avLst/>
                  </a:prstGeom>
                </p:spPr>
              </p:pic>
            </p:grpSp>
          </p:grpSp>
        </p:grpSp>
        <p:grpSp>
          <p:nvGrpSpPr>
            <p:cNvPr id="67" name="Group 66">
              <a:extLst>
                <a:ext uri="{FF2B5EF4-FFF2-40B4-BE49-F238E27FC236}">
                  <a16:creationId xmlns:a16="http://schemas.microsoft.com/office/drawing/2014/main" id="{0BC8AB45-BAD7-5604-5884-040CB6309002}"/>
                </a:ext>
              </a:extLst>
            </p:cNvPr>
            <p:cNvGrpSpPr/>
            <p:nvPr/>
          </p:nvGrpSpPr>
          <p:grpSpPr>
            <a:xfrm>
              <a:off x="4330048" y="2741961"/>
              <a:ext cx="914400" cy="955760"/>
              <a:chOff x="4386761" y="3118883"/>
              <a:chExt cx="914400" cy="955760"/>
            </a:xfrm>
          </p:grpSpPr>
          <p:pic>
            <p:nvPicPr>
              <p:cNvPr id="69" name="Graphic 68" descr="Cube with solid fill">
                <a:extLst>
                  <a:ext uri="{FF2B5EF4-FFF2-40B4-BE49-F238E27FC236}">
                    <a16:creationId xmlns:a16="http://schemas.microsoft.com/office/drawing/2014/main" id="{6E5416AA-80B7-B170-A80F-0647D68A5E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05027" y="3118883"/>
                <a:ext cx="324798" cy="324798"/>
              </a:xfrm>
              <a:prstGeom prst="rect">
                <a:avLst/>
              </a:prstGeom>
            </p:spPr>
          </p:pic>
          <p:pic>
            <p:nvPicPr>
              <p:cNvPr id="70" name="Graphic 69" descr="Chat outline">
                <a:extLst>
                  <a:ext uri="{FF2B5EF4-FFF2-40B4-BE49-F238E27FC236}">
                    <a16:creationId xmlns:a16="http://schemas.microsoft.com/office/drawing/2014/main" id="{CABAAB33-F4E9-37FB-8A47-36C44883AA4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86761" y="3160243"/>
                <a:ext cx="914400" cy="914400"/>
              </a:xfrm>
              <a:prstGeom prst="rect">
                <a:avLst/>
              </a:prstGeom>
            </p:spPr>
          </p:pic>
        </p:grpSp>
        <p:sp>
          <p:nvSpPr>
            <p:cNvPr id="68" name="Left Brace 67">
              <a:extLst>
                <a:ext uri="{FF2B5EF4-FFF2-40B4-BE49-F238E27FC236}">
                  <a16:creationId xmlns:a16="http://schemas.microsoft.com/office/drawing/2014/main" id="{DEB79356-D00A-DF08-CC8A-BA866B7122A1}"/>
                </a:ext>
              </a:extLst>
            </p:cNvPr>
            <p:cNvSpPr/>
            <p:nvPr/>
          </p:nvSpPr>
          <p:spPr>
            <a:xfrm rot="5400000">
              <a:off x="4737898" y="952497"/>
              <a:ext cx="222454" cy="29282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89" name="TextBox 88">
            <a:extLst>
              <a:ext uri="{FF2B5EF4-FFF2-40B4-BE49-F238E27FC236}">
                <a16:creationId xmlns:a16="http://schemas.microsoft.com/office/drawing/2014/main" id="{A0BBDD04-F2A7-9F29-8BFF-64D2AA1E48BA}"/>
              </a:ext>
            </a:extLst>
          </p:cNvPr>
          <p:cNvSpPr txBox="1"/>
          <p:nvPr/>
        </p:nvSpPr>
        <p:spPr>
          <a:xfrm>
            <a:off x="6394032" y="3859262"/>
            <a:ext cx="5367985" cy="2040559"/>
          </a:xfrm>
          <a:prstGeom prst="rect">
            <a:avLst/>
          </a:prstGeom>
          <a:noFill/>
        </p:spPr>
        <p:txBody>
          <a:bodyPr wrap="square">
            <a:spAutoFit/>
          </a:bodyPr>
          <a:lstStyle/>
          <a:p>
            <a:pPr algn="l">
              <a:buNone/>
            </a:pPr>
            <a:r>
              <a:rPr lang="en-US" sz="2000" b="0" i="0" dirty="0">
                <a:solidFill>
                  <a:srgbClr val="161616"/>
                </a:solidFill>
                <a:effectLst/>
                <a:latin typeface="Segoe UI" panose="020B0502040204020203" pitchFamily="34" charset="0"/>
              </a:rPr>
              <a:t>Core applications:</a:t>
            </a:r>
          </a:p>
          <a:p>
            <a:pPr algn="l">
              <a:buNone/>
            </a:pPr>
            <a:endParaRPr lang="en-US" sz="1800" b="0" i="0" dirty="0">
              <a:solidFill>
                <a:srgbClr val="161616"/>
              </a:solidFill>
              <a:effectLst/>
              <a:latin typeface="Segoe UI" panose="020B0502040204020203" pitchFamily="34" charset="0"/>
            </a:endParaRPr>
          </a:p>
          <a:p>
            <a:pPr marL="285750" indent="-285750">
              <a:buFont typeface="Arial" panose="020B0604020202020204" pitchFamily="34" charset="0"/>
              <a:buChar char="•"/>
            </a:pPr>
            <a:r>
              <a:rPr lang="en-US" i="1" dirty="0">
                <a:solidFill>
                  <a:srgbClr val="161616"/>
                </a:solidFill>
                <a:latin typeface="Segoe UI" panose="020B0502040204020203" pitchFamily="34" charset="0"/>
              </a:rPr>
              <a:t>Enterprise Search</a:t>
            </a:r>
            <a:r>
              <a:rPr lang="en-US" dirty="0">
                <a:solidFill>
                  <a:srgbClr val="161616"/>
                </a:solidFill>
                <a:latin typeface="Segoe UI" panose="020B0502040204020203" pitchFamily="34" charset="0"/>
              </a:rPr>
              <a:t>: Powering websites and apps to find information fast.</a:t>
            </a:r>
          </a:p>
          <a:p>
            <a:pPr marL="285750" indent="-285750">
              <a:buFont typeface="Arial" panose="020B0604020202020204" pitchFamily="34" charset="0"/>
              <a:buChar char="•"/>
            </a:pPr>
            <a:r>
              <a:rPr lang="en-US" i="1" dirty="0">
                <a:solidFill>
                  <a:srgbClr val="161616"/>
                </a:solidFill>
                <a:latin typeface="Segoe UI" panose="020B0502040204020203" pitchFamily="34" charset="0"/>
              </a:rPr>
              <a:t>RAG for Generative AI</a:t>
            </a:r>
            <a:r>
              <a:rPr lang="en-US" dirty="0">
                <a:solidFill>
                  <a:srgbClr val="161616"/>
                </a:solidFill>
                <a:latin typeface="Segoe UI" panose="020B0502040204020203" pitchFamily="34" charset="0"/>
              </a:rPr>
              <a:t>: Grounding LLM prompts </a:t>
            </a:r>
          </a:p>
          <a:p>
            <a:pPr marL="285750" indent="-285750">
              <a:buFont typeface="Arial" panose="020B0604020202020204" pitchFamily="34" charset="0"/>
              <a:buChar char="•"/>
            </a:pPr>
            <a:r>
              <a:rPr lang="en-US" i="1" dirty="0">
                <a:solidFill>
                  <a:srgbClr val="161616"/>
                </a:solidFill>
                <a:latin typeface="Segoe UI" panose="020B0502040204020203" pitchFamily="34" charset="0"/>
              </a:rPr>
              <a:t>Knowledge Mining</a:t>
            </a:r>
            <a:r>
              <a:rPr lang="en-US" dirty="0">
                <a:solidFill>
                  <a:srgbClr val="161616"/>
                </a:solidFill>
                <a:latin typeface="Segoe UI" panose="020B0502040204020203" pitchFamily="34" charset="0"/>
              </a:rPr>
              <a:t>: Turning massive document libraries into data assets for analytics.</a:t>
            </a:r>
            <a:r>
              <a:rPr lang="en-US" sz="1800" b="1" dirty="0">
                <a:solidFill>
                  <a:schemeClr val="accent2"/>
                </a:solidFill>
                <a:latin typeface="Segoe UI" panose="020B0502040204020203" pitchFamily="34" charset="0"/>
              </a:rPr>
              <a:t>*</a:t>
            </a:r>
            <a:endParaRPr lang="en-US" b="1" dirty="0">
              <a:solidFill>
                <a:schemeClr val="accent2"/>
              </a:solidFill>
              <a:latin typeface="Segoe UI" panose="020B0502040204020203" pitchFamily="34" charset="0"/>
            </a:endParaRPr>
          </a:p>
        </p:txBody>
      </p:sp>
      <p:sp>
        <p:nvSpPr>
          <p:cNvPr id="90" name="TextBox 89">
            <a:extLst>
              <a:ext uri="{FF2B5EF4-FFF2-40B4-BE49-F238E27FC236}">
                <a16:creationId xmlns:a16="http://schemas.microsoft.com/office/drawing/2014/main" id="{13D3BDAD-D718-6098-6E24-AE8B03E41ACD}"/>
              </a:ext>
            </a:extLst>
          </p:cNvPr>
          <p:cNvSpPr txBox="1"/>
          <p:nvPr/>
        </p:nvSpPr>
        <p:spPr>
          <a:xfrm>
            <a:off x="10258207" y="5913148"/>
            <a:ext cx="1503810" cy="276999"/>
          </a:xfrm>
          <a:prstGeom prst="rect">
            <a:avLst/>
          </a:prstGeom>
          <a:noFill/>
        </p:spPr>
        <p:txBody>
          <a:bodyPr wrap="none" lIns="0" tIns="0" rIns="0" bIns="0" rtlCol="0">
            <a:spAutoFit/>
          </a:bodyPr>
          <a:lstStyle/>
          <a:p>
            <a:pPr algn="l"/>
            <a:r>
              <a:rPr lang="en-US" sz="1800" dirty="0">
                <a:solidFill>
                  <a:schemeClr val="accent2"/>
                </a:solidFill>
              </a:rPr>
              <a:t>*</a:t>
            </a:r>
            <a:r>
              <a:rPr lang="en-US" sz="1600" i="1" dirty="0"/>
              <a:t>Our focus today</a:t>
            </a:r>
          </a:p>
        </p:txBody>
      </p:sp>
    </p:spTree>
    <p:extLst>
      <p:ext uri="{BB962C8B-B14F-4D97-AF65-F5344CB8AC3E}">
        <p14:creationId xmlns:p14="http://schemas.microsoft.com/office/powerpoint/2010/main" val="107388199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Extract data with an indexer</a:t>
            </a:r>
          </a:p>
        </p:txBody>
      </p:sp>
      <p:sp>
        <p:nvSpPr>
          <p:cNvPr id="5" name="TextBox 4">
            <a:extLst>
              <a:ext uri="{FF2B5EF4-FFF2-40B4-BE49-F238E27FC236}">
                <a16:creationId xmlns:a16="http://schemas.microsoft.com/office/drawing/2014/main" id="{F6D92A1A-DF02-B7A8-CAB8-1B92D53934FA}"/>
              </a:ext>
            </a:extLst>
          </p:cNvPr>
          <p:cNvSpPr txBox="1"/>
          <p:nvPr/>
        </p:nvSpPr>
        <p:spPr>
          <a:xfrm>
            <a:off x="861626" y="1627291"/>
            <a:ext cx="6052106" cy="3231654"/>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n-US" sz="1800" dirty="0"/>
              <a:t>An </a:t>
            </a:r>
            <a:r>
              <a:rPr lang="en-US" sz="1800" i="1" dirty="0"/>
              <a:t>indexer</a:t>
            </a:r>
            <a:r>
              <a:rPr lang="en-US" sz="1800" dirty="0"/>
              <a:t> extracts data from a </a:t>
            </a:r>
            <a:r>
              <a:rPr lang="en-US" sz="1800" i="1" dirty="0"/>
              <a:t>data source</a:t>
            </a:r>
          </a:p>
          <a:p>
            <a:pPr marL="285750" indent="-285750" algn="l">
              <a:spcBef>
                <a:spcPts val="600"/>
              </a:spcBef>
              <a:buFont typeface="Arial" panose="020B0604020202020204" pitchFamily="34" charset="0"/>
              <a:buChar char="•"/>
            </a:pPr>
            <a:r>
              <a:rPr lang="en-US" sz="1800" i="1" dirty="0"/>
              <a:t>Document cracking</a:t>
            </a:r>
            <a:r>
              <a:rPr lang="en-US" sz="1800" dirty="0"/>
              <a:t> retrieves the text content from the source</a:t>
            </a:r>
            <a:endParaRPr lang="en-US" sz="1800" i="1" dirty="0"/>
          </a:p>
          <a:p>
            <a:pPr marL="285750" indent="-285750" algn="l">
              <a:spcBef>
                <a:spcPts val="600"/>
              </a:spcBef>
              <a:buFont typeface="Arial" panose="020B0604020202020204" pitchFamily="34" charset="0"/>
              <a:buChar char="•"/>
            </a:pPr>
            <a:r>
              <a:rPr lang="en-US" sz="1800" dirty="0"/>
              <a:t>An </a:t>
            </a:r>
            <a:r>
              <a:rPr lang="en-US" sz="1800" i="1" dirty="0"/>
              <a:t>enrichment pipeline </a:t>
            </a:r>
            <a:r>
              <a:rPr lang="en-US" sz="1800" dirty="0"/>
              <a:t>iteratively builds JSON representations of each indexed document</a:t>
            </a:r>
          </a:p>
          <a:p>
            <a:pPr marL="285750" indent="-285750" algn="l">
              <a:spcBef>
                <a:spcPts val="600"/>
              </a:spcBef>
              <a:buFont typeface="Arial" panose="020B0604020202020204" pitchFamily="34" charset="0"/>
              <a:buChar char="•"/>
            </a:pPr>
            <a:r>
              <a:rPr lang="en-US" sz="1800" dirty="0"/>
              <a:t>The </a:t>
            </a:r>
            <a:r>
              <a:rPr lang="en-US" sz="1800" i="1" dirty="0"/>
              <a:t>fields </a:t>
            </a:r>
            <a:r>
              <a:rPr lang="en-US" sz="1800" dirty="0"/>
              <a:t>for each document can be:</a:t>
            </a:r>
          </a:p>
          <a:p>
            <a:pPr marL="742933" lvl="1" indent="-285750">
              <a:spcBef>
                <a:spcPts val="600"/>
              </a:spcBef>
              <a:buFont typeface="Arial" panose="020B0604020202020204" pitchFamily="34" charset="0"/>
              <a:buChar char="•"/>
            </a:pPr>
            <a:r>
              <a:rPr lang="en-US" sz="1800" dirty="0"/>
              <a:t>Extracted from the source (e.g. file name, date, size)</a:t>
            </a:r>
          </a:p>
          <a:p>
            <a:pPr marL="742933" lvl="1" indent="-285750">
              <a:spcBef>
                <a:spcPts val="600"/>
              </a:spcBef>
              <a:buFont typeface="Arial" panose="020B0604020202020204" pitchFamily="34" charset="0"/>
              <a:buChar char="•"/>
            </a:pPr>
            <a:r>
              <a:rPr lang="en-US" sz="1800" dirty="0"/>
              <a:t>Inferred or generated in the enrichment pipeline</a:t>
            </a:r>
          </a:p>
          <a:p>
            <a:pPr marL="285750" indent="-285750">
              <a:spcBef>
                <a:spcPts val="600"/>
              </a:spcBef>
              <a:buFont typeface="Arial" panose="020B0604020202020204" pitchFamily="34" charset="0"/>
              <a:buChar char="•"/>
            </a:pPr>
            <a:r>
              <a:rPr lang="en-US" sz="1800" dirty="0"/>
              <a:t>The result is an </a:t>
            </a:r>
            <a:r>
              <a:rPr lang="en-US" sz="1800" i="1" dirty="0"/>
              <a:t>index</a:t>
            </a:r>
            <a:r>
              <a:rPr lang="en-US" sz="1800" dirty="0"/>
              <a:t> containing all of the indexed documents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5" name="Group 14">
            <a:extLst>
              <a:ext uri="{FF2B5EF4-FFF2-40B4-BE49-F238E27FC236}">
                <a16:creationId xmlns:a16="http://schemas.microsoft.com/office/drawing/2014/main" id="{43A8653D-A4E1-9220-E5A9-9DDC797EDC59}"/>
              </a:ext>
              <a:ext uri="{C183D7F6-B498-43B3-948B-1728B52AA6E4}">
                <adec:decorative xmlns:adec="http://schemas.microsoft.com/office/drawing/2017/decorative" val="1"/>
              </a:ext>
            </a:extLst>
          </p:cNvPr>
          <p:cNvGrpSpPr/>
          <p:nvPr/>
        </p:nvGrpSpPr>
        <p:grpSpPr>
          <a:xfrm>
            <a:off x="7741065" y="1170091"/>
            <a:ext cx="1484803" cy="4862730"/>
            <a:chOff x="2951067" y="1109960"/>
            <a:chExt cx="1484803" cy="4862730"/>
          </a:xfrm>
        </p:grpSpPr>
        <p:sp>
          <p:nvSpPr>
            <p:cNvPr id="17" name="Arrow: Down 16">
              <a:extLst>
                <a:ext uri="{FF2B5EF4-FFF2-40B4-BE49-F238E27FC236}">
                  <a16:creationId xmlns:a16="http://schemas.microsoft.com/office/drawing/2014/main" id="{02DFA18C-B3D0-583D-ECFA-EBDC6502EF25}"/>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18" name="Graphic 17" descr="Gears with solid fill">
              <a:extLst>
                <a:ext uri="{FF2B5EF4-FFF2-40B4-BE49-F238E27FC236}">
                  <a16:creationId xmlns:a16="http://schemas.microsoft.com/office/drawing/2014/main" id="{48FCC780-5CAA-DD9D-2B2F-BB6E9B08D6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19" name="Graphic 18" descr="List outline">
              <a:extLst>
                <a:ext uri="{FF2B5EF4-FFF2-40B4-BE49-F238E27FC236}">
                  <a16:creationId xmlns:a16="http://schemas.microsoft.com/office/drawing/2014/main" id="{8A793624-C9BA-A0BA-7A43-CBE89DEC1B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20" name="Group 19">
              <a:extLst>
                <a:ext uri="{FF2B5EF4-FFF2-40B4-BE49-F238E27FC236}">
                  <a16:creationId xmlns:a16="http://schemas.microsoft.com/office/drawing/2014/main" id="{11C9E3C1-D6EF-6C96-CE55-986032E267C2}"/>
                </a:ext>
              </a:extLst>
            </p:cNvPr>
            <p:cNvGrpSpPr/>
            <p:nvPr/>
          </p:nvGrpSpPr>
          <p:grpSpPr>
            <a:xfrm>
              <a:off x="3204296" y="1109960"/>
              <a:ext cx="1231574" cy="1231574"/>
              <a:chOff x="2232474" y="1427224"/>
              <a:chExt cx="1231574" cy="1231574"/>
            </a:xfrm>
          </p:grpSpPr>
          <p:pic>
            <p:nvPicPr>
              <p:cNvPr id="22" name="Graphic 21" descr="Contract outline">
                <a:extLst>
                  <a:ext uri="{FF2B5EF4-FFF2-40B4-BE49-F238E27FC236}">
                    <a16:creationId xmlns:a16="http://schemas.microsoft.com/office/drawing/2014/main" id="{9ED88D2A-38FD-C96F-C564-1B45BA109E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23" name="Graphic 22" descr="Folder with solid fill">
                <a:extLst>
                  <a:ext uri="{FF2B5EF4-FFF2-40B4-BE49-F238E27FC236}">
                    <a16:creationId xmlns:a16="http://schemas.microsoft.com/office/drawing/2014/main" id="{1FB76A42-17F3-4860-7D1B-6A1AB036FC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21" name="Graphic 20">
              <a:extLst>
                <a:ext uri="{FF2B5EF4-FFF2-40B4-BE49-F238E27FC236}">
                  <a16:creationId xmlns:a16="http://schemas.microsoft.com/office/drawing/2014/main" id="{6EBDFCDC-1F21-A8A3-E5DC-2B8BB9D52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51067" y="5090840"/>
              <a:ext cx="881850" cy="881850"/>
            </a:xfrm>
            <a:prstGeom prst="rect">
              <a:avLst/>
            </a:prstGeom>
          </p:spPr>
        </p:pic>
      </p:grpSp>
    </p:spTree>
    <p:extLst>
      <p:ext uri="{BB962C8B-B14F-4D97-AF65-F5344CB8AC3E}">
        <p14:creationId xmlns:p14="http://schemas.microsoft.com/office/powerpoint/2010/main" val="6930228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887876DA-20F9-D541-6DED-ECFB974A8E5C}"/>
              </a:ext>
              <a:ext uri="{C183D7F6-B498-43B3-948B-1728B52AA6E4}">
                <adec:decorative xmlns:adec="http://schemas.microsoft.com/office/drawing/2017/decorative" val="1"/>
              </a:ext>
            </a:extLst>
          </p:cNvPr>
          <p:cNvGrpSpPr/>
          <p:nvPr/>
        </p:nvGrpSpPr>
        <p:grpSpPr>
          <a:xfrm>
            <a:off x="7544841" y="1179693"/>
            <a:ext cx="2273640" cy="4862730"/>
            <a:chOff x="2759631" y="1109960"/>
            <a:chExt cx="2273640" cy="4862730"/>
          </a:xfrm>
        </p:grpSpPr>
        <p:sp>
          <p:nvSpPr>
            <p:cNvPr id="36" name="Arrow: Down 35">
              <a:extLst>
                <a:ext uri="{FF2B5EF4-FFF2-40B4-BE49-F238E27FC236}">
                  <a16:creationId xmlns:a16="http://schemas.microsoft.com/office/drawing/2014/main" id="{B0878816-1D34-39CF-C32D-ECC240C9BA7D}"/>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7" name="Graphic 36" descr="Gears with solid fill">
              <a:extLst>
                <a:ext uri="{FF2B5EF4-FFF2-40B4-BE49-F238E27FC236}">
                  <a16:creationId xmlns:a16="http://schemas.microsoft.com/office/drawing/2014/main" id="{6A287D4B-D02C-04AA-F6F9-982175E7B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38" name="Graphic 37" descr="List outline">
              <a:extLst>
                <a:ext uri="{FF2B5EF4-FFF2-40B4-BE49-F238E27FC236}">
                  <a16:creationId xmlns:a16="http://schemas.microsoft.com/office/drawing/2014/main" id="{7E9ADC37-CC49-2BC2-DB26-68D680216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39" name="Group 38">
              <a:extLst>
                <a:ext uri="{FF2B5EF4-FFF2-40B4-BE49-F238E27FC236}">
                  <a16:creationId xmlns:a16="http://schemas.microsoft.com/office/drawing/2014/main" id="{5C1A7179-37A3-6E2D-E0B7-0DE9E1B313A6}"/>
                </a:ext>
              </a:extLst>
            </p:cNvPr>
            <p:cNvGrpSpPr/>
            <p:nvPr/>
          </p:nvGrpSpPr>
          <p:grpSpPr>
            <a:xfrm>
              <a:off x="3204296" y="1109960"/>
              <a:ext cx="1231574" cy="1231574"/>
              <a:chOff x="2232474" y="1427224"/>
              <a:chExt cx="1231574" cy="1231574"/>
            </a:xfrm>
          </p:grpSpPr>
          <p:pic>
            <p:nvPicPr>
              <p:cNvPr id="53" name="Graphic 52" descr="Contract outline">
                <a:extLst>
                  <a:ext uri="{FF2B5EF4-FFF2-40B4-BE49-F238E27FC236}">
                    <a16:creationId xmlns:a16="http://schemas.microsoft.com/office/drawing/2014/main" id="{E1633D25-BCD1-1F9D-8502-1FB40C6325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54" name="Graphic 53" descr="Folder with solid fill">
                <a:extLst>
                  <a:ext uri="{FF2B5EF4-FFF2-40B4-BE49-F238E27FC236}">
                    <a16:creationId xmlns:a16="http://schemas.microsoft.com/office/drawing/2014/main" id="{22660AA0-760F-C54D-B792-2C6A02BEE6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40" name="Graphic 39">
              <a:extLst>
                <a:ext uri="{FF2B5EF4-FFF2-40B4-BE49-F238E27FC236}">
                  <a16:creationId xmlns:a16="http://schemas.microsoft.com/office/drawing/2014/main" id="{907FD83D-96FF-E765-5FBD-97CCAA1B43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41" name="Graphic 40">
              <a:extLst>
                <a:ext uri="{FF2B5EF4-FFF2-40B4-BE49-F238E27FC236}">
                  <a16:creationId xmlns:a16="http://schemas.microsoft.com/office/drawing/2014/main" id="{BAE7C486-540E-98E4-B2A5-61068DB336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42" name="Graphic 41">
              <a:extLst>
                <a:ext uri="{FF2B5EF4-FFF2-40B4-BE49-F238E27FC236}">
                  <a16:creationId xmlns:a16="http://schemas.microsoft.com/office/drawing/2014/main" id="{E5E27509-32F3-1D34-CEC2-FBCF246866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43" name="Graphic 42">
              <a:extLst>
                <a:ext uri="{FF2B5EF4-FFF2-40B4-BE49-F238E27FC236}">
                  <a16:creationId xmlns:a16="http://schemas.microsoft.com/office/drawing/2014/main" id="{B54BDC17-0BAF-015D-A0EA-F475A93FA1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44" name="Group 43">
              <a:extLst>
                <a:ext uri="{FF2B5EF4-FFF2-40B4-BE49-F238E27FC236}">
                  <a16:creationId xmlns:a16="http://schemas.microsoft.com/office/drawing/2014/main" id="{188C4BAB-70BC-8471-51B1-0DC781648384}"/>
                </a:ext>
              </a:extLst>
            </p:cNvPr>
            <p:cNvGrpSpPr/>
            <p:nvPr/>
          </p:nvGrpSpPr>
          <p:grpSpPr>
            <a:xfrm>
              <a:off x="3263152" y="2590227"/>
              <a:ext cx="556931" cy="115873"/>
              <a:chOff x="3263152" y="2590227"/>
              <a:chExt cx="556931" cy="115873"/>
            </a:xfrm>
          </p:grpSpPr>
          <p:cxnSp>
            <p:nvCxnSpPr>
              <p:cNvPr id="51" name="Straight Arrow Connector 50">
                <a:extLst>
                  <a:ext uri="{FF2B5EF4-FFF2-40B4-BE49-F238E27FC236}">
                    <a16:creationId xmlns:a16="http://schemas.microsoft.com/office/drawing/2014/main" id="{423CFBF0-118C-8170-C272-10BC5AF21089}"/>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2" name="Straight Arrow Connector 51">
                <a:extLst>
                  <a:ext uri="{FF2B5EF4-FFF2-40B4-BE49-F238E27FC236}">
                    <a16:creationId xmlns:a16="http://schemas.microsoft.com/office/drawing/2014/main" id="{F55A73A9-DE52-24F5-F093-3D9CD00CB291}"/>
                  </a:ext>
                </a:extLst>
              </p:cNvPr>
              <p:cNvCxnSpPr>
                <a:cxnSpLocks/>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5" name="Group 44">
              <a:extLst>
                <a:ext uri="{FF2B5EF4-FFF2-40B4-BE49-F238E27FC236}">
                  <a16:creationId xmlns:a16="http://schemas.microsoft.com/office/drawing/2014/main" id="{95827273-CEB9-5E27-ED3B-986B284B2EE0}"/>
                </a:ext>
              </a:extLst>
            </p:cNvPr>
            <p:cNvGrpSpPr/>
            <p:nvPr/>
          </p:nvGrpSpPr>
          <p:grpSpPr>
            <a:xfrm>
              <a:off x="3269921" y="3602731"/>
              <a:ext cx="601850" cy="115873"/>
              <a:chOff x="3263152" y="2590227"/>
              <a:chExt cx="601850" cy="115873"/>
            </a:xfrm>
          </p:grpSpPr>
          <p:cxnSp>
            <p:nvCxnSpPr>
              <p:cNvPr id="49" name="Straight Arrow Connector 48">
                <a:extLst>
                  <a:ext uri="{FF2B5EF4-FFF2-40B4-BE49-F238E27FC236}">
                    <a16:creationId xmlns:a16="http://schemas.microsoft.com/office/drawing/2014/main" id="{08332A43-CECF-60DB-9D7E-FAAD5B3250E6}"/>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0" name="Straight Arrow Connector 49">
                <a:extLst>
                  <a:ext uri="{FF2B5EF4-FFF2-40B4-BE49-F238E27FC236}">
                    <a16:creationId xmlns:a16="http://schemas.microsoft.com/office/drawing/2014/main" id="{74F3222D-FFEE-DD2E-F7CC-CA9ADA26559D}"/>
                  </a:ext>
                </a:extLst>
              </p:cNvPr>
              <p:cNvCxnSpPr>
                <a:cxnSpLocks/>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6" name="Group 45">
              <a:extLst>
                <a:ext uri="{FF2B5EF4-FFF2-40B4-BE49-F238E27FC236}">
                  <a16:creationId xmlns:a16="http://schemas.microsoft.com/office/drawing/2014/main" id="{03F63C52-75CD-CBDB-7089-3574B80CC44C}"/>
                </a:ext>
              </a:extLst>
            </p:cNvPr>
            <p:cNvGrpSpPr/>
            <p:nvPr/>
          </p:nvGrpSpPr>
          <p:grpSpPr>
            <a:xfrm flipV="1">
              <a:off x="4038823" y="3082211"/>
              <a:ext cx="444155" cy="134091"/>
              <a:chOff x="3263152" y="2590227"/>
              <a:chExt cx="587533" cy="115873"/>
            </a:xfrm>
          </p:grpSpPr>
          <p:cxnSp>
            <p:nvCxnSpPr>
              <p:cNvPr id="47" name="Straight Arrow Connector 46">
                <a:extLst>
                  <a:ext uri="{FF2B5EF4-FFF2-40B4-BE49-F238E27FC236}">
                    <a16:creationId xmlns:a16="http://schemas.microsoft.com/office/drawing/2014/main" id="{184FC3AA-2A3D-4518-FD61-99AE8D73BD10}"/>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48" name="Straight Arrow Connector 47">
                <a:extLst>
                  <a:ext uri="{FF2B5EF4-FFF2-40B4-BE49-F238E27FC236}">
                    <a16:creationId xmlns:a16="http://schemas.microsoft.com/office/drawing/2014/main" id="{ADB427C3-8D37-3C23-5CF1-89D9E28A4B36}"/>
                  </a:ext>
                </a:extLst>
              </p:cNvPr>
              <p:cNvCxnSpPr>
                <a:cxnSpLocks/>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Enrich extracted data with AI skills</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502639"/>
            <a:ext cx="6052106" cy="4416594"/>
          </a:xfrm>
          <a:prstGeom prst="rect">
            <a:avLst/>
          </a:prstGeom>
          <a:noFill/>
        </p:spPr>
        <p:txBody>
          <a:bodyPr wrap="square" lIns="0" tIns="0" rIns="0" bIns="0" rtlCol="0">
            <a:spAutoFit/>
          </a:bodyPr>
          <a:lstStyle/>
          <a:p>
            <a:pPr algn="l">
              <a:spcBef>
                <a:spcPts val="600"/>
              </a:spcBef>
            </a:pPr>
            <a:r>
              <a:rPr lang="en-US" sz="2000" dirty="0">
                <a:latin typeface="+mj-lt"/>
              </a:rPr>
              <a:t>Built-in skills:</a:t>
            </a:r>
          </a:p>
          <a:p>
            <a:pPr marL="285750" indent="-285750" algn="l">
              <a:spcBef>
                <a:spcPts val="600"/>
              </a:spcBef>
              <a:buFont typeface="Arial" panose="020B0604020202020204" pitchFamily="34" charset="0"/>
              <a:buChar char="•"/>
            </a:pPr>
            <a:r>
              <a:rPr lang="en-US" sz="1600" dirty="0"/>
              <a:t>Detecting the language that text is written in</a:t>
            </a:r>
          </a:p>
          <a:p>
            <a:pPr marL="285750" indent="-285750" algn="l">
              <a:spcBef>
                <a:spcPts val="600"/>
              </a:spcBef>
              <a:buFont typeface="Arial" panose="020B0604020202020204" pitchFamily="34" charset="0"/>
              <a:buChar char="•"/>
            </a:pPr>
            <a:r>
              <a:rPr lang="en-US" sz="1600" dirty="0"/>
              <a:t>Detecting and extracting places, locations, and other entities in the text</a:t>
            </a:r>
          </a:p>
          <a:p>
            <a:pPr marL="285750" indent="-285750" algn="l">
              <a:spcBef>
                <a:spcPts val="600"/>
              </a:spcBef>
              <a:buFont typeface="Arial" panose="020B0604020202020204" pitchFamily="34" charset="0"/>
              <a:buChar char="•"/>
            </a:pPr>
            <a:r>
              <a:rPr lang="en-US" sz="1600" dirty="0"/>
              <a:t>Determining and extracting key phrases within a body of text</a:t>
            </a:r>
          </a:p>
          <a:p>
            <a:pPr marL="285750" indent="-285750" algn="l">
              <a:spcBef>
                <a:spcPts val="600"/>
              </a:spcBef>
              <a:buFont typeface="Arial" panose="020B0604020202020204" pitchFamily="34" charset="0"/>
              <a:buChar char="•"/>
            </a:pPr>
            <a:r>
              <a:rPr lang="en-US" sz="1600" dirty="0"/>
              <a:t>Translating text</a:t>
            </a:r>
          </a:p>
          <a:p>
            <a:pPr marL="285750" indent="-285750" algn="l">
              <a:spcBef>
                <a:spcPts val="600"/>
              </a:spcBef>
              <a:buFont typeface="Arial" panose="020B0604020202020204" pitchFamily="34" charset="0"/>
              <a:buChar char="•"/>
            </a:pPr>
            <a:r>
              <a:rPr lang="en-US" sz="1600" dirty="0"/>
              <a:t>Identifying and extracting (or removing) personally identifiable information (PII) within the text</a:t>
            </a:r>
          </a:p>
          <a:p>
            <a:pPr marL="285750" indent="-285750" algn="l">
              <a:spcBef>
                <a:spcPts val="600"/>
              </a:spcBef>
              <a:buFont typeface="Arial" panose="020B0604020202020204" pitchFamily="34" charset="0"/>
              <a:buChar char="•"/>
            </a:pPr>
            <a:r>
              <a:rPr lang="en-US" sz="1600" dirty="0"/>
              <a:t>Extracting text from images</a:t>
            </a:r>
          </a:p>
          <a:p>
            <a:pPr marL="285750" indent="-285750" algn="l">
              <a:spcBef>
                <a:spcPts val="600"/>
              </a:spcBef>
              <a:buFont typeface="Arial" panose="020B0604020202020204" pitchFamily="34" charset="0"/>
              <a:buChar char="•"/>
            </a:pPr>
            <a:r>
              <a:rPr lang="en-US" sz="1600" dirty="0"/>
              <a:t>Generating captions and tags to describe images</a:t>
            </a:r>
          </a:p>
          <a:p>
            <a:pPr marL="285750" indent="-285750" algn="l">
              <a:spcBef>
                <a:spcPts val="600"/>
              </a:spcBef>
              <a:buFont typeface="Arial" panose="020B0604020202020204" pitchFamily="34" charset="0"/>
              <a:buChar char="•"/>
            </a:pPr>
            <a:r>
              <a:rPr lang="en-US" sz="1600" dirty="0"/>
              <a:t>Multimodal image and text vectorization</a:t>
            </a:r>
          </a:p>
          <a:p>
            <a:pPr>
              <a:spcBef>
                <a:spcPts val="600"/>
              </a:spcBef>
            </a:pPr>
            <a:r>
              <a:rPr lang="en-US" sz="2000" dirty="0">
                <a:latin typeface="+mj-lt"/>
              </a:rPr>
              <a:t>Custom skills:</a:t>
            </a:r>
          </a:p>
          <a:p>
            <a:pPr marL="285750" indent="-285750" algn="l">
              <a:spcBef>
                <a:spcPts val="600"/>
              </a:spcBef>
              <a:buFont typeface="Arial" panose="020B0604020202020204" pitchFamily="34" charset="0"/>
              <a:buChar char="•"/>
            </a:pPr>
            <a:r>
              <a:rPr lang="en-US" sz="1600" dirty="0"/>
              <a:t>Implement custom logic to return fields based on input</a:t>
            </a:r>
          </a:p>
          <a:p>
            <a:pPr marL="285750" indent="-285750" algn="l">
              <a:spcBef>
                <a:spcPts val="600"/>
              </a:spcBef>
              <a:buFont typeface="Arial" panose="020B0604020202020204" pitchFamily="34" charset="0"/>
              <a:buChar char="•"/>
            </a:pPr>
            <a:r>
              <a:rPr lang="en-US" sz="1600" dirty="0"/>
              <a:t>Often “wrappers” around services, like Azure Language</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71531944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Search an index</a:t>
            </a:r>
          </a:p>
        </p:txBody>
      </p:sp>
      <p:sp>
        <p:nvSpPr>
          <p:cNvPr id="5" name="TextBox 4">
            <a:extLst>
              <a:ext uri="{FF2B5EF4-FFF2-40B4-BE49-F238E27FC236}">
                <a16:creationId xmlns:a16="http://schemas.microsoft.com/office/drawing/2014/main" id="{F6D92A1A-DF02-B7A8-CAB8-1B92D53934FA}"/>
              </a:ext>
            </a:extLst>
          </p:cNvPr>
          <p:cNvSpPr txBox="1"/>
          <p:nvPr/>
        </p:nvSpPr>
        <p:spPr>
          <a:xfrm>
            <a:off x="588262" y="1371469"/>
            <a:ext cx="5639183" cy="4216539"/>
          </a:xfrm>
          <a:prstGeom prst="rect">
            <a:avLst/>
          </a:prstGeom>
          <a:noFill/>
        </p:spPr>
        <p:txBody>
          <a:bodyPr wrap="square" lIns="0" tIns="0" rIns="0" bIns="0" rtlCol="0">
            <a:spAutoFit/>
          </a:bodyPr>
          <a:lstStyle/>
          <a:p>
            <a:pPr algn="l">
              <a:spcBef>
                <a:spcPts val="600"/>
              </a:spcBef>
              <a:spcAft>
                <a:spcPts val="1200"/>
              </a:spcAft>
            </a:pPr>
            <a:r>
              <a:rPr lang="en-US" sz="1800" dirty="0"/>
              <a:t>Each index field can be configured as:</a:t>
            </a:r>
          </a:p>
          <a:p>
            <a:pPr marL="285750" indent="-285750" algn="l">
              <a:spcBef>
                <a:spcPts val="600"/>
              </a:spcBef>
              <a:buFont typeface="Arial" panose="020B0604020202020204" pitchFamily="34" charset="0"/>
              <a:buChar char="•"/>
            </a:pPr>
            <a:r>
              <a:rPr lang="en-US" sz="1800" b="1" dirty="0"/>
              <a:t>key</a:t>
            </a:r>
            <a:r>
              <a:rPr lang="en-US" sz="1800" dirty="0"/>
              <a:t>: Fields that define a unique key for index records</a:t>
            </a:r>
          </a:p>
          <a:p>
            <a:pPr marL="285750" indent="-285750" algn="l">
              <a:spcBef>
                <a:spcPts val="600"/>
              </a:spcBef>
              <a:buFont typeface="Arial" panose="020B0604020202020204" pitchFamily="34" charset="0"/>
              <a:buChar char="•"/>
            </a:pPr>
            <a:r>
              <a:rPr lang="en-US" sz="1800" b="1" dirty="0"/>
              <a:t>searchable</a:t>
            </a:r>
            <a:r>
              <a:rPr lang="en-US" sz="1800" dirty="0"/>
              <a:t>: Fields that can be queried using full-text search</a:t>
            </a:r>
          </a:p>
          <a:p>
            <a:pPr marL="285750" indent="-285750" algn="l">
              <a:spcBef>
                <a:spcPts val="600"/>
              </a:spcBef>
              <a:buFont typeface="Arial" panose="020B0604020202020204" pitchFamily="34" charset="0"/>
              <a:buChar char="•"/>
            </a:pPr>
            <a:r>
              <a:rPr lang="en-US" sz="1800" b="1" dirty="0"/>
              <a:t>filterable</a:t>
            </a:r>
            <a:r>
              <a:rPr lang="en-US" sz="1800" dirty="0"/>
              <a:t>: Fields that can be included in filter expressions to return only documents that match specified constraints</a:t>
            </a:r>
          </a:p>
          <a:p>
            <a:pPr marL="285750" indent="-285750" algn="l">
              <a:spcBef>
                <a:spcPts val="600"/>
              </a:spcBef>
              <a:buFont typeface="Arial" panose="020B0604020202020204" pitchFamily="34" charset="0"/>
              <a:buChar char="•"/>
            </a:pPr>
            <a:r>
              <a:rPr lang="en-US" sz="1800" b="1" dirty="0"/>
              <a:t>sortable</a:t>
            </a:r>
            <a:r>
              <a:rPr lang="en-US" sz="1800" dirty="0"/>
              <a:t>: Fields that can be used to order the results</a:t>
            </a:r>
          </a:p>
          <a:p>
            <a:pPr marL="285750" indent="-285750" algn="l">
              <a:spcBef>
                <a:spcPts val="600"/>
              </a:spcBef>
              <a:buFont typeface="Arial" panose="020B0604020202020204" pitchFamily="34" charset="0"/>
              <a:buChar char="•"/>
            </a:pPr>
            <a:r>
              <a:rPr lang="en-US" sz="1800" b="1" dirty="0" err="1"/>
              <a:t>facetable</a:t>
            </a:r>
            <a:r>
              <a:rPr lang="en-US" sz="1800" dirty="0"/>
              <a:t>: Fields that can be used to determine values for </a:t>
            </a:r>
            <a:r>
              <a:rPr lang="en-US" sz="1800" i="1" dirty="0"/>
              <a:t>facets</a:t>
            </a:r>
            <a:r>
              <a:rPr lang="en-US" sz="1800" dirty="0"/>
              <a:t> (user interface elements used to filter the results based on a list of known field values)</a:t>
            </a:r>
          </a:p>
          <a:p>
            <a:pPr marL="285750" indent="-285750" algn="l">
              <a:spcBef>
                <a:spcPts val="600"/>
              </a:spcBef>
              <a:buFont typeface="Arial" panose="020B0604020202020204" pitchFamily="34" charset="0"/>
              <a:buChar char="•"/>
            </a:pPr>
            <a:r>
              <a:rPr lang="en-US" sz="1800" b="1" dirty="0"/>
              <a:t>retrievable</a:t>
            </a:r>
            <a:r>
              <a:rPr lang="en-US" sz="1800" dirty="0"/>
              <a:t>: Fields that can be included in search results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7" name="Group 16">
            <a:extLst>
              <a:ext uri="{FF2B5EF4-FFF2-40B4-BE49-F238E27FC236}">
                <a16:creationId xmlns:a16="http://schemas.microsoft.com/office/drawing/2014/main" id="{8841C52C-AA03-DBE1-C4F9-70677A75EEFD}"/>
              </a:ext>
              <a:ext uri="{C183D7F6-B498-43B3-948B-1728B52AA6E4}">
                <adec:decorative xmlns:adec="http://schemas.microsoft.com/office/drawing/2017/decorative" val="1"/>
              </a:ext>
            </a:extLst>
          </p:cNvPr>
          <p:cNvGrpSpPr/>
          <p:nvPr/>
        </p:nvGrpSpPr>
        <p:grpSpPr>
          <a:xfrm>
            <a:off x="8060373" y="1870574"/>
            <a:ext cx="1656978" cy="2912351"/>
            <a:chOff x="5568446" y="3333917"/>
            <a:chExt cx="1656978" cy="2912351"/>
          </a:xfrm>
        </p:grpSpPr>
        <p:grpSp>
          <p:nvGrpSpPr>
            <p:cNvPr id="19" name="Group 18">
              <a:extLst>
                <a:ext uri="{FF2B5EF4-FFF2-40B4-BE49-F238E27FC236}">
                  <a16:creationId xmlns:a16="http://schemas.microsoft.com/office/drawing/2014/main" id="{E0A50D9A-42A5-CDE2-0D63-FCB18CA842A1}"/>
                </a:ext>
              </a:extLst>
            </p:cNvPr>
            <p:cNvGrpSpPr/>
            <p:nvPr/>
          </p:nvGrpSpPr>
          <p:grpSpPr>
            <a:xfrm>
              <a:off x="5755185" y="5021532"/>
              <a:ext cx="1224736" cy="1224736"/>
              <a:chOff x="3025941" y="2344903"/>
              <a:chExt cx="1277817" cy="1277817"/>
            </a:xfrm>
          </p:grpSpPr>
          <p:pic>
            <p:nvPicPr>
              <p:cNvPr id="25" name="Graphic 24" descr="Magnifying glass with solid fill">
                <a:extLst>
                  <a:ext uri="{FF2B5EF4-FFF2-40B4-BE49-F238E27FC236}">
                    <a16:creationId xmlns:a16="http://schemas.microsoft.com/office/drawing/2014/main" id="{A842C313-80A0-E87B-4C58-0DBBDA224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4848" y="2840291"/>
                <a:ext cx="287039" cy="287039"/>
              </a:xfrm>
              <a:prstGeom prst="rect">
                <a:avLst/>
              </a:prstGeom>
            </p:spPr>
          </p:pic>
          <p:pic>
            <p:nvPicPr>
              <p:cNvPr id="26" name="Graphic 25" descr="World outline">
                <a:extLst>
                  <a:ext uri="{FF2B5EF4-FFF2-40B4-BE49-F238E27FC236}">
                    <a16:creationId xmlns:a16="http://schemas.microsoft.com/office/drawing/2014/main" id="{B3432163-3D61-9595-B8CB-0380FECB49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0417" y="2738043"/>
                <a:ext cx="328863" cy="328863"/>
              </a:xfrm>
              <a:prstGeom prst="rect">
                <a:avLst/>
              </a:prstGeom>
            </p:spPr>
          </p:pic>
          <p:pic>
            <p:nvPicPr>
              <p:cNvPr id="27" name="Graphic 26" descr="Laptop outline">
                <a:extLst>
                  <a:ext uri="{FF2B5EF4-FFF2-40B4-BE49-F238E27FC236}">
                    <a16:creationId xmlns:a16="http://schemas.microsoft.com/office/drawing/2014/main" id="{83A1972C-B545-C276-E588-2C600B4C4A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5941" y="2344903"/>
                <a:ext cx="1277817" cy="1277817"/>
              </a:xfrm>
              <a:prstGeom prst="rect">
                <a:avLst/>
              </a:prstGeom>
            </p:spPr>
          </p:pic>
        </p:grpSp>
        <p:grpSp>
          <p:nvGrpSpPr>
            <p:cNvPr id="20" name="Group 19">
              <a:extLst>
                <a:ext uri="{FF2B5EF4-FFF2-40B4-BE49-F238E27FC236}">
                  <a16:creationId xmlns:a16="http://schemas.microsoft.com/office/drawing/2014/main" id="{E2D36F9E-90D4-2F04-39C1-465525B8AFF0}"/>
                </a:ext>
              </a:extLst>
            </p:cNvPr>
            <p:cNvGrpSpPr/>
            <p:nvPr/>
          </p:nvGrpSpPr>
          <p:grpSpPr>
            <a:xfrm>
              <a:off x="5568446" y="3333917"/>
              <a:ext cx="1656978" cy="1187881"/>
              <a:chOff x="5754685" y="2950106"/>
              <a:chExt cx="1656978" cy="1187881"/>
            </a:xfrm>
          </p:grpSpPr>
          <p:pic>
            <p:nvPicPr>
              <p:cNvPr id="23" name="Graphic 22" descr="List outline">
                <a:extLst>
                  <a:ext uri="{FF2B5EF4-FFF2-40B4-BE49-F238E27FC236}">
                    <a16:creationId xmlns:a16="http://schemas.microsoft.com/office/drawing/2014/main" id="{38397CC0-DDB8-4F9F-4D92-BE74C3CE56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7263" y="2950106"/>
                <a:ext cx="914400" cy="914400"/>
              </a:xfrm>
              <a:prstGeom prst="rect">
                <a:avLst/>
              </a:prstGeom>
            </p:spPr>
          </p:pic>
          <p:pic>
            <p:nvPicPr>
              <p:cNvPr id="24" name="Graphic 23">
                <a:extLst>
                  <a:ext uri="{FF2B5EF4-FFF2-40B4-BE49-F238E27FC236}">
                    <a16:creationId xmlns:a16="http://schemas.microsoft.com/office/drawing/2014/main" id="{67881636-82EE-FEE9-FEDC-C592A4B676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54685" y="3037956"/>
                <a:ext cx="1100031" cy="1100031"/>
              </a:xfrm>
              <a:prstGeom prst="rect">
                <a:avLst/>
              </a:prstGeom>
            </p:spPr>
          </p:pic>
        </p:grpSp>
        <p:cxnSp>
          <p:nvCxnSpPr>
            <p:cNvPr id="21" name="Straight Arrow Connector 20">
              <a:extLst>
                <a:ext uri="{FF2B5EF4-FFF2-40B4-BE49-F238E27FC236}">
                  <a16:creationId xmlns:a16="http://schemas.microsoft.com/office/drawing/2014/main" id="{7E2CFD74-308D-9728-6D49-6C28C9B19B24}"/>
                </a:ext>
              </a:extLst>
            </p:cNvPr>
            <p:cNvCxnSpPr/>
            <p:nvPr/>
          </p:nvCxnSpPr>
          <p:spPr>
            <a:xfrm flipV="1">
              <a:off x="6209951" y="4400120"/>
              <a:ext cx="0" cy="783772"/>
            </a:xfrm>
            <a:prstGeom prst="straightConnector1">
              <a:avLst/>
            </a:prstGeom>
            <a:noFill/>
            <a:ln w="57150" cap="flat" cmpd="sng" algn="ctr">
              <a:solidFill>
                <a:srgbClr val="A02B93"/>
              </a:solidFill>
              <a:prstDash val="solid"/>
              <a:miter lim="800000"/>
              <a:tailEnd type="triangle"/>
            </a:ln>
            <a:effectLst/>
          </p:spPr>
        </p:cxnSp>
        <p:cxnSp>
          <p:nvCxnSpPr>
            <p:cNvPr id="22" name="Straight Arrow Connector 21">
              <a:extLst>
                <a:ext uri="{FF2B5EF4-FFF2-40B4-BE49-F238E27FC236}">
                  <a16:creationId xmlns:a16="http://schemas.microsoft.com/office/drawing/2014/main" id="{4D7A2256-3E3F-A40A-12E6-814A167AFED3}"/>
                </a:ext>
              </a:extLst>
            </p:cNvPr>
            <p:cNvCxnSpPr>
              <a:cxnSpLocks/>
            </p:cNvCxnSpPr>
            <p:nvPr/>
          </p:nvCxnSpPr>
          <p:spPr>
            <a:xfrm>
              <a:off x="6527955" y="4461995"/>
              <a:ext cx="0" cy="783772"/>
            </a:xfrm>
            <a:prstGeom prst="straightConnector1">
              <a:avLst/>
            </a:prstGeom>
            <a:noFill/>
            <a:ln w="57150" cap="flat" cmpd="sng" algn="ctr">
              <a:solidFill>
                <a:srgbClr val="A02B93"/>
              </a:solidFill>
              <a:prstDash val="solid"/>
              <a:miter lim="800000"/>
              <a:tailEnd type="triangle"/>
            </a:ln>
            <a:effectLst/>
          </p:spPr>
        </p:cxnSp>
      </p:grpSp>
      <p:sp>
        <p:nvSpPr>
          <p:cNvPr id="29" name="TextBox 28">
            <a:extLst>
              <a:ext uri="{FF2B5EF4-FFF2-40B4-BE49-F238E27FC236}">
                <a16:creationId xmlns:a16="http://schemas.microsoft.com/office/drawing/2014/main" id="{2690AE5E-E3BE-9CB1-61CC-D74B11791223}"/>
              </a:ext>
            </a:extLst>
          </p:cNvPr>
          <p:cNvSpPr txBox="1"/>
          <p:nvPr/>
        </p:nvSpPr>
        <p:spPr>
          <a:xfrm>
            <a:off x="6821368" y="4657745"/>
            <a:ext cx="4842994" cy="1177438"/>
          </a:xfrm>
          <a:prstGeom prst="rect">
            <a:avLst/>
          </a:prstGeom>
          <a:noFill/>
        </p:spPr>
        <p:txBody>
          <a:bodyPr wrap="square">
            <a:spAutoFit/>
          </a:bodyPr>
          <a:lstStyle/>
          <a:p>
            <a:pPr>
              <a:lnSpc>
                <a:spcPts val="1425"/>
              </a:lnSpc>
              <a:buNone/>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"search"</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"New York"</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"select"</a:t>
            </a:r>
            <a:r>
              <a:rPr lang="en-US" sz="1600" b="0" dirty="0">
                <a:solidFill>
                  <a:srgbClr val="000000"/>
                </a:solidFill>
                <a:effectLst/>
                <a:latin typeface="Consolas" panose="020B0609020204030204" pitchFamily="49" charset="0"/>
              </a:rPr>
              <a:t>: </a:t>
            </a:r>
            <a:r>
              <a:rPr lang="en-US" sz="1600" dirty="0">
                <a:solidFill>
                  <a:srgbClr val="A31515"/>
                </a:solidFill>
                <a:latin typeface="Consolas" panose="020B0609020204030204" pitchFamily="49" charset="0"/>
              </a:rPr>
              <a:t>"</a:t>
            </a:r>
            <a:r>
              <a:rPr lang="en-US" sz="1600" b="0" dirty="0" err="1">
                <a:solidFill>
                  <a:srgbClr val="A31515"/>
                </a:solidFill>
                <a:effectLst/>
                <a:latin typeface="Consolas" panose="020B0609020204030204" pitchFamily="49" charset="0"/>
              </a:rPr>
              <a:t>title,locations,keyphrases</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"filter"</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author eq 'Reviewer'</a:t>
            </a:r>
            <a:r>
              <a:rPr lang="en-US" sz="1600" dirty="0">
                <a:solidFill>
                  <a:srgbClr val="A31515"/>
                </a:solidFill>
                <a:latin typeface="Consolas" panose="020B0609020204030204" pitchFamily="49" charset="0"/>
              </a:rPr>
              <a:t>",</a:t>
            </a:r>
            <a:endParaRPr lang="en-US" sz="1600" b="0" dirty="0">
              <a:solidFill>
                <a:srgbClr val="A31515"/>
              </a:solidFill>
              <a:effectLst/>
              <a:latin typeface="Consolas" panose="020B0609020204030204" pitchFamily="49" charset="0"/>
            </a:endParaRPr>
          </a:p>
          <a:p>
            <a:pPr>
              <a:lnSpc>
                <a:spcPts val="1425"/>
              </a:lnSpc>
              <a:buNone/>
            </a:pPr>
            <a:r>
              <a:rPr lang="en-US" sz="1600" dirty="0">
                <a:solidFill>
                  <a:srgbClr val="3B3B3B"/>
                </a:solidFill>
                <a:latin typeface="Consolas" panose="020B0609020204030204" pitchFamily="49" charset="0"/>
              </a:rPr>
              <a:t>  </a:t>
            </a:r>
            <a:r>
              <a:rPr lang="en-US" sz="1600" dirty="0">
                <a:solidFill>
                  <a:srgbClr val="0451A5"/>
                </a:solidFill>
                <a:latin typeface="Consolas" panose="020B0609020204030204" pitchFamily="49" charset="0"/>
              </a:rPr>
              <a:t>"</a:t>
            </a:r>
            <a:r>
              <a:rPr lang="en-US" sz="1600" dirty="0" err="1">
                <a:solidFill>
                  <a:srgbClr val="0451A5"/>
                </a:solidFill>
                <a:latin typeface="Consolas" panose="020B0609020204030204" pitchFamily="49" charset="0"/>
              </a:rPr>
              <a:t>orderby</a:t>
            </a:r>
            <a:r>
              <a:rPr lang="en-US" sz="1600" dirty="0">
                <a:solidFill>
                  <a:srgbClr val="0451A5"/>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metadata_storage_date</a:t>
            </a:r>
            <a:r>
              <a:rPr lang="en-US" sz="1600" dirty="0">
                <a:solidFill>
                  <a:srgbClr val="A31515"/>
                </a:solidFill>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123640493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D69409CD-6546-D94E-6964-43CF0FE46A78}"/>
              </a:ext>
              <a:ext uri="{C183D7F6-B498-43B3-948B-1728B52AA6E4}">
                <adec:decorative xmlns:adec="http://schemas.microsoft.com/office/drawing/2017/decorative" val="1"/>
              </a:ext>
            </a:extLst>
          </p:cNvPr>
          <p:cNvGrpSpPr/>
          <p:nvPr/>
        </p:nvGrpSpPr>
        <p:grpSpPr>
          <a:xfrm>
            <a:off x="7544841" y="1179693"/>
            <a:ext cx="3108167" cy="4862730"/>
            <a:chOff x="6925606" y="1109960"/>
            <a:chExt cx="3108167" cy="4862730"/>
          </a:xfrm>
        </p:grpSpPr>
        <p:grpSp>
          <p:nvGrpSpPr>
            <p:cNvPr id="57" name="Group 56">
              <a:extLst>
                <a:ext uri="{FF2B5EF4-FFF2-40B4-BE49-F238E27FC236}">
                  <a16:creationId xmlns:a16="http://schemas.microsoft.com/office/drawing/2014/main" id="{74232024-BFC6-15A9-6938-B44FF555F287}"/>
                </a:ext>
              </a:extLst>
            </p:cNvPr>
            <p:cNvGrpSpPr/>
            <p:nvPr/>
          </p:nvGrpSpPr>
          <p:grpSpPr>
            <a:xfrm>
              <a:off x="6925606" y="1109960"/>
              <a:ext cx="2273640" cy="4862730"/>
              <a:chOff x="2759631" y="1109960"/>
              <a:chExt cx="2273640" cy="4862730"/>
            </a:xfrm>
          </p:grpSpPr>
          <p:sp>
            <p:nvSpPr>
              <p:cNvPr id="68" name="Arrow: Down 67">
                <a:extLst>
                  <a:ext uri="{FF2B5EF4-FFF2-40B4-BE49-F238E27FC236}">
                    <a16:creationId xmlns:a16="http://schemas.microsoft.com/office/drawing/2014/main" id="{E734499A-74F8-F763-0922-91C559F1F431}"/>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69" name="Graphic 68" descr="Gears with solid fill">
                <a:extLst>
                  <a:ext uri="{FF2B5EF4-FFF2-40B4-BE49-F238E27FC236}">
                    <a16:creationId xmlns:a16="http://schemas.microsoft.com/office/drawing/2014/main" id="{0E123A77-CA64-7ABF-88D0-3F519FDBD5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70" name="Graphic 69" descr="List outline">
                <a:extLst>
                  <a:ext uri="{FF2B5EF4-FFF2-40B4-BE49-F238E27FC236}">
                    <a16:creationId xmlns:a16="http://schemas.microsoft.com/office/drawing/2014/main" id="{FC1707DC-CFE4-E4DC-EF30-B36DC60AB7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71" name="Group 70">
                <a:extLst>
                  <a:ext uri="{FF2B5EF4-FFF2-40B4-BE49-F238E27FC236}">
                    <a16:creationId xmlns:a16="http://schemas.microsoft.com/office/drawing/2014/main" id="{CE198288-ECEA-C88C-23EB-8224BAF50ED7}"/>
                  </a:ext>
                </a:extLst>
              </p:cNvPr>
              <p:cNvGrpSpPr/>
              <p:nvPr/>
            </p:nvGrpSpPr>
            <p:grpSpPr>
              <a:xfrm>
                <a:off x="3204296" y="1109960"/>
                <a:ext cx="1231574" cy="1231574"/>
                <a:chOff x="2232474" y="1427224"/>
                <a:chExt cx="1231574" cy="1231574"/>
              </a:xfrm>
            </p:grpSpPr>
            <p:pic>
              <p:nvPicPr>
                <p:cNvPr id="85" name="Graphic 84" descr="Contract outline">
                  <a:extLst>
                    <a:ext uri="{FF2B5EF4-FFF2-40B4-BE49-F238E27FC236}">
                      <a16:creationId xmlns:a16="http://schemas.microsoft.com/office/drawing/2014/main" id="{77E390FB-8B85-BE8E-EC8C-CF4A633907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86" name="Graphic 85" descr="Folder with solid fill">
                  <a:extLst>
                    <a:ext uri="{FF2B5EF4-FFF2-40B4-BE49-F238E27FC236}">
                      <a16:creationId xmlns:a16="http://schemas.microsoft.com/office/drawing/2014/main" id="{F400E5BA-76A0-72CC-4969-C57ED2D39C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72" name="Graphic 71">
                <a:extLst>
                  <a:ext uri="{FF2B5EF4-FFF2-40B4-BE49-F238E27FC236}">
                    <a16:creationId xmlns:a16="http://schemas.microsoft.com/office/drawing/2014/main" id="{0B551C56-8F79-60F3-737C-357836232C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73" name="Graphic 72">
                <a:extLst>
                  <a:ext uri="{FF2B5EF4-FFF2-40B4-BE49-F238E27FC236}">
                    <a16:creationId xmlns:a16="http://schemas.microsoft.com/office/drawing/2014/main" id="{6A8842DA-0AB5-5D4F-0C7F-F463EE27E81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74" name="Graphic 73">
                <a:extLst>
                  <a:ext uri="{FF2B5EF4-FFF2-40B4-BE49-F238E27FC236}">
                    <a16:creationId xmlns:a16="http://schemas.microsoft.com/office/drawing/2014/main" id="{177BC7C4-F321-04FD-E00B-A545747ED8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75" name="Graphic 74">
                <a:extLst>
                  <a:ext uri="{FF2B5EF4-FFF2-40B4-BE49-F238E27FC236}">
                    <a16:creationId xmlns:a16="http://schemas.microsoft.com/office/drawing/2014/main" id="{B660F06A-2C77-C02C-8576-E72554EFB6E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76" name="Group 75">
                <a:extLst>
                  <a:ext uri="{FF2B5EF4-FFF2-40B4-BE49-F238E27FC236}">
                    <a16:creationId xmlns:a16="http://schemas.microsoft.com/office/drawing/2014/main" id="{70857B22-400E-812C-35EB-6771BACA6C5A}"/>
                  </a:ext>
                </a:extLst>
              </p:cNvPr>
              <p:cNvGrpSpPr/>
              <p:nvPr/>
            </p:nvGrpSpPr>
            <p:grpSpPr>
              <a:xfrm>
                <a:off x="3263152" y="2590227"/>
                <a:ext cx="556931" cy="115873"/>
                <a:chOff x="3263152" y="2590227"/>
                <a:chExt cx="556931" cy="115873"/>
              </a:xfrm>
            </p:grpSpPr>
            <p:cxnSp>
              <p:nvCxnSpPr>
                <p:cNvPr id="83" name="Straight Arrow Connector 82">
                  <a:extLst>
                    <a:ext uri="{FF2B5EF4-FFF2-40B4-BE49-F238E27FC236}">
                      <a16:creationId xmlns:a16="http://schemas.microsoft.com/office/drawing/2014/main" id="{B0A8FFA5-70FB-C032-1D31-6ADC8DF8405D}"/>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4" name="Straight Arrow Connector 83">
                  <a:extLst>
                    <a:ext uri="{FF2B5EF4-FFF2-40B4-BE49-F238E27FC236}">
                      <a16:creationId xmlns:a16="http://schemas.microsoft.com/office/drawing/2014/main" id="{F9806D81-BEFE-ADA8-7AEB-2A31847ED002}"/>
                    </a:ext>
                  </a:extLst>
                </p:cNvPr>
                <p:cNvCxnSpPr>
                  <a:cxnSpLocks/>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77" name="Group 76">
                <a:extLst>
                  <a:ext uri="{FF2B5EF4-FFF2-40B4-BE49-F238E27FC236}">
                    <a16:creationId xmlns:a16="http://schemas.microsoft.com/office/drawing/2014/main" id="{FA576A78-E93A-5584-A83E-01711EBC14A5}"/>
                  </a:ext>
                </a:extLst>
              </p:cNvPr>
              <p:cNvGrpSpPr/>
              <p:nvPr/>
            </p:nvGrpSpPr>
            <p:grpSpPr>
              <a:xfrm>
                <a:off x="3269921" y="3602731"/>
                <a:ext cx="601850" cy="115873"/>
                <a:chOff x="3263152" y="2590227"/>
                <a:chExt cx="601850" cy="115873"/>
              </a:xfrm>
            </p:grpSpPr>
            <p:cxnSp>
              <p:nvCxnSpPr>
                <p:cNvPr id="81" name="Straight Arrow Connector 80">
                  <a:extLst>
                    <a:ext uri="{FF2B5EF4-FFF2-40B4-BE49-F238E27FC236}">
                      <a16:creationId xmlns:a16="http://schemas.microsoft.com/office/drawing/2014/main" id="{98E39413-55DA-9E4B-9302-4EA01EF5B738}"/>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2" name="Straight Arrow Connector 81">
                  <a:extLst>
                    <a:ext uri="{FF2B5EF4-FFF2-40B4-BE49-F238E27FC236}">
                      <a16:creationId xmlns:a16="http://schemas.microsoft.com/office/drawing/2014/main" id="{D6C8542F-B6A4-0B1C-E71B-05D65DDB9410}"/>
                    </a:ext>
                  </a:extLst>
                </p:cNvPr>
                <p:cNvCxnSpPr>
                  <a:cxnSpLocks/>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78" name="Group 77">
                <a:extLst>
                  <a:ext uri="{FF2B5EF4-FFF2-40B4-BE49-F238E27FC236}">
                    <a16:creationId xmlns:a16="http://schemas.microsoft.com/office/drawing/2014/main" id="{7C470DD8-661D-A7B9-6BA6-986231D04F2D}"/>
                  </a:ext>
                </a:extLst>
              </p:cNvPr>
              <p:cNvGrpSpPr/>
              <p:nvPr/>
            </p:nvGrpSpPr>
            <p:grpSpPr>
              <a:xfrm flipV="1">
                <a:off x="4038823" y="3082211"/>
                <a:ext cx="444155" cy="134091"/>
                <a:chOff x="3263152" y="2590227"/>
                <a:chExt cx="587533" cy="115873"/>
              </a:xfrm>
            </p:grpSpPr>
            <p:cxnSp>
              <p:nvCxnSpPr>
                <p:cNvPr id="79" name="Straight Arrow Connector 78">
                  <a:extLst>
                    <a:ext uri="{FF2B5EF4-FFF2-40B4-BE49-F238E27FC236}">
                      <a16:creationId xmlns:a16="http://schemas.microsoft.com/office/drawing/2014/main" id="{5275B1F2-A037-1272-703C-FD4644D9966F}"/>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0" name="Straight Arrow Connector 79">
                  <a:extLst>
                    <a:ext uri="{FF2B5EF4-FFF2-40B4-BE49-F238E27FC236}">
                      <a16:creationId xmlns:a16="http://schemas.microsoft.com/office/drawing/2014/main" id="{66203013-BC35-33D1-DDD2-BA3E65953051}"/>
                    </a:ext>
                  </a:extLst>
                </p:cNvPr>
                <p:cNvCxnSpPr>
                  <a:cxnSpLocks/>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grpSp>
          <p:nvGrpSpPr>
            <p:cNvPr id="58" name="Group 57">
              <a:extLst>
                <a:ext uri="{FF2B5EF4-FFF2-40B4-BE49-F238E27FC236}">
                  <a16:creationId xmlns:a16="http://schemas.microsoft.com/office/drawing/2014/main" id="{24BA6CB8-29AE-011F-1338-69B12CD91FC1}"/>
                </a:ext>
              </a:extLst>
            </p:cNvPr>
            <p:cNvGrpSpPr/>
            <p:nvPr/>
          </p:nvGrpSpPr>
          <p:grpSpPr>
            <a:xfrm>
              <a:off x="8750157" y="3614880"/>
              <a:ext cx="1283616" cy="1045362"/>
              <a:chOff x="8750157" y="3614880"/>
              <a:chExt cx="1283616" cy="1045362"/>
            </a:xfrm>
          </p:grpSpPr>
          <p:pic>
            <p:nvPicPr>
              <p:cNvPr id="60" name="Graphic 59">
                <a:extLst>
                  <a:ext uri="{FF2B5EF4-FFF2-40B4-BE49-F238E27FC236}">
                    <a16:creationId xmlns:a16="http://schemas.microsoft.com/office/drawing/2014/main" id="{C6BA5C6D-5EB6-9260-49A4-35E98614B12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14828" y="3614880"/>
                <a:ext cx="568181" cy="568181"/>
              </a:xfrm>
              <a:prstGeom prst="rect">
                <a:avLst/>
              </a:prstGeom>
            </p:spPr>
          </p:pic>
          <p:pic>
            <p:nvPicPr>
              <p:cNvPr id="61" name="Graphic 60" descr="Image outline">
                <a:extLst>
                  <a:ext uri="{FF2B5EF4-FFF2-40B4-BE49-F238E27FC236}">
                    <a16:creationId xmlns:a16="http://schemas.microsoft.com/office/drawing/2014/main" id="{EEEFABC3-A644-B14C-CD20-24C4CCB44F6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155278" y="4281004"/>
                <a:ext cx="379238" cy="379238"/>
              </a:xfrm>
              <a:prstGeom prst="rect">
                <a:avLst/>
              </a:prstGeom>
            </p:spPr>
          </p:pic>
          <p:pic>
            <p:nvPicPr>
              <p:cNvPr id="62" name="Graphic 61" descr="Table outline">
                <a:extLst>
                  <a:ext uri="{FF2B5EF4-FFF2-40B4-BE49-F238E27FC236}">
                    <a16:creationId xmlns:a16="http://schemas.microsoft.com/office/drawing/2014/main" id="{3FD927B2-7DA9-CC08-1007-DE19C205CA9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57" y="4272154"/>
                <a:ext cx="379239" cy="379239"/>
              </a:xfrm>
              <a:prstGeom prst="rect">
                <a:avLst/>
              </a:prstGeom>
            </p:spPr>
          </p:pic>
          <p:grpSp>
            <p:nvGrpSpPr>
              <p:cNvPr id="63" name="Group 62">
                <a:extLst>
                  <a:ext uri="{FF2B5EF4-FFF2-40B4-BE49-F238E27FC236}">
                    <a16:creationId xmlns:a16="http://schemas.microsoft.com/office/drawing/2014/main" id="{B81FB7DE-37B5-6875-2B02-FBEFB8E6E6E3}"/>
                  </a:ext>
                </a:extLst>
              </p:cNvPr>
              <p:cNvGrpSpPr/>
              <p:nvPr/>
            </p:nvGrpSpPr>
            <p:grpSpPr>
              <a:xfrm>
                <a:off x="9559861" y="4277202"/>
                <a:ext cx="473912" cy="379238"/>
                <a:chOff x="9317319" y="4989433"/>
                <a:chExt cx="473912" cy="379238"/>
              </a:xfrm>
            </p:grpSpPr>
            <p:pic>
              <p:nvPicPr>
                <p:cNvPr id="65" name="Graphic 64" descr="Paper outline">
                  <a:extLst>
                    <a:ext uri="{FF2B5EF4-FFF2-40B4-BE49-F238E27FC236}">
                      <a16:creationId xmlns:a16="http://schemas.microsoft.com/office/drawing/2014/main" id="{2FB0C024-0007-17DF-9464-C9812017F42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317319" y="4989433"/>
                  <a:ext cx="379238" cy="379238"/>
                </a:xfrm>
                <a:prstGeom prst="rect">
                  <a:avLst/>
                </a:prstGeom>
              </p:spPr>
            </p:pic>
            <p:sp>
              <p:nvSpPr>
                <p:cNvPr id="66" name="TextBox 65">
                  <a:extLst>
                    <a:ext uri="{FF2B5EF4-FFF2-40B4-BE49-F238E27FC236}">
                      <a16:creationId xmlns:a16="http://schemas.microsoft.com/office/drawing/2014/main" id="{5287CE5A-0126-996E-B185-99FFA9B20AAF}"/>
                    </a:ext>
                  </a:extLst>
                </p:cNvPr>
                <p:cNvSpPr txBox="1"/>
                <p:nvPr/>
              </p:nvSpPr>
              <p:spPr>
                <a:xfrm>
                  <a:off x="9340467" y="5059264"/>
                  <a:ext cx="450764"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Aptos" panose="02110004020202020204"/>
                    </a:rPr>
                    <a:t>{.}</a:t>
                  </a:r>
                </a:p>
              </p:txBody>
            </p:sp>
          </p:grpSp>
          <p:sp>
            <p:nvSpPr>
              <p:cNvPr id="64" name="Left Brace 63">
                <a:extLst>
                  <a:ext uri="{FF2B5EF4-FFF2-40B4-BE49-F238E27FC236}">
                    <a16:creationId xmlns:a16="http://schemas.microsoft.com/office/drawing/2014/main" id="{4F24E4D6-81CB-4DB9-1D85-643BEE359C93}"/>
                  </a:ext>
                </a:extLst>
              </p:cNvPr>
              <p:cNvSpPr/>
              <p:nvPr/>
            </p:nvSpPr>
            <p:spPr>
              <a:xfrm rot="5400000">
                <a:off x="9250348" y="3838290"/>
                <a:ext cx="139516" cy="7459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cxnSp>
          <p:nvCxnSpPr>
            <p:cNvPr id="59" name="Straight Arrow Connector 58">
              <a:extLst>
                <a:ext uri="{FF2B5EF4-FFF2-40B4-BE49-F238E27FC236}">
                  <a16:creationId xmlns:a16="http://schemas.microsoft.com/office/drawing/2014/main" id="{C6C13654-B115-0439-4E48-684C531DF193}"/>
                </a:ext>
              </a:extLst>
            </p:cNvPr>
            <p:cNvCxnSpPr>
              <a:cxnSpLocks/>
            </p:cNvCxnSpPr>
            <p:nvPr/>
          </p:nvCxnSpPr>
          <p:spPr>
            <a:xfrm>
              <a:off x="8181375" y="3904991"/>
              <a:ext cx="833453" cy="0"/>
            </a:xfrm>
            <a:prstGeom prst="straightConnector1">
              <a:avLst/>
            </a:prstGeom>
            <a:noFill/>
            <a:ln w="38100" cap="flat" cmpd="sng" algn="ctr">
              <a:solidFill>
                <a:srgbClr val="00B0F0"/>
              </a:solidFill>
              <a:prstDash val="solid"/>
              <a:miter lim="800000"/>
              <a:tailEnd type="triangle"/>
            </a:ln>
            <a:effectLst/>
          </p:spPr>
        </p:cxnSp>
      </p:grpSp>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1" y="585216"/>
            <a:ext cx="10246225" cy="984885"/>
          </a:xfrm>
        </p:spPr>
        <p:txBody>
          <a:bodyPr/>
          <a:lstStyle/>
          <a:p>
            <a:r>
              <a:rPr lang="en-US" sz="3200" dirty="0"/>
              <a:t>Persist extracted information in a knowledge store</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884120"/>
            <a:ext cx="6396274" cy="1523494"/>
          </a:xfrm>
          <a:prstGeom prst="rect">
            <a:avLst/>
          </a:prstGeom>
          <a:noFill/>
        </p:spPr>
        <p:txBody>
          <a:bodyPr wrap="square" lIns="0" tIns="0" rIns="0" bIns="0" rtlCol="0">
            <a:spAutoFit/>
          </a:bodyPr>
          <a:lstStyle/>
          <a:p>
            <a:pPr algn="l">
              <a:spcBef>
                <a:spcPts val="600"/>
              </a:spcBef>
              <a:spcAft>
                <a:spcPts val="1200"/>
              </a:spcAft>
            </a:pPr>
            <a:r>
              <a:rPr lang="en-US" sz="2000" dirty="0">
                <a:latin typeface="+mj-lt"/>
              </a:rPr>
              <a:t>Store </a:t>
            </a:r>
            <a:r>
              <a:rPr lang="en-US" sz="2000" i="1" dirty="0">
                <a:latin typeface="+mj-lt"/>
              </a:rPr>
              <a:t>projections</a:t>
            </a:r>
            <a:r>
              <a:rPr lang="en-US" sz="2000" dirty="0">
                <a:latin typeface="+mj-lt"/>
              </a:rPr>
              <a:t> in Azure Storage:</a:t>
            </a:r>
          </a:p>
          <a:p>
            <a:pPr marL="285750" indent="-285750" algn="l">
              <a:spcBef>
                <a:spcPts val="600"/>
              </a:spcBef>
              <a:buFont typeface="Arial" panose="020B0604020202020204" pitchFamily="34" charset="0"/>
              <a:buChar char="•"/>
            </a:pPr>
            <a:r>
              <a:rPr lang="en-US" sz="1800" b="1" dirty="0"/>
              <a:t>Objects</a:t>
            </a:r>
            <a:r>
              <a:rPr lang="en-US" sz="1800" dirty="0"/>
              <a:t>: JSON documents</a:t>
            </a:r>
          </a:p>
          <a:p>
            <a:pPr marL="285750" indent="-285750" algn="l">
              <a:spcBef>
                <a:spcPts val="600"/>
              </a:spcBef>
              <a:buFont typeface="Arial" panose="020B0604020202020204" pitchFamily="34" charset="0"/>
              <a:buChar char="•"/>
            </a:pPr>
            <a:r>
              <a:rPr lang="en-US" sz="1800" b="1" dirty="0"/>
              <a:t>Tables</a:t>
            </a:r>
            <a:r>
              <a:rPr lang="en-US" sz="1800" dirty="0"/>
              <a:t>: Relational schema for extracted fields</a:t>
            </a:r>
            <a:endParaRPr lang="en-US" sz="1800" b="1" dirty="0"/>
          </a:p>
          <a:p>
            <a:pPr marL="285750" indent="-285750" algn="l">
              <a:spcBef>
                <a:spcPts val="600"/>
              </a:spcBef>
              <a:buFont typeface="Arial" panose="020B0604020202020204" pitchFamily="34" charset="0"/>
              <a:buChar char="•"/>
            </a:pPr>
            <a:r>
              <a:rPr lang="en-US" sz="1800" b="1" dirty="0"/>
              <a:t>Files</a:t>
            </a:r>
            <a:r>
              <a:rPr lang="en-US" sz="1800" dirty="0"/>
              <a:t>: Extracted images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57148847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9303-3628-1EB4-BC15-16BF9BDA2975}"/>
            </a:ext>
          </a:extLst>
        </p:cNvPr>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1869E4C1-76F8-C726-BF4F-F5A57CB7777A}"/>
              </a:ext>
              <a:ext uri="{C183D7F6-B498-43B3-948B-1728B52AA6E4}">
                <adec:decorative xmlns:adec="http://schemas.microsoft.com/office/drawing/2017/decorative" val="1"/>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val="0"/>
              </a:ext>
            </a:extLst>
          </a:blip>
          <a:srcRect t="745" b="745"/>
          <a:stretch>
            <a:fillRect/>
          </a:stretch>
        </p:blipFill>
        <p:spPr/>
      </p:pic>
      <p:sp>
        <p:nvSpPr>
          <p:cNvPr id="5" name="Title 4">
            <a:extLst>
              <a:ext uri="{FF2B5EF4-FFF2-40B4-BE49-F238E27FC236}">
                <a16:creationId xmlns:a16="http://schemas.microsoft.com/office/drawing/2014/main" id="{A310E826-05DE-CAAF-50E8-05F242CE95CD}"/>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54022E4C-A7C9-8D98-7770-B5ACBDC12907}"/>
              </a:ext>
            </a:extLst>
          </p:cNvPr>
          <p:cNvSpPr>
            <a:spLocks noGrp="1"/>
          </p:cNvSpPr>
          <p:nvPr>
            <p:ph type="body" sz="quarter" idx="16"/>
          </p:nvPr>
        </p:nvSpPr>
        <p:spPr>
          <a:xfrm>
            <a:off x="584199" y="1594155"/>
            <a:ext cx="5654573" cy="307777"/>
          </a:xfrm>
        </p:spPr>
        <p:txBody>
          <a:bodyPr/>
          <a:lstStyle/>
          <a:p>
            <a:r>
              <a:rPr lang="en-US" sz="2000" dirty="0"/>
              <a:t>Create a knowledge mining solution</a:t>
            </a:r>
          </a:p>
        </p:txBody>
      </p:sp>
      <p:sp>
        <p:nvSpPr>
          <p:cNvPr id="6" name="Text Placeholder 5">
            <a:extLst>
              <a:ext uri="{FF2B5EF4-FFF2-40B4-BE49-F238E27FC236}">
                <a16:creationId xmlns:a16="http://schemas.microsoft.com/office/drawing/2014/main" id="{A61BC78B-A9CD-6418-B74A-78D938349CEC}"/>
              </a:ext>
            </a:extLst>
          </p:cNvPr>
          <p:cNvSpPr>
            <a:spLocks noGrp="1"/>
          </p:cNvSpPr>
          <p:nvPr>
            <p:ph type="body" sz="quarter" idx="15"/>
          </p:nvPr>
        </p:nvSpPr>
        <p:spPr>
          <a:xfrm>
            <a:off x="588262" y="2054529"/>
            <a:ext cx="5652201" cy="98488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AI Search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index</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Query an index</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Persist projections in a knowledge store</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CEB385D9-6BDB-F76C-2007-390288CD8DC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4"/>
              </a:rPr>
              <a:t>https://go.microsoft.com/fwlink/?linkid=2320469</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F9EB15D2-3D72-BDA5-E6E4-DF96DB80555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11" name="Flowchart: Off-page Connector 44">
            <a:extLst>
              <a:ext uri="{FF2B5EF4-FFF2-40B4-BE49-F238E27FC236}">
                <a16:creationId xmlns:a16="http://schemas.microsoft.com/office/drawing/2014/main" id="{0C59DE63-64DD-1412-E0DD-2B3D9B461261}"/>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9449605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37F4-7C45-5D9A-AF01-155D8FF6A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F4F27-854F-E1F4-267A-A60B885D39AA}"/>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C98BB81D-877C-A6E0-76D9-51E2E4ACA43F}"/>
              </a:ext>
            </a:extLst>
          </p:cNvPr>
          <p:cNvSpPr>
            <a:spLocks noGrp="1"/>
          </p:cNvSpPr>
          <p:nvPr>
            <p:ph type="body" sz="quarter" idx="17"/>
          </p:nvPr>
        </p:nvSpPr>
        <p:spPr>
          <a:xfrm>
            <a:off x="1235075" y="1687706"/>
            <a:ext cx="8775098" cy="430887"/>
          </a:xfrm>
        </p:spPr>
        <p:txBody>
          <a:bodyPr/>
          <a:lstStyle/>
          <a:p>
            <a:pPr>
              <a:buNone/>
            </a:pPr>
            <a:r>
              <a:rPr lang="en-US" noProof="0" dirty="0"/>
              <a:t>Which component of an Azure AI Search solution is scheduled to extract and enrich data to populate an index?</a:t>
            </a:r>
          </a:p>
        </p:txBody>
      </p:sp>
      <p:sp>
        <p:nvSpPr>
          <p:cNvPr id="9" name="Text Placeholder 8">
            <a:extLst>
              <a:ext uri="{FF2B5EF4-FFF2-40B4-BE49-F238E27FC236}">
                <a16:creationId xmlns:a16="http://schemas.microsoft.com/office/drawing/2014/main" id="{45197A9C-8E5A-E390-8A59-40EF85833CA2}"/>
              </a:ext>
            </a:extLst>
          </p:cNvPr>
          <p:cNvSpPr>
            <a:spLocks noGrp="1"/>
          </p:cNvSpPr>
          <p:nvPr>
            <p:ph type="body" sz="quarter" idx="15"/>
          </p:nvPr>
        </p:nvSpPr>
        <p:spPr>
          <a:xfrm>
            <a:off x="1235074" y="2174283"/>
            <a:ext cx="9250045" cy="732508"/>
          </a:xfrm>
          <a:noFill/>
        </p:spPr>
        <p:txBody>
          <a:bodyPr/>
          <a:lstStyle/>
          <a:p>
            <a:r>
              <a:rPr lang="en-US" noProof="0" dirty="0"/>
              <a:t>Indexer</a:t>
            </a:r>
            <a:endParaRPr lang="en-US" noProof="0" dirty="0">
              <a:solidFill>
                <a:srgbClr val="000000"/>
              </a:solidFill>
            </a:endParaRPr>
          </a:p>
          <a:p>
            <a:r>
              <a:rPr lang="en-US" noProof="0" dirty="0"/>
              <a:t>Projection</a:t>
            </a:r>
          </a:p>
          <a:p>
            <a:r>
              <a:rPr lang="en-US" noProof="0" dirty="0"/>
              <a:t>Query</a:t>
            </a:r>
          </a:p>
        </p:txBody>
      </p:sp>
      <p:sp>
        <p:nvSpPr>
          <p:cNvPr id="18" name="Text Placeholder 17">
            <a:extLst>
              <a:ext uri="{FF2B5EF4-FFF2-40B4-BE49-F238E27FC236}">
                <a16:creationId xmlns:a16="http://schemas.microsoft.com/office/drawing/2014/main" id="{6CEBF33F-E289-B690-A76F-17F41DEDFD55}"/>
              </a:ext>
            </a:extLst>
          </p:cNvPr>
          <p:cNvSpPr>
            <a:spLocks noGrp="1"/>
          </p:cNvSpPr>
          <p:nvPr>
            <p:ph type="body" sz="quarter" idx="22"/>
          </p:nvPr>
        </p:nvSpPr>
        <p:spPr>
          <a:xfrm>
            <a:off x="1235075" y="3153050"/>
            <a:ext cx="8778782" cy="215444"/>
          </a:xfrm>
        </p:spPr>
        <p:txBody>
          <a:bodyPr/>
          <a:lstStyle/>
          <a:p>
            <a:r>
              <a:rPr lang="en-US" noProof="0" dirty="0"/>
              <a:t>Which service supports built-in AI skills in Azure AI Search?</a:t>
            </a:r>
            <a:endParaRPr lang="en-US" b="1" noProof="0" dirty="0"/>
          </a:p>
        </p:txBody>
      </p:sp>
      <p:sp>
        <p:nvSpPr>
          <p:cNvPr id="19" name="Text Placeholder 18">
            <a:extLst>
              <a:ext uri="{FF2B5EF4-FFF2-40B4-BE49-F238E27FC236}">
                <a16:creationId xmlns:a16="http://schemas.microsoft.com/office/drawing/2014/main" id="{0789A4C7-552C-0A9A-92D5-F501CD51DDEC}"/>
              </a:ext>
            </a:extLst>
          </p:cNvPr>
          <p:cNvSpPr>
            <a:spLocks noGrp="1"/>
          </p:cNvSpPr>
          <p:nvPr>
            <p:ph type="body" sz="quarter" idx="23"/>
          </p:nvPr>
        </p:nvSpPr>
        <p:spPr>
          <a:xfrm>
            <a:off x="1237265" y="3463791"/>
            <a:ext cx="8775098" cy="732508"/>
          </a:xfrm>
        </p:spPr>
        <p:txBody>
          <a:bodyPr/>
          <a:lstStyle/>
          <a:p>
            <a:r>
              <a:rPr lang="en-US" noProof="0" dirty="0"/>
              <a:t>Azure Functions</a:t>
            </a:r>
          </a:p>
          <a:p>
            <a:r>
              <a:rPr lang="en-US" noProof="0" dirty="0"/>
              <a:t>Foundry Tools</a:t>
            </a:r>
          </a:p>
          <a:p>
            <a:r>
              <a:rPr lang="en-US" noProof="0" dirty="0"/>
              <a:t>Azure Cosmos DB</a:t>
            </a:r>
          </a:p>
        </p:txBody>
      </p:sp>
      <p:sp>
        <p:nvSpPr>
          <p:cNvPr id="15" name="Text Placeholder 14">
            <a:extLst>
              <a:ext uri="{FF2B5EF4-FFF2-40B4-BE49-F238E27FC236}">
                <a16:creationId xmlns:a16="http://schemas.microsoft.com/office/drawing/2014/main" id="{EDAFA41C-D237-478A-411A-D8B08C907024}"/>
              </a:ext>
            </a:extLst>
          </p:cNvPr>
          <p:cNvSpPr>
            <a:spLocks noGrp="1"/>
          </p:cNvSpPr>
          <p:nvPr>
            <p:ph type="body" sz="quarter" idx="20"/>
          </p:nvPr>
        </p:nvSpPr>
        <p:spPr>
          <a:xfrm>
            <a:off x="1235074" y="4588103"/>
            <a:ext cx="8957333" cy="215444"/>
          </a:xfrm>
        </p:spPr>
        <p:txBody>
          <a:bodyPr/>
          <a:lstStyle/>
          <a:p>
            <a:r>
              <a:rPr lang="en-US" b="1" noProof="0" dirty="0"/>
              <a:t>Which kind of projection results in a relational data schema for extracted fields?</a:t>
            </a:r>
          </a:p>
        </p:txBody>
      </p:sp>
      <p:sp>
        <p:nvSpPr>
          <p:cNvPr id="17" name="Text Placeholder 16">
            <a:extLst>
              <a:ext uri="{FF2B5EF4-FFF2-40B4-BE49-F238E27FC236}">
                <a16:creationId xmlns:a16="http://schemas.microsoft.com/office/drawing/2014/main" id="{95539CCC-24B5-4937-76F5-801E57AE9102}"/>
              </a:ext>
            </a:extLst>
          </p:cNvPr>
          <p:cNvSpPr>
            <a:spLocks noGrp="1"/>
          </p:cNvSpPr>
          <p:nvPr>
            <p:ph type="body" sz="quarter" idx="21"/>
          </p:nvPr>
        </p:nvSpPr>
        <p:spPr>
          <a:xfrm>
            <a:off x="1235075" y="4968973"/>
            <a:ext cx="8775098" cy="732508"/>
          </a:xfrm>
        </p:spPr>
        <p:txBody>
          <a:bodyPr/>
          <a:lstStyle/>
          <a:p>
            <a:r>
              <a:rPr lang="en-US" noProof="0" dirty="0"/>
              <a:t>File </a:t>
            </a:r>
          </a:p>
          <a:p>
            <a:r>
              <a:rPr lang="en-US" noProof="0" dirty="0"/>
              <a:t>Object</a:t>
            </a:r>
          </a:p>
          <a:p>
            <a:r>
              <a:rPr lang="en-US" noProof="0" dirty="0"/>
              <a:t>Table</a:t>
            </a:r>
          </a:p>
        </p:txBody>
      </p:sp>
      <p:sp>
        <p:nvSpPr>
          <p:cNvPr id="76" name="Oval 75">
            <a:extLst>
              <a:ext uri="{FF2B5EF4-FFF2-40B4-BE49-F238E27FC236}">
                <a16:creationId xmlns:a16="http://schemas.microsoft.com/office/drawing/2014/main" id="{665B2774-978B-DE44-CEDC-06759CD6E5D3}"/>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8DEC3CE7-D7EC-4F25-3347-960C6F4F39AD}"/>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418E937C-CFE4-BFF7-66E6-3CF62230E72E}"/>
              </a:ext>
              <a:ext uri="{C183D7F6-B498-43B3-948B-1728B52AA6E4}">
                <adec:decorative xmlns:adec="http://schemas.microsoft.com/office/drawing/2017/decorative" val="1"/>
              </a:ext>
            </a:extLst>
          </p:cNvPr>
          <p:cNvSpPr>
            <a:spLocks/>
          </p:cNvSpPr>
          <p:nvPr/>
        </p:nvSpPr>
        <p:spPr>
          <a:xfrm>
            <a:off x="1263852" y="374582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3E81E59C-F713-B3B6-1A21-5412008CC242}"/>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28574AF-01B9-3216-4869-8CE679BBE532}"/>
              </a:ext>
              <a:ext uri="{C183D7F6-B498-43B3-948B-1728B52AA6E4}">
                <adec:decorative xmlns:adec="http://schemas.microsoft.com/office/drawing/2017/decorative" val="1"/>
              </a:ext>
            </a:extLst>
          </p:cNvPr>
          <p:cNvSpPr>
            <a:spLocks/>
          </p:cNvSpPr>
          <p:nvPr/>
        </p:nvSpPr>
        <p:spPr>
          <a:xfrm>
            <a:off x="1263852" y="552532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E49A37FE-7FC0-D112-B00A-1C253DC1806E}"/>
              </a:ext>
              <a:ext uri="{C183D7F6-B498-43B3-948B-1728B52AA6E4}">
                <adec:decorative xmlns:adec="http://schemas.microsoft.com/office/drawing/2017/decorative" val="1"/>
              </a:ext>
            </a:extLst>
          </p:cNvPr>
          <p:cNvSpPr>
            <a:spLocks/>
          </p:cNvSpPr>
          <p:nvPr/>
        </p:nvSpPr>
        <p:spPr>
          <a:xfrm>
            <a:off x="1263852" y="221469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09478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E6BE5F-0F3E-4688-943B-6A75B88CACC0}">
  <ds:schemaRefs>
    <ds:schemaRef ds:uri="http://schemas.microsoft.com/sharepoint/v3/contenttype/forms"/>
  </ds:schemaRefs>
</ds:datastoreItem>
</file>

<file path=customXml/itemProps3.xml><?xml version="1.0" encoding="utf-8"?>
<ds:datastoreItem xmlns:ds="http://schemas.openxmlformats.org/officeDocument/2006/customXml" ds:itemID="{87F4CE68-A85E-4373-86D0-F40255719C5F}">
  <ds:schemaRefs>
    <ds:schemaRef ds:uri="http://purl.org/dc/terms/"/>
    <ds:schemaRef ds:uri="http://schemas.microsoft.com/office/2006/documentManagement/types"/>
    <ds:schemaRef ds:uri="http://schemas.microsoft.com/sharepoint/v3"/>
    <ds:schemaRef ds:uri="http://www.w3.org/XML/1998/namespace"/>
    <ds:schemaRef ds:uri="http://schemas.openxmlformats.org/package/2006/metadata/core-properties"/>
    <ds:schemaRef ds:uri="92cc7923-7bd6-4c52-a535-c267c30bc123"/>
    <ds:schemaRef ds:uri="http://schemas.microsoft.com/office/2006/metadata/properties"/>
    <ds:schemaRef ds:uri="http://schemas.microsoft.com/office/infopath/2007/PartnerControls"/>
    <ds:schemaRef ds:uri="http://purl.org/dc/dcmitype/"/>
    <ds:schemaRef ds:uri="http://purl.org/dc/elements/1.1/"/>
    <ds:schemaRef ds:uri="59afee55-fc30-40da-a84e-ff6fc62c4efa"/>
    <ds:schemaRef ds:uri="65939125-e560-4c0d-b0c5-36d0cbbdefe7"/>
    <ds:schemaRef ds:uri="e9b40ee8-a410-479f-a3f0-3e55b31bc197"/>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5786</Words>
  <Application>Microsoft Office PowerPoint</Application>
  <PresentationFormat>Widescreen</PresentationFormat>
  <Paragraphs>733</Paragraphs>
  <Slides>44</Slides>
  <Notes>44</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Aptos</vt:lpstr>
      <vt:lpstr>Arial</vt:lpstr>
      <vt:lpstr>Cambria Math</vt:lpstr>
      <vt:lpstr>Cascadia Code Light</vt:lpstr>
      <vt:lpstr>Consolas</vt:lpstr>
      <vt:lpstr>Segoe UI</vt:lpstr>
      <vt:lpstr>Segoe UI Light</vt:lpstr>
      <vt:lpstr>Segoe UI Semibold</vt:lpstr>
      <vt:lpstr>Wingdings</vt:lpstr>
      <vt:lpstr>1_LIGHT MODE</vt:lpstr>
      <vt:lpstr>LIGHT MODE</vt:lpstr>
      <vt:lpstr>Extract insights from visual data in Azure​</vt:lpstr>
      <vt:lpstr>Artificial Intelligence workloads</vt:lpstr>
      <vt:lpstr>Our focus today</vt:lpstr>
      <vt:lpstr>Develop a vision-enabled generative AI application</vt:lpstr>
      <vt:lpstr>Using a vision-capable model</vt:lpstr>
      <vt:lpstr>Compare APIs for image-based prompts</vt:lpstr>
      <vt:lpstr>Using the Responses API for image-based prompts</vt:lpstr>
      <vt:lpstr>Using the ChatCompletions API for image-based prompts</vt:lpstr>
      <vt:lpstr>Exercise</vt:lpstr>
      <vt:lpstr>Knowledge check</vt:lpstr>
      <vt:lpstr>Generating images and video</vt:lpstr>
      <vt:lpstr>Using an image-generation model</vt:lpstr>
      <vt:lpstr>Generating an image with the OpenAI Image API</vt:lpstr>
      <vt:lpstr>Video-generating models</vt:lpstr>
      <vt:lpstr>Generate videos from prompts</vt:lpstr>
      <vt:lpstr>Using a video-generation model</vt:lpstr>
      <vt:lpstr>Exercise</vt:lpstr>
      <vt:lpstr>Knowledge check</vt:lpstr>
      <vt:lpstr>Analyze images with Content Understanding</vt:lpstr>
      <vt:lpstr>What is Azure Content Understanding in Foundry Tools?</vt:lpstr>
      <vt:lpstr>Analyzing images with Content Understanding</vt:lpstr>
      <vt:lpstr>Analyzing images with Content Understanding</vt:lpstr>
      <vt:lpstr>Analysis results</vt:lpstr>
      <vt:lpstr>Exercise</vt:lpstr>
      <vt:lpstr>Knowledge check</vt:lpstr>
      <vt:lpstr>Analyze documents with Content Understanding</vt:lpstr>
      <vt:lpstr>Analyzing documents</vt:lpstr>
      <vt:lpstr>Analyzing audio</vt:lpstr>
      <vt:lpstr>Analyzing video</vt:lpstr>
      <vt:lpstr>Creating an analyzer</vt:lpstr>
      <vt:lpstr>Exercise</vt:lpstr>
      <vt:lpstr>Prepare to use the Content Understanding API</vt:lpstr>
      <vt:lpstr>Define your schema and create analyzer</vt:lpstr>
      <vt:lpstr>Analyze content</vt:lpstr>
      <vt:lpstr>Exercise</vt:lpstr>
      <vt:lpstr>Knowledge check</vt:lpstr>
      <vt:lpstr>Create a knowledge mining solution with Azure AI Search</vt:lpstr>
      <vt:lpstr>What is Azure AI Search?</vt:lpstr>
      <vt:lpstr>Extract data with an indexer</vt:lpstr>
      <vt:lpstr>Enrich extracted data with AI skills</vt:lpstr>
      <vt:lpstr>Search an index</vt:lpstr>
      <vt:lpstr>Persist extracted information in a knowledge store</vt:lpstr>
      <vt:lpstr>Demo</vt:lpstr>
      <vt:lpstr>Knowledge check</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2023-08-17T11:36:13Z</dcterms:created>
  <dcterms:modified xsi:type="dcterms:W3CDTF">2026-03-27T17:35:20Z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Application">
    <vt:lpwstr>Microsoft Azure Information Protection</vt:lpwstr>
  </property>
  <property fmtid="{D5CDD505-2E9C-101B-9397-08002B2CF9AE}" pid="3" name="_dlc_policyId">
    <vt:lpwstr>0x01010070AB3889E58DB141A6E1281B02136174|-369733750</vt:lpwstr>
  </property>
  <property fmtid="{D5CDD505-2E9C-101B-9397-08002B2CF9AE}" pid="4" name="MSIP_Label_f42aa342-8706-4288-bd11-ebb85995028c_Enabled">
    <vt:lpwstr>True</vt:lpwstr>
  </property>
  <property fmtid="{D5CDD505-2E9C-101B-9397-08002B2CF9AE}" pid="5" name="MediaServiceImageTags">
    <vt:lpwstr/>
  </property>
  <property fmtid="{D5CDD505-2E9C-101B-9397-08002B2CF9AE}" pid="6" name="ContentTypeId">
    <vt:lpwstr>0x0101002E32D07151C35047978CBB2C9B85873C</vt:lpwstr>
  </property>
  <property fmtid="{D5CDD505-2E9C-101B-9397-08002B2CF9AE}" pid="7" name="Audience">
    <vt:lpwstr/>
  </property>
  <property fmtid="{D5CDD505-2E9C-101B-9397-08002B2CF9AE}" pid="8" name="MSIP_Label_f42aa342-8706-4288-bd11-ebb85995028c_SetDate">
    <vt:lpwstr>2017-08-29T14:27:20.8568347-07:00</vt:lpwstr>
  </property>
  <property fmtid="{D5CDD505-2E9C-101B-9397-08002B2CF9AE}" pid="9" name="MSIP_Label_f42aa342-8706-4288-bd11-ebb85995028c_Name">
    <vt:lpwstr>General</vt:lpwstr>
  </property>
  <property fmtid="{D5CDD505-2E9C-101B-9397-08002B2CF9AE}" pid="10" name="MSIP_Label_f42aa342-8706-4288-bd11-ebb85995028c_SiteId">
    <vt:lpwstr>72f988bf-86f1-41af-91ab-2d7cd011db47</vt:lpwstr>
  </property>
  <property fmtid="{D5CDD505-2E9C-101B-9397-08002B2CF9AE}" pid="11" name="Campaign">
    <vt:lpwstr/>
  </property>
  <property fmtid="{D5CDD505-2E9C-101B-9397-08002B2CF9AE}" pid="12" name="MSIP_Label_f42aa342-8706-4288-bd11-ebb85995028c_Extended_MSFT_Method">
    <vt:lpwstr>Automatic</vt:lpwstr>
  </property>
  <property fmtid="{D5CDD505-2E9C-101B-9397-08002B2CF9AE}" pid="13" name="Track">
    <vt:lpwstr/>
  </property>
  <property fmtid="{D5CDD505-2E9C-101B-9397-08002B2CF9AE}" pid="14" name="MSIP_Label_f42aa342-8706-4288-bd11-ebb85995028c_Owner">
    <vt:lpwstr>maryfj@microsoft.com</vt:lpwstr>
  </property>
  <property fmtid="{D5CDD505-2E9C-101B-9397-08002B2CF9AE}" pid="15" name="Event Venue">
    <vt:lpwstr/>
  </property>
  <property fmtid="{D5CDD505-2E9C-101B-9397-08002B2CF9AE}" pid="16" name="IsMyDocuments">
    <vt:bool>true</vt:bool>
  </property>
  <property fmtid="{D5CDD505-2E9C-101B-9397-08002B2CF9AE}" pid="17" name="Sensitivity">
    <vt:lpwstr>General</vt:lpwstr>
  </property>
  <property fmtid="{D5CDD505-2E9C-101B-9397-08002B2CF9AE}" pid="18" name="MSIP_Label_f42aa342-8706-4288-bd11-ebb85995028c_Ref">
    <vt:lpwstr>https://api.informationprotection.azure.com/api/72f988bf-86f1-41af-91ab-2d7cd011db47</vt:lpwstr>
  </property>
  <property fmtid="{D5CDD505-2E9C-101B-9397-08002B2CF9AE}" pid="19" name="Product">
    <vt:lpwstr/>
  </property>
  <property fmtid="{D5CDD505-2E9C-101B-9397-08002B2CF9AE}" pid="20" name="Event Location">
    <vt:lpwstr/>
  </property>
  <property fmtid="{D5CDD505-2E9C-101B-9397-08002B2CF9AE}" pid="2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22" name="Event1">
    <vt:lpwstr>622;#Unassigned|2c8af875-f38a-40b8-a0a9-056aed3fc8c0</vt:lpwstr>
  </property>
</Properties>
</file>