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12"/>
  </p:notesMasterIdLst>
  <p:handoutMasterIdLst>
    <p:handoutMasterId r:id="rId13"/>
  </p:handoutMasterIdLst>
  <p:sldIdLst>
    <p:sldId id="2147479558" r:id="rId5"/>
    <p:sldId id="2147479656" r:id="rId6"/>
    <p:sldId id="2147479657" r:id="rId7"/>
    <p:sldId id="2147479651" r:id="rId8"/>
    <p:sldId id="2147479659" r:id="rId9"/>
    <p:sldId id="2147479660" r:id="rId10"/>
    <p:sldId id="2147479594" r:id="rId1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D0D05-1B6C-B9DD-05F5-5BAF8705D900}" name="Ron Sasaki" initials="RS" userId="S::rsasaki@microsoft.com::d50e61ca-c12c-4489-bcc9-f00936fa5f6e" providerId="AD"/>
  <p188:author id="{999BBDA0-6DD0-1FC2-4156-10230AF06B33}" name="heidi@mindseyepdx.com" initials="h" userId="S::heidi@mindseyepdx.com::a1bc4856-633f-4b84-8338-4fab10310c7a" providerId="AD"/>
  <p188:author id="{2D7C0DE9-CAB2-3D67-0CB7-665236291F0D}" name="Heidi Laverty" initials="HL" userId="7f49b1eb0f3d108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E8E8E8"/>
    <a:srgbClr val="D4D4D4"/>
    <a:srgbClr val="E8E6DF"/>
    <a:srgbClr val="FB5A65"/>
    <a:srgbClr val="CD9BCF"/>
    <a:srgbClr val="FFA38B"/>
    <a:srgbClr val="D59ED7"/>
    <a:srgbClr val="8DC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9" autoAdjust="0"/>
    <p:restoredTop sz="85785" autoAdjust="0"/>
  </p:normalViewPr>
  <p:slideViewPr>
    <p:cSldViewPr snapToGrid="0">
      <p:cViewPr varScale="1">
        <p:scale>
          <a:sx n="95" d="100"/>
          <a:sy n="95" d="100"/>
        </p:scale>
        <p:origin x="2664" y="78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r Berry" userId="96544f6f-8d1b-4abf-b41a-4612af170be1" providerId="ADAL" clId="{43568C9D-6154-4236-B1D2-8E951E6C1BD9}"/>
    <pc:docChg chg="undo custSel modSld">
      <pc:chgData name="Ivor Berry" userId="96544f6f-8d1b-4abf-b41a-4612af170be1" providerId="ADAL" clId="{43568C9D-6154-4236-B1D2-8E951E6C1BD9}" dt="2023-12-07T06:11:12.868" v="121" actId="962"/>
      <pc:docMkLst>
        <pc:docMk/>
      </pc:docMkLst>
      <pc:sldChg chg="modSp mod">
        <pc:chgData name="Ivor Berry" userId="96544f6f-8d1b-4abf-b41a-4612af170be1" providerId="ADAL" clId="{43568C9D-6154-4236-B1D2-8E951E6C1BD9}" dt="2023-12-07T06:09:17.327" v="105" actId="962"/>
        <pc:sldMkLst>
          <pc:docMk/>
          <pc:sldMk cId="833209215" sldId="2147479607"/>
        </pc:sldMkLst>
        <pc:grpChg chg="mod">
          <ac:chgData name="Ivor Berry" userId="96544f6f-8d1b-4abf-b41a-4612af170be1" providerId="ADAL" clId="{43568C9D-6154-4236-B1D2-8E951E6C1BD9}" dt="2023-12-07T06:09:17.327" v="105" actId="962"/>
          <ac:grpSpMkLst>
            <pc:docMk/>
            <pc:sldMk cId="833209215" sldId="2147479607"/>
            <ac:grpSpMk id="19" creationId="{58E532ED-A6EA-9B86-5DB0-AE5BB46F141E}"/>
          </ac:grpSpMkLst>
        </pc:grpChg>
      </pc:sldChg>
      <pc:sldChg chg="modSp mod">
        <pc:chgData name="Ivor Berry" userId="96544f6f-8d1b-4abf-b41a-4612af170be1" providerId="ADAL" clId="{43568C9D-6154-4236-B1D2-8E951E6C1BD9}" dt="2023-12-07T06:08:45.535" v="1" actId="962"/>
        <pc:sldMkLst>
          <pc:docMk/>
          <pc:sldMk cId="1736455465" sldId="2147479651"/>
        </pc:sldMkLst>
        <pc:spChg chg="mod">
          <ac:chgData name="Ivor Berry" userId="96544f6f-8d1b-4abf-b41a-4612af170be1" providerId="ADAL" clId="{43568C9D-6154-4236-B1D2-8E951E6C1BD9}" dt="2023-12-07T06:08:43.242" v="0" actId="962"/>
          <ac:spMkLst>
            <pc:docMk/>
            <pc:sldMk cId="1736455465" sldId="2147479651"/>
            <ac:spMk id="15" creationId="{C30E3F23-57C3-CEE2-DD2F-E66B72B8F428}"/>
          </ac:spMkLst>
        </pc:spChg>
        <pc:spChg chg="mod">
          <ac:chgData name="Ivor Berry" userId="96544f6f-8d1b-4abf-b41a-4612af170be1" providerId="ADAL" clId="{43568C9D-6154-4236-B1D2-8E951E6C1BD9}" dt="2023-12-07T06:08:45.535" v="1" actId="962"/>
          <ac:spMkLst>
            <pc:docMk/>
            <pc:sldMk cId="1736455465" sldId="2147479651"/>
            <ac:spMk id="20" creationId="{1D06749D-C277-67CB-CDE9-258A140C78C0}"/>
          </ac:spMkLst>
        </pc:spChg>
      </pc:sldChg>
      <pc:sldChg chg="modSp mod">
        <pc:chgData name="Ivor Berry" userId="96544f6f-8d1b-4abf-b41a-4612af170be1" providerId="ADAL" clId="{43568C9D-6154-4236-B1D2-8E951E6C1BD9}" dt="2023-12-07T06:11:12.868" v="121" actId="962"/>
        <pc:sldMkLst>
          <pc:docMk/>
          <pc:sldMk cId="1649699699" sldId="2147479653"/>
        </pc:sldMkLst>
        <pc:spChg chg="ord">
          <ac:chgData name="Ivor Berry" userId="96544f6f-8d1b-4abf-b41a-4612af170be1" providerId="ADAL" clId="{43568C9D-6154-4236-B1D2-8E951E6C1BD9}" dt="2023-12-07T06:09:30.092" v="107" actId="13244"/>
          <ac:spMkLst>
            <pc:docMk/>
            <pc:sldMk cId="1649699699" sldId="2147479653"/>
            <ac:spMk id="2" creationId="{887758F5-C35D-A291-068D-13C0D6581723}"/>
          </ac:spMkLst>
        </pc:spChg>
        <pc:spChg chg="ord">
          <ac:chgData name="Ivor Berry" userId="96544f6f-8d1b-4abf-b41a-4612af170be1" providerId="ADAL" clId="{43568C9D-6154-4236-B1D2-8E951E6C1BD9}" dt="2023-12-07T06:11:02.665" v="118" actId="13244"/>
          <ac:spMkLst>
            <pc:docMk/>
            <pc:sldMk cId="1649699699" sldId="2147479653"/>
            <ac:spMk id="4" creationId="{B57C90FC-C3E7-0F4C-A80F-A3776B9374E2}"/>
          </ac:spMkLst>
        </pc:spChg>
        <pc:spChg chg="ord">
          <ac:chgData name="Ivor Berry" userId="96544f6f-8d1b-4abf-b41a-4612af170be1" providerId="ADAL" clId="{43568C9D-6154-4236-B1D2-8E951E6C1BD9}" dt="2023-12-07T06:10:05.011" v="109" actId="13244"/>
          <ac:spMkLst>
            <pc:docMk/>
            <pc:sldMk cId="1649699699" sldId="2147479653"/>
            <ac:spMk id="5" creationId="{C6774742-B51A-7AB0-5C2C-8C2CFAC7FA4A}"/>
          </ac:spMkLst>
        </pc:spChg>
        <pc:spChg chg="mod ord">
          <ac:chgData name="Ivor Berry" userId="96544f6f-8d1b-4abf-b41a-4612af170be1" providerId="ADAL" clId="{43568C9D-6154-4236-B1D2-8E951E6C1BD9}" dt="2023-12-07T06:11:12.868" v="121" actId="962"/>
          <ac:spMkLst>
            <pc:docMk/>
            <pc:sldMk cId="1649699699" sldId="2147479653"/>
            <ac:spMk id="7" creationId="{D84B1C3C-263F-04A9-DF9B-1C9B8DA93F52}"/>
          </ac:spMkLst>
        </pc:spChg>
        <pc:spChg chg="mod">
          <ac:chgData name="Ivor Berry" userId="96544f6f-8d1b-4abf-b41a-4612af170be1" providerId="ADAL" clId="{43568C9D-6154-4236-B1D2-8E951E6C1BD9}" dt="2023-12-07T06:09:21.950" v="106" actId="962"/>
          <ac:spMkLst>
            <pc:docMk/>
            <pc:sldMk cId="1649699699" sldId="2147479653"/>
            <ac:spMk id="9" creationId="{D4BA0CA9-7D1C-CAD8-B69B-7DC32EE7B121}"/>
          </ac:spMkLst>
        </pc:spChg>
        <pc:spChg chg="ord">
          <ac:chgData name="Ivor Berry" userId="96544f6f-8d1b-4abf-b41a-4612af170be1" providerId="ADAL" clId="{43568C9D-6154-4236-B1D2-8E951E6C1BD9}" dt="2023-12-07T06:10:52.729" v="117" actId="13244"/>
          <ac:spMkLst>
            <pc:docMk/>
            <pc:sldMk cId="1649699699" sldId="2147479653"/>
            <ac:spMk id="10" creationId="{E6ED93DF-B06D-56D2-2BAC-AC6AABBC7E78}"/>
          </ac:spMkLst>
        </pc:spChg>
        <pc:spChg chg="ord">
          <ac:chgData name="Ivor Berry" userId="96544f6f-8d1b-4abf-b41a-4612af170be1" providerId="ADAL" clId="{43568C9D-6154-4236-B1D2-8E951E6C1BD9}" dt="2023-12-07T06:10:10.482" v="110" actId="13244"/>
          <ac:spMkLst>
            <pc:docMk/>
            <pc:sldMk cId="1649699699" sldId="2147479653"/>
            <ac:spMk id="11" creationId="{FF061EA4-8988-693D-F87C-7BF5591F84CD}"/>
          </ac:spMkLst>
        </pc:spChg>
        <pc:graphicFrameChg chg="ord">
          <ac:chgData name="Ivor Berry" userId="96544f6f-8d1b-4abf-b41a-4612af170be1" providerId="ADAL" clId="{43568C9D-6154-4236-B1D2-8E951E6C1BD9}" dt="2023-12-07T06:10:45.430" v="116" actId="13244"/>
          <ac:graphicFrameMkLst>
            <pc:docMk/>
            <pc:sldMk cId="1649699699" sldId="2147479653"/>
            <ac:graphicFrameMk id="3" creationId="{A464DE02-903A-6800-6755-54FB85E0D2B7}"/>
          </ac:graphicFrameMkLst>
        </pc:graphicFrameChg>
      </pc:sldChg>
      <pc:sldChg chg="modSp mod">
        <pc:chgData name="Ivor Berry" userId="96544f6f-8d1b-4abf-b41a-4612af170be1" providerId="ADAL" clId="{43568C9D-6154-4236-B1D2-8E951E6C1BD9}" dt="2023-12-07T06:08:53.336" v="3" actId="962"/>
        <pc:sldMkLst>
          <pc:docMk/>
          <pc:sldMk cId="1958439968" sldId="2147479655"/>
        </pc:sldMkLst>
        <pc:spChg chg="mod">
          <ac:chgData name="Ivor Berry" userId="96544f6f-8d1b-4abf-b41a-4612af170be1" providerId="ADAL" clId="{43568C9D-6154-4236-B1D2-8E951E6C1BD9}" dt="2023-12-07T06:08:50.520" v="2" actId="962"/>
          <ac:spMkLst>
            <pc:docMk/>
            <pc:sldMk cId="1958439968" sldId="2147479655"/>
            <ac:spMk id="4" creationId="{F9F46C76-F9B5-765C-6D1B-DC84C38C8AEC}"/>
          </ac:spMkLst>
        </pc:spChg>
        <pc:spChg chg="mod">
          <ac:chgData name="Ivor Berry" userId="96544f6f-8d1b-4abf-b41a-4612af170be1" providerId="ADAL" clId="{43568C9D-6154-4236-B1D2-8E951E6C1BD9}" dt="2023-12-07T06:08:53.336" v="3" actId="962"/>
          <ac:spMkLst>
            <pc:docMk/>
            <pc:sldMk cId="1958439968" sldId="2147479655"/>
            <ac:spMk id="8" creationId="{E607AD97-0229-E16C-8A52-E00FE0922A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3/27/2026 3:28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3/27/2026 3:28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8AFE116-C913-47B9-A2FE-E7F4B9E58C38}" type="datetime8">
              <a:rPr lang="en-US" smtClean="0"/>
              <a:t>3/27/2026 3:28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1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3/27/2026 3:28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3/27/2026 3:28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2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AC9CC-CBA7-2165-37C5-00D2CAABA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63338" cy="37151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94A1388-BD3C-450C-8D99-7C21AEFD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7266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Learn-with Head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4CE2C-953A-10B8-F580-7F93E4F1234F}"/>
              </a:ext>
            </a:extLst>
          </p:cNvPr>
          <p:cNvGrpSpPr/>
          <p:nvPr userDrawn="1"/>
        </p:nvGrpSpPr>
        <p:grpSpPr>
          <a:xfrm>
            <a:off x="0" y="0"/>
            <a:ext cx="12192001" cy="1289051"/>
            <a:chOff x="0" y="0"/>
            <a:chExt cx="12192001" cy="1289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080A99-448F-6067-0FC9-8A3F1093BB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125" b="79253"/>
            <a:stretch/>
          </p:blipFill>
          <p:spPr>
            <a:xfrm>
              <a:off x="0" y="1"/>
              <a:ext cx="12192001" cy="1289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29612-B6F9-E264-C307-D22FBB0EACA2}"/>
                </a:ext>
              </a:extLst>
            </p:cNvPr>
            <p:cNvSpPr/>
            <p:nvPr userDrawn="1"/>
          </p:nvSpPr>
          <p:spPr bwMode="auto">
            <a:xfrm>
              <a:off x="7315200" y="0"/>
              <a:ext cx="1454150" cy="82550"/>
            </a:xfrm>
            <a:prstGeom prst="rect">
              <a:avLst/>
            </a:prstGeom>
            <a:solidFill>
              <a:srgbClr val="E8E6D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605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6A3D4E9-A69B-36D6-0102-4B231B87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23169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36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  <p:sldLayoutId id="2147484919" r:id="rId4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://www.aka.ms/MyMicrosoftLearnProfile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hyperlink" Target="https://learn.microsof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home.pearsonvue.com/voc/2023-report" TargetMode="External"/><Relationship Id="rId5" Type="http://schemas.openxmlformats.org/officeDocument/2006/relationships/hyperlink" Target="https://aka.ms/RenewYourCert" TargetMode="External"/><Relationship Id="rId4" Type="http://schemas.openxmlformats.org/officeDocument/2006/relationships/hyperlink" Target="http://www.learn.microsoft.com/certif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44E6-CCD1-1211-F0F8-955B753B6C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50863"/>
            <a:ext cx="10429875" cy="307975"/>
          </a:xfrm>
        </p:spPr>
        <p:txBody>
          <a:bodyPr/>
          <a:lstStyle/>
          <a:p>
            <a:r>
              <a:rPr lang="en-US" dirty="0"/>
              <a:t>Walk-in slide</a:t>
            </a:r>
          </a:p>
        </p:txBody>
      </p:sp>
    </p:spTree>
    <p:extLst>
      <p:ext uri="{BB962C8B-B14F-4D97-AF65-F5344CB8AC3E}">
        <p14:creationId xmlns:p14="http://schemas.microsoft.com/office/powerpoint/2010/main" val="297716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905780"/>
            <a:ext cx="6164262" cy="1846659"/>
          </a:xfrm>
        </p:spPr>
        <p:txBody>
          <a:bodyPr/>
          <a:lstStyle/>
          <a:p>
            <a:r>
              <a:rPr lang="it-IT" dirty="0"/>
              <a:t>Extract insights from</a:t>
            </a:r>
            <a:br>
              <a:rPr lang="it-IT" dirty="0"/>
            </a:br>
            <a:r>
              <a:rPr lang="it-IT" dirty="0"/>
              <a:t>visual data in Azure​</a:t>
            </a:r>
            <a:br>
              <a:rPr lang="en-US" dirty="0"/>
            </a:br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3888"/>
          </a:xfrm>
        </p:spPr>
        <p:txBody>
          <a:bodyPr/>
          <a:lstStyle/>
          <a:p>
            <a:pPr algn="ctr"/>
            <a:r>
              <a:rPr lang="en-US" dirty="0"/>
              <a:t>August 2025</a:t>
            </a:r>
          </a:p>
        </p:txBody>
      </p:sp>
    </p:spTree>
    <p:extLst>
      <p:ext uri="{BB962C8B-B14F-4D97-AF65-F5344CB8AC3E}">
        <p14:creationId xmlns:p14="http://schemas.microsoft.com/office/powerpoint/2010/main" val="25223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B55108-207A-D9FF-AF4B-A304A5DE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748337" cy="369332"/>
          </a:xfrm>
        </p:spPr>
        <p:txBody>
          <a:bodyPr/>
          <a:lstStyle/>
          <a:p>
            <a:r>
              <a:rPr lang="en-US" sz="2400"/>
              <a:t>Hello!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53B6DE-CBCC-D805-6A97-2E9248B43F2C}"/>
              </a:ext>
            </a:extLst>
          </p:cNvPr>
          <p:cNvSpPr txBox="1">
            <a:spLocks/>
          </p:cNvSpPr>
          <p:nvPr/>
        </p:nvSpPr>
        <p:spPr>
          <a:xfrm>
            <a:off x="588963" y="1085850"/>
            <a:ext cx="63023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Thank you for joining me today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02A69FC5-E869-7938-B593-C7A42F844DCF}"/>
              </a:ext>
            </a:extLst>
          </p:cNvPr>
          <p:cNvSpPr/>
          <p:nvPr/>
        </p:nvSpPr>
        <p:spPr>
          <a:xfrm>
            <a:off x="584200" y="1871133"/>
            <a:ext cx="5969000" cy="3032449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Instructor: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&lt;Name&gt;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&lt;Title or other credentials, e.g., Microsoft Certified Trainer&gt;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&lt;Affiliation/Company&gt;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&lt;A few words about my technical and professional experience&gt;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2AB5424-9D84-FAB9-4FA9-A13D7E3A190C}"/>
              </a:ext>
            </a:extLst>
          </p:cNvPr>
          <p:cNvSpPr txBox="1">
            <a:spLocks/>
          </p:cNvSpPr>
          <p:nvPr/>
        </p:nvSpPr>
        <p:spPr>
          <a:xfrm>
            <a:off x="927100" y="5161773"/>
            <a:ext cx="5314950" cy="81117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twitter.com/[Name]</a:t>
            </a:r>
          </a:p>
          <a:p>
            <a:pPr marL="0" indent="0">
              <a:buNone/>
            </a:pPr>
            <a:r>
              <a:rPr lang="en-US" sz="1200"/>
              <a:t>linkedin.com/[Name]</a:t>
            </a:r>
          </a:p>
          <a:p>
            <a:pPr marL="0" indent="0">
              <a:buNone/>
            </a:pPr>
            <a:r>
              <a:rPr lang="en-US" sz="1200"/>
              <a:t>[</a:t>
            </a:r>
            <a:r>
              <a:rPr lang="en-US" sz="1200" err="1"/>
              <a:t>first.last</a:t>
            </a:r>
            <a:r>
              <a:rPr lang="en-US" sz="1200"/>
              <a:t>]@[email.com]</a:t>
            </a:r>
          </a:p>
          <a:p>
            <a:pPr marL="0" indent="0">
              <a:buNone/>
            </a:pPr>
            <a:r>
              <a:rPr lang="en-US" sz="1200"/>
              <a:t>Blog 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14" name="Picture Placeholder 13" descr="Instructor image">
            <a:extLst>
              <a:ext uri="{FF2B5EF4-FFF2-40B4-BE49-F238E27FC236}">
                <a16:creationId xmlns:a16="http://schemas.microsoft.com/office/drawing/2014/main" id="{51EC8343-A368-A017-1348-13DC442E08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32C35C5-B9CD-B676-7227-712C7E305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D2AF726-9685-6A2E-1457-0AD5F7CF8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53862B-FC4F-2412-F837-F9D1DF1A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E7F6BB-5DFF-B8FF-882B-C3E2A0792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5CABB87-DAAF-A526-A471-745B2114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A04444-CE05-A52A-28B6-14B2DF4BF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2EB63-491C-85C2-F489-E7594D45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Flowchart: Off-page Connector 44">
            <a:extLst>
              <a:ext uri="{FF2B5EF4-FFF2-40B4-BE49-F238E27FC236}">
                <a16:creationId xmlns:a16="http://schemas.microsoft.com/office/drawing/2014/main" id="{1BAF25FE-7F5F-504D-B664-8B11FB8CE84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Customize this content with your information, image, and background. Delete this note before teaching.</a:t>
            </a:r>
          </a:p>
        </p:txBody>
      </p:sp>
    </p:spTree>
    <p:extLst>
      <p:ext uri="{BB962C8B-B14F-4D97-AF65-F5344CB8AC3E}">
        <p14:creationId xmlns:p14="http://schemas.microsoft.com/office/powerpoint/2010/main" val="162056146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this course</a:t>
            </a:r>
          </a:p>
        </p:txBody>
      </p:sp>
      <p:sp>
        <p:nvSpPr>
          <p:cNvPr id="15" name="Rounded Rectangle 3_1">
            <a:extLst>
              <a:ext uri="{FF2B5EF4-FFF2-40B4-BE49-F238E27FC236}">
                <a16:creationId xmlns:a16="http://schemas.microsoft.com/office/drawing/2014/main" id="{C30E3F23-57C3-CEE2-DD2F-E66B72B8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168400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069EA8-1883-9482-758E-F5D0C58727C0}"/>
              </a:ext>
            </a:extLst>
          </p:cNvPr>
          <p:cNvSpPr>
            <a:spLocks/>
          </p:cNvSpPr>
          <p:nvPr/>
        </p:nvSpPr>
        <p:spPr bwMode="auto">
          <a:xfrm>
            <a:off x="736601" y="1334807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What we’ll cover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5275E9-F296-1E2D-E2D3-6BAE1C5EFAAF}"/>
              </a:ext>
            </a:extLst>
          </p:cNvPr>
          <p:cNvSpPr txBox="1">
            <a:spLocks/>
          </p:cNvSpPr>
          <p:nvPr/>
        </p:nvSpPr>
        <p:spPr>
          <a:xfrm>
            <a:off x="930275" y="2014126"/>
            <a:ext cx="10545445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/>
              <a:t>This 1‑day course focuses on building intelligent applications that can see, interpret, and reason over images and documents using different multimodal models and agent-based tools. Learners explore how visual and document inputs can be combined with language models to enable structured extraction, analysis, and decision-making workflows. The course emphasizes practical patterns for extracting information, orchestrating tools, and grounding model responses in visual data.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" name="Rounded Rectangle 3_1">
            <a:extLst>
              <a:ext uri="{FF2B5EF4-FFF2-40B4-BE49-F238E27FC236}">
                <a16:creationId xmlns:a16="http://schemas.microsoft.com/office/drawing/2014/main" id="{1D06749D-C277-67CB-CDE9-258A140C7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3715839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825D71-3CBA-C279-EE28-D3A5995A57C0}"/>
              </a:ext>
            </a:extLst>
          </p:cNvPr>
          <p:cNvSpPr>
            <a:spLocks/>
          </p:cNvSpPr>
          <p:nvPr/>
        </p:nvSpPr>
        <p:spPr bwMode="auto">
          <a:xfrm>
            <a:off x="736601" y="3882246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Intended audience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44A9E3C-71E4-FC1C-7854-91A32D02A5CB}"/>
              </a:ext>
            </a:extLst>
          </p:cNvPr>
          <p:cNvSpPr txBox="1">
            <a:spLocks/>
          </p:cNvSpPr>
          <p:nvPr/>
        </p:nvSpPr>
        <p:spPr>
          <a:xfrm>
            <a:off x="930275" y="4561565"/>
            <a:ext cx="1054544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</a:pPr>
            <a:r>
              <a:rPr lang="en-US" dirty="0"/>
              <a:t>This course is designed for developers, AI engineers, and technical professionals who want to build applications that work with images and documents using multimodal, agent-driven approaches. It’s best suited for learners with basic programming experience and a general understanding of cloud or AI concepts.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B93D-1EC9-595D-92A7-994F4EA5A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3645546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C5683A2-2179-3E79-6645-D011C29A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507738" cy="861774"/>
          </a:xfrm>
        </p:spPr>
        <p:txBody>
          <a:bodyPr/>
          <a:lstStyle/>
          <a:p>
            <a:pPr marL="0" marR="0" lvl="0" indent="0" fontAlgn="auto">
              <a:spcAft>
                <a:spcPts val="0"/>
              </a:spcAft>
              <a:tabLst/>
              <a:defRPr/>
            </a:pPr>
            <a:r>
              <a:rPr lang="en-US" sz="2800"/>
              <a:t>Get the most out of your Microsoft Learn profile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561EF4-D3D7-16D6-06AC-E0E8E0EE810E}"/>
              </a:ext>
            </a:extLst>
          </p:cNvPr>
          <p:cNvSpPr txBox="1">
            <a:spLocks/>
          </p:cNvSpPr>
          <p:nvPr/>
        </p:nvSpPr>
        <p:spPr>
          <a:xfrm>
            <a:off x="582348" y="1759165"/>
            <a:ext cx="580618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Verify, track, and share your training and certification progress and accomplishments—</a:t>
            </a:r>
            <a:r>
              <a:rPr kumimoji="0" lang="en-US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on one platform</a:t>
            </a:r>
          </a:p>
        </p:txBody>
      </p:sp>
      <p:sp>
        <p:nvSpPr>
          <p:cNvPr id="20" name="Text Placeholder 61">
            <a:extLst>
              <a:ext uri="{FF2B5EF4-FFF2-40B4-BE49-F238E27FC236}">
                <a16:creationId xmlns:a16="http://schemas.microsoft.com/office/drawing/2014/main" id="{D49F25EC-A170-C832-AE24-EB03D8AF0995}"/>
              </a:ext>
            </a:extLst>
          </p:cNvPr>
          <p:cNvSpPr txBox="1">
            <a:spLocks/>
          </p:cNvSpPr>
          <p:nvPr/>
        </p:nvSpPr>
        <p:spPr>
          <a:xfrm>
            <a:off x="586389" y="2654712"/>
            <a:ext cx="5373085" cy="241296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Claim your achievement code for this course and share you have completed it.</a:t>
            </a:r>
          </a:p>
          <a:p>
            <a:r>
              <a:rPr lang="en-US"/>
              <a:t>Access your course material and track progress on your learning activities.</a:t>
            </a:r>
          </a:p>
          <a:p>
            <a:r>
              <a:rPr lang="en-US"/>
              <a:t>Share and verify your Microsoft Certifications via email, on social networking platforms, and on your résumé.</a:t>
            </a:r>
          </a:p>
          <a:p>
            <a:r>
              <a:rPr lang="en-US"/>
              <a:t>Download and print transcripts and certificates.</a:t>
            </a:r>
          </a:p>
          <a:p>
            <a:r>
              <a:rPr lang="en-US"/>
              <a:t>Manage your upcoming activities and certification exam appointments.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ABBD99-35D1-F53B-C2EF-D0E437DC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5435139"/>
            <a:ext cx="4464280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>
            <a:spLocks/>
          </p:cNvSpPr>
          <p:nvPr/>
        </p:nvSpPr>
        <p:spPr>
          <a:xfrm>
            <a:off x="584200" y="5591889"/>
            <a:ext cx="3930650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>
                <a:solidFill>
                  <a:schemeClr val="bg1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www.aka.ms/MyMicrosoftLearnProfile</a:t>
            </a:r>
            <a:endParaRPr 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AD44BD2-B747-01D0-8FB4-522B662FE479}"/>
              </a:ext>
            </a:extLst>
          </p:cNvPr>
          <p:cNvSpPr txBox="1">
            <a:spLocks/>
          </p:cNvSpPr>
          <p:nvPr/>
        </p:nvSpPr>
        <p:spPr>
          <a:xfrm>
            <a:off x="7456697" y="808435"/>
            <a:ext cx="4337207" cy="448031"/>
          </a:xfrm>
          <a:prstGeom prst="rect">
            <a:avLst/>
          </a:prstGeom>
        </p:spPr>
        <p:txBody>
          <a:bodyPr anchor="ctr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>
                <a:latin typeface="+mj-lt"/>
              </a:rPr>
              <a:t>Create your Microsoft Learn profile 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at </a:t>
            </a:r>
            <a:r>
              <a:rPr lang="en-US">
                <a:solidFill>
                  <a:srgbClr val="2A446F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>
              <a:solidFill>
                <a:srgbClr val="2A446F"/>
              </a:solidFill>
              <a:latin typeface="+mj-lt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A6EE8B-E7DC-E3A5-0383-CA443F74FCEE}"/>
              </a:ext>
            </a:extLst>
          </p:cNvPr>
          <p:cNvSpPr txBox="1">
            <a:spLocks/>
          </p:cNvSpPr>
          <p:nvPr/>
        </p:nvSpPr>
        <p:spPr>
          <a:xfrm>
            <a:off x="7562323" y="1407733"/>
            <a:ext cx="3499377" cy="1034802"/>
          </a:xfrm>
          <a:prstGeom prst="rect">
            <a:avLst/>
          </a:prstGeom>
        </p:spPr>
        <p:txBody>
          <a:bodyPr l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Select </a:t>
            </a:r>
            <a:r>
              <a:rPr lang="en-US" sz="1100" i="1"/>
              <a:t>Sign in </a:t>
            </a:r>
            <a:r>
              <a:rPr lang="en-US" sz="1100"/>
              <a:t>at</a:t>
            </a:r>
            <a:r>
              <a:rPr lang="en-US" sz="1100" i="1"/>
              <a:t> </a:t>
            </a:r>
            <a:r>
              <a:rPr lang="en-US" sz="1100"/>
              <a:t>the top, right corner of any Microsoft Learn page. </a:t>
            </a:r>
          </a:p>
          <a:p>
            <a:r>
              <a:rPr lang="en-US" sz="1100"/>
              <a:t>Follow the Microsoft account authentication process. </a:t>
            </a:r>
          </a:p>
          <a:p>
            <a:r>
              <a:rPr lang="en-US" sz="1100"/>
              <a:t>If the account that you have chosen to sign-in with doesn't already have a Microsoft Learn profile, you’ll be guided to create one. 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024DB499-4361-4308-FC9B-E543A47F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9952757" y="945735"/>
            <a:ext cx="1841380" cy="2309176"/>
          </a:xfrm>
          <a:prstGeom prst="bentArrow">
            <a:avLst>
              <a:gd name="adj1" fmla="val 25000"/>
              <a:gd name="adj2" fmla="val 0"/>
              <a:gd name="adj3" fmla="val 25000"/>
              <a:gd name="adj4" fmla="val 6314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3914AB5-A7A1-B1CF-3AF3-81A8583C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 flipH="1">
            <a:off x="7958667" y="2334302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B548A-EC78-506E-7F99-D22648A96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2745069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pic>
        <p:nvPicPr>
          <p:cNvPr id="12" name="Picture 11" descr="Microsoft Learn website screenshot">
            <a:extLst>
              <a:ext uri="{FF2B5EF4-FFF2-40B4-BE49-F238E27FC236}">
                <a16:creationId xmlns:a16="http://schemas.microsoft.com/office/drawing/2014/main" id="{B0EEA3EE-F7F6-BA6A-F342-518877845D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76" b="8479"/>
          <a:stretch/>
        </p:blipFill>
        <p:spPr>
          <a:xfrm>
            <a:off x="7720926" y="3033275"/>
            <a:ext cx="4480303" cy="3372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87BF4-33EA-A468-090A-94ACB3C77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5400000">
            <a:off x="11970573" y="2916615"/>
            <a:ext cx="114925" cy="170961"/>
          </a:xfrm>
          <a:prstGeom prst="rect">
            <a:avLst/>
          </a:prstGeom>
        </p:spPr>
      </p:pic>
      <p:pic>
        <p:nvPicPr>
          <p:cNvPr id="5" name="Picture 4" descr="Sign in pop-up">
            <a:extLst>
              <a:ext uri="{FF2B5EF4-FFF2-40B4-BE49-F238E27FC236}">
                <a16:creationId xmlns:a16="http://schemas.microsoft.com/office/drawing/2014/main" id="{06632F90-8BFB-A457-5B90-5C3445C5B3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967" y="3232230"/>
            <a:ext cx="1939466" cy="1486251"/>
          </a:xfrm>
          <a:prstGeom prst="rect">
            <a:avLst/>
          </a:prstGeom>
          <a:ln w="34925">
            <a:noFill/>
          </a:ln>
          <a:effectLst>
            <a:outerShdw blurRad="314198" dist="111760" dir="8040000" algn="ctr" rotWithShape="0">
              <a:srgbClr val="000000">
                <a:alpha val="22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426D-DC20-2106-1286-3E57DEC9D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163382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862637" cy="430887"/>
          </a:xfrm>
        </p:spPr>
        <p:txBody>
          <a:bodyPr/>
          <a:lstStyle/>
          <a:p>
            <a:r>
              <a:rPr lang="en-US" sz="2800"/>
              <a:t>Access your course material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>
            <a:spLocks/>
          </p:cNvSpPr>
          <p:nvPr/>
        </p:nvSpPr>
        <p:spPr>
          <a:xfrm>
            <a:off x="582348" y="1239164"/>
            <a:ext cx="58061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course content is available on Microsoft Learn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27E476-C5F2-1EE3-D528-BABA8D3D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561853"/>
            <a:ext cx="10391554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81F08F0-69C3-503F-98FA-49046BF52668}"/>
              </a:ext>
            </a:extLst>
          </p:cNvPr>
          <p:cNvSpPr txBox="1">
            <a:spLocks/>
          </p:cNvSpPr>
          <p:nvPr/>
        </p:nvSpPr>
        <p:spPr>
          <a:xfrm>
            <a:off x="579438" y="1715114"/>
            <a:ext cx="9796543" cy="27699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https://aka.ms/CourseAI-102</a:t>
            </a: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872DF97A-AE97-BEEE-3029-CB3AEFF7028B}"/>
              </a:ext>
            </a:extLst>
          </p:cNvPr>
          <p:cNvSpPr txBox="1">
            <a:spLocks/>
          </p:cNvSpPr>
          <p:nvPr/>
        </p:nvSpPr>
        <p:spPr>
          <a:xfrm>
            <a:off x="579439" y="3006168"/>
            <a:ext cx="3967162" cy="103412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Segoe UI"/>
              </a:rPr>
              <a:t>We’ll go through this content together and as the course progresses, I will advise you on which modules to review.</a:t>
            </a:r>
          </a:p>
          <a:p>
            <a:r>
              <a:rPr lang="en-US" dirty="0">
                <a:solidFill>
                  <a:srgbClr val="000000"/>
                </a:solidFill>
                <a:latin typeface="Segoe UI"/>
              </a:rPr>
              <a:t>The content on Microsoft Learn may include details not covered in the class due to time constraints.</a:t>
            </a:r>
          </a:p>
          <a:p>
            <a:r>
              <a:rPr lang="en-US" dirty="0"/>
              <a:t>You can provide feedback for modules on Microsoft Learn. Find how at the bottom of each page.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F5A11E-96B7-DC94-AA95-8C59BC525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7921"/>
            <a:ext cx="6764867" cy="383704"/>
          </a:xfrm>
          <a:prstGeom prst="rect">
            <a:avLst/>
          </a:prstGeom>
        </p:spPr>
      </p:pic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1BC0955-5F04-8692-97FB-179B5EDB16EB}"/>
              </a:ext>
            </a:extLst>
          </p:cNvPr>
          <p:cNvSpPr txBox="1">
            <a:spLocks/>
          </p:cNvSpPr>
          <p:nvPr/>
        </p:nvSpPr>
        <p:spPr>
          <a:xfrm>
            <a:off x="7785100" y="2759947"/>
            <a:ext cx="44069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This course includes lab exercises: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6BA32D2F-A3BB-0F92-562E-47913E4D8086}"/>
              </a:ext>
            </a:extLst>
          </p:cNvPr>
          <p:cNvSpPr txBox="1">
            <a:spLocks/>
          </p:cNvSpPr>
          <p:nvPr/>
        </p:nvSpPr>
        <p:spPr>
          <a:xfrm>
            <a:off x="7785100" y="3193409"/>
            <a:ext cx="359357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Segoe UI"/>
              </a:rPr>
              <a:t>Detailed exercise instructions are included in your lab environment.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B8C1002-7AB4-728F-DFD1-D736F69B7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764307" y="3903857"/>
            <a:ext cx="4427693" cy="564642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7FF546A5-9F65-C8AE-FEFD-9330CE945664}"/>
              </a:ext>
            </a:extLst>
          </p:cNvPr>
          <p:cNvSpPr txBox="1">
            <a:spLocks/>
          </p:cNvSpPr>
          <p:nvPr/>
        </p:nvSpPr>
        <p:spPr>
          <a:xfrm>
            <a:off x="8009877" y="4063068"/>
            <a:ext cx="4182124" cy="326052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accent2"/>
                </a:solidFill>
              </a:rPr>
              <a:t>https://aka.ms/mslearn-visual-insights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E430-4D21-6070-565F-549992A36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/>
              <a:t>© Copyright Microsoft Corporation. All rights reserved.</a:t>
            </a:r>
          </a:p>
        </p:txBody>
      </p:sp>
      <p:sp>
        <p:nvSpPr>
          <p:cNvPr id="5" name="Flowchart: Off-page Connector 44">
            <a:extLst>
              <a:ext uri="{FF2B5EF4-FFF2-40B4-BE49-F238E27FC236}">
                <a16:creationId xmlns:a16="http://schemas.microsoft.com/office/drawing/2014/main" id="{6683EAD0-C52D-6D46-24CA-8B4E8882F62D}"/>
              </a:ext>
            </a:extLst>
          </p:cNvPr>
          <p:cNvSpPr/>
          <p:nvPr/>
        </p:nvSpPr>
        <p:spPr bwMode="auto">
          <a:xfrm rot="5400000">
            <a:off x="5112660" y="2344435"/>
            <a:ext cx="1865376" cy="3683487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42 h 10042"/>
              <a:gd name="connsiteX1" fmla="*/ 4876 w 10000"/>
              <a:gd name="connsiteY1" fmla="*/ 0 h 10042"/>
              <a:gd name="connsiteX2" fmla="*/ 10000 w 10000"/>
              <a:gd name="connsiteY2" fmla="*/ 42 h 10042"/>
              <a:gd name="connsiteX3" fmla="*/ 10000 w 10000"/>
              <a:gd name="connsiteY3" fmla="*/ 8042 h 10042"/>
              <a:gd name="connsiteX4" fmla="*/ 5000 w 10000"/>
              <a:gd name="connsiteY4" fmla="*/ 10042 h 10042"/>
              <a:gd name="connsiteX5" fmla="*/ 0 w 10000"/>
              <a:gd name="connsiteY5" fmla="*/ 8042 h 10042"/>
              <a:gd name="connsiteX6" fmla="*/ 0 w 10000"/>
              <a:gd name="connsiteY6" fmla="*/ 42 h 10042"/>
              <a:gd name="connsiteX0" fmla="*/ 0 w 10000"/>
              <a:gd name="connsiteY0" fmla="*/ 2329 h 12329"/>
              <a:gd name="connsiteX1" fmla="*/ 5123 w 10000"/>
              <a:gd name="connsiteY1" fmla="*/ 0 h 12329"/>
              <a:gd name="connsiteX2" fmla="*/ 10000 w 10000"/>
              <a:gd name="connsiteY2" fmla="*/ 2329 h 12329"/>
              <a:gd name="connsiteX3" fmla="*/ 10000 w 10000"/>
              <a:gd name="connsiteY3" fmla="*/ 10329 h 12329"/>
              <a:gd name="connsiteX4" fmla="*/ 5000 w 10000"/>
              <a:gd name="connsiteY4" fmla="*/ 12329 h 12329"/>
              <a:gd name="connsiteX5" fmla="*/ 0 w 10000"/>
              <a:gd name="connsiteY5" fmla="*/ 10329 h 12329"/>
              <a:gd name="connsiteX6" fmla="*/ 0 w 10000"/>
              <a:gd name="connsiteY6" fmla="*/ 2329 h 12329"/>
              <a:gd name="connsiteX0" fmla="*/ 0 w 10000"/>
              <a:gd name="connsiteY0" fmla="*/ 2329 h 10329"/>
              <a:gd name="connsiteX1" fmla="*/ 5123 w 10000"/>
              <a:gd name="connsiteY1" fmla="*/ 0 h 10329"/>
              <a:gd name="connsiteX2" fmla="*/ 10000 w 10000"/>
              <a:gd name="connsiteY2" fmla="*/ 2329 h 10329"/>
              <a:gd name="connsiteX3" fmla="*/ 10000 w 10000"/>
              <a:gd name="connsiteY3" fmla="*/ 10329 h 10329"/>
              <a:gd name="connsiteX4" fmla="*/ 0 w 10000"/>
              <a:gd name="connsiteY4" fmla="*/ 10329 h 10329"/>
              <a:gd name="connsiteX5" fmla="*/ 0 w 10000"/>
              <a:gd name="connsiteY5" fmla="*/ 2329 h 1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329">
                <a:moveTo>
                  <a:pt x="0" y="2329"/>
                </a:moveTo>
                <a:lnTo>
                  <a:pt x="5123" y="0"/>
                </a:lnTo>
                <a:lnTo>
                  <a:pt x="10000" y="2329"/>
                </a:lnTo>
                <a:lnTo>
                  <a:pt x="10000" y="10329"/>
                </a:lnTo>
                <a:lnTo>
                  <a:pt x="0" y="10329"/>
                </a:lnTo>
                <a:lnTo>
                  <a:pt x="0" y="2329"/>
                </a:lnTo>
                <a:close/>
              </a:path>
            </a:pathLst>
          </a:cu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Update the lab URL for the hosted lab environment as appropriate (if you have a single source). Or delete this box.</a:t>
            </a: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rPr>
              <a:t>Then delete this note.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5813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CDD559A-25F8-918A-9C24-8A8DF8FB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1224813"/>
            <a:ext cx="4402493" cy="1107996"/>
          </a:xfrm>
        </p:spPr>
        <p:txBody>
          <a:bodyPr/>
          <a:lstStyle/>
          <a:p>
            <a:r>
              <a:rPr lang="en-US" sz="3600"/>
              <a:t>Become </a:t>
            </a:r>
            <a:br>
              <a:rPr lang="en-US" sz="3600"/>
            </a:br>
            <a:r>
              <a:rPr lang="en-US" sz="3600"/>
              <a:t>Microsoft Certified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C82C5-B8CF-CE13-4A23-7C15F1CE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0699" y="1200446"/>
            <a:ext cx="1110600" cy="11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EF036-DB68-7837-5186-51A159AC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667" y="1385414"/>
            <a:ext cx="740664" cy="740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22978-A730-EB17-5D62-A209F514E7E2}"/>
              </a:ext>
            </a:extLst>
          </p:cNvPr>
          <p:cNvSpPr txBox="1"/>
          <p:nvPr/>
        </p:nvSpPr>
        <p:spPr>
          <a:xfrm>
            <a:off x="6971476" y="1135039"/>
            <a:ext cx="2196634" cy="830997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defPPr>
              <a:defRPr lang="en-US"/>
            </a:defPPr>
            <a:lvl1pPr>
              <a:defRPr sz="7330" b="1" spc="-50">
                <a:ln w="3175">
                  <a:noFill/>
                </a:ln>
                <a:gradFill>
                  <a:gsLst>
                    <a:gs pos="100000">
                      <a:schemeClr val="accent4"/>
                    </a:gs>
                    <a:gs pos="32000">
                      <a:srgbClr val="FF5C39"/>
                    </a:gs>
                  </a:gsLst>
                  <a:lin ang="3900000" scaled="0"/>
                </a:gradFill>
                <a:latin typeface="Segoe UI Variable Text" pitchFamily="2" charset="0"/>
                <a:cs typeface="Segoe UI Semibold" panose="020B0502040204020203" pitchFamily="34" charset="0"/>
              </a:defRPr>
            </a:lvl1pPr>
          </a:lstStyle>
          <a:p>
            <a:pPr>
              <a:defRPr/>
            </a:pPr>
            <a:r>
              <a:rPr lang="en-US" sz="4800">
                <a:solidFill>
                  <a:schemeClr val="accent2"/>
                </a:solidFill>
                <a:latin typeface="+mj-lt"/>
                <a:cs typeface="Segoe UI Semibold"/>
              </a:rPr>
              <a:t>92</a:t>
            </a:r>
            <a:r>
              <a:rPr kumimoji="0" lang="en-US" sz="4400" b="1" i="0" u="none" strike="noStrike" kern="1200" cap="none" spc="-50" normalizeH="0" baseline="3000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cs typeface="Segoe UI Semibold"/>
              </a:rPr>
              <a:t>%</a:t>
            </a:r>
            <a:r>
              <a:rPr lang="en-US" sz="4800">
                <a:solidFill>
                  <a:schemeClr val="accent2"/>
                </a:solidFill>
                <a:latin typeface="+mj-lt"/>
                <a:cs typeface="Segoe UI Semibold"/>
              </a:rPr>
              <a:t> </a:t>
            </a:r>
            <a:endParaRPr kumimoji="0" lang="en-US" sz="4800" b="1" i="0" u="none" strike="noStrike" kern="1200" cap="none" spc="-5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7965D-FCAF-55DD-10B8-5DF1E54A3BC7}"/>
              </a:ext>
            </a:extLst>
          </p:cNvPr>
          <p:cNvSpPr txBox="1"/>
          <p:nvPr/>
        </p:nvSpPr>
        <p:spPr>
          <a:xfrm>
            <a:off x="6971477" y="1832668"/>
            <a:ext cx="3920788" cy="5232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certified IT professionals feel more confident in their abilities after earning certifications¹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5DCB5-4258-68B1-1A56-68B7CC5D0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3117681"/>
            <a:ext cx="12192000" cy="3740319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CC3932D-AF62-994B-BAF6-36B38660AE6A}"/>
              </a:ext>
            </a:extLst>
          </p:cNvPr>
          <p:cNvSpPr/>
          <p:nvPr/>
        </p:nvSpPr>
        <p:spPr>
          <a:xfrm>
            <a:off x="580399" y="3575048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recognized by earning industry validation for technical knowledge. Ensure you stay current with the necessary skills and expertise for continued success​.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Start at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/>
              </a:rPr>
              <a:t>learn.microsoft.com/certifications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43F14745-9308-59B5-B699-2477843145BF}"/>
              </a:ext>
            </a:extLst>
          </p:cNvPr>
          <p:cNvSpPr/>
          <p:nvPr/>
        </p:nvSpPr>
        <p:spPr>
          <a:xfrm>
            <a:off x="6252005" y="3575843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role-based and specialty certifications require annual renewal.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aseline="30000">
              <a:solidFill>
                <a:srgbClr val="0D0D0D"/>
              </a:solidFill>
              <a:latin typeface="Segoe UI"/>
            </a:endParaRPr>
          </a:p>
          <a:p>
            <a:pPr defTabSz="914400"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Learn about certification renewal at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/>
              </a:rPr>
              <a:t>aka.ms/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/>
              </a:rPr>
              <a:t>RenewYourCert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6AEFE-B61B-8AF6-CE8A-695BF709C726}"/>
              </a:ext>
            </a:extLst>
          </p:cNvPr>
          <p:cNvSpPr txBox="1"/>
          <p:nvPr/>
        </p:nvSpPr>
        <p:spPr>
          <a:xfrm>
            <a:off x="583095" y="6082602"/>
            <a:ext cx="11016238" cy="230832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¹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“2023 Value of IT Certification | Candidate Report,” Pearson VUE, 2023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   </a:t>
            </a:r>
            <a:r>
              <a:rPr lang="en-US" sz="900" baseline="30000"/>
              <a:t>2 </a:t>
            </a:r>
            <a:r>
              <a:rPr lang="en-US" sz="900"/>
              <a:t>Microsoft fundamentals certifications don’t expire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  <a:sym typeface="Segoe UI Semi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E65EAD-DB53-8B16-745F-CE1B01593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042234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TagsTaxHTField xmlns="7e96d60b-db1d-44a2-8be4-a128982f8e65">
      <Terms xmlns="http://schemas.microsoft.com/office/infopath/2007/PartnerControls"/>
    </ImageTags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58DD63460F6D46982CDFCFF3E015F7" ma:contentTypeVersion="22" ma:contentTypeDescription="Create a new document." ma:contentTypeScope="" ma:versionID="aefca38c49527ef64f3f2f50af708025">
  <xsd:schema xmlns:xsd="http://www.w3.org/2001/XMLSchema" xmlns:xs="http://www.w3.org/2001/XMLSchema" xmlns:p="http://schemas.microsoft.com/office/2006/metadata/properties" xmlns:ns1="http://schemas.microsoft.com/sharepoint/v3" xmlns:ns2="7e96d60b-db1d-44a2-8be4-a128982f8e65" xmlns:ns3="76e03480-8cba-4236-ba8e-c2eaec5d39d6" xmlns:ns4="230e9df3-be65-4c73-a93b-d1236ebd677e" targetNamespace="http://schemas.microsoft.com/office/2006/metadata/properties" ma:root="true" ma:fieldsID="997283cb93de478139b04474b2562cb7" ns1:_="" ns2:_="" ns3:_="" ns4:_="">
    <xsd:import namespace="http://schemas.microsoft.com/sharepoint/v3"/>
    <xsd:import namespace="7e96d60b-db1d-44a2-8be4-a128982f8e65"/>
    <xsd:import namespace="76e03480-8cba-4236-ba8e-c2eaec5d39d6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4:TaxCatchAll" minOccurs="0"/>
                <xsd:element ref="ns2:ImageTagsTaxHTField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6d60b-db1d-44a2-8be4-a128982f8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TagsTaxHTField" ma:index="18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03480-8cba-4236-ba8e-c2eaec5d3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3a55172-29fb-46cf-bf19-6b0aaa21b093}" ma:internalName="TaxCatchAll" ma:showField="CatchAllData" ma:web="76e03480-8cba-4236-ba8e-c2eaec5d3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terms/"/>
    <ds:schemaRef ds:uri="7e96d60b-db1d-44a2-8be4-a128982f8e65"/>
    <ds:schemaRef ds:uri="http://schemas.microsoft.com/office/2006/documentManagement/types"/>
    <ds:schemaRef ds:uri="230e9df3-be65-4c73-a93b-d1236ebd677e"/>
    <ds:schemaRef ds:uri="http://schemas.microsoft.com/office/infopath/2007/PartnerControls"/>
    <ds:schemaRef ds:uri="http://schemas.openxmlformats.org/package/2006/metadata/core-properties"/>
    <ds:schemaRef ds:uri="76e03480-8cba-4236-ba8e-c2eaec5d39d6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AA080C-72FB-4401-9754-A32DB38CAF57}">
  <ds:schemaRefs>
    <ds:schemaRef ds:uri="230e9df3-be65-4c73-a93b-d1236ebd677e"/>
    <ds:schemaRef ds:uri="76e03480-8cba-4236-ba8e-c2eaec5d39d6"/>
    <ds:schemaRef ds:uri="7e96d60b-db1d-44a2-8be4-a128982f8e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753</Words>
  <Application>Microsoft Office PowerPoint</Application>
  <PresentationFormat>Widescreen</PresentationFormat>
  <Paragraphs>68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Consolas</vt:lpstr>
      <vt:lpstr>Segoe UI</vt:lpstr>
      <vt:lpstr>Segoe UI Light</vt:lpstr>
      <vt:lpstr>Segoe UI Semibold</vt:lpstr>
      <vt:lpstr>Wingdings</vt:lpstr>
      <vt:lpstr>LIGHT MODE</vt:lpstr>
      <vt:lpstr>Walk-in slide</vt:lpstr>
      <vt:lpstr>Extract insights from visual data in Azure​ Introduction</vt:lpstr>
      <vt:lpstr>Hello!</vt:lpstr>
      <vt:lpstr>About this course</vt:lpstr>
      <vt:lpstr>Get the most out of your Microsoft Learn profile</vt:lpstr>
      <vt:lpstr>Access your course material</vt:lpstr>
      <vt:lpstr>Become  Microsoft Certified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dc:creator>heidi@mindseyepdx.com</dc:creator>
  <cp:keywords/>
  <dc:description/>
  <cp:lastModifiedBy>Ivor Berry</cp:lastModifiedBy>
  <cp:revision>15</cp:revision>
  <dcterms:created xsi:type="dcterms:W3CDTF">2023-06-16T20:38:16Z</dcterms:created>
  <dcterms:modified xsi:type="dcterms:W3CDTF">2026-03-27T19:32:27Z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0x0101000358DD63460F6D46982CDFCFF3E015F7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SetDate">
    <vt:lpwstr>2017-08-29T14:27:20.8568347-07:00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  <property fmtid="{D5CDD505-2E9C-101B-9397-08002B2CF9AE}" pid="20" name="MediaServiceImageTags">
    <vt:lpwstr/>
  </property>
</Properties>
</file>